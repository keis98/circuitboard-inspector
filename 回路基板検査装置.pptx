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66" r:id="rId4"/>
    <p:sldMasterId id="2147483774" r:id="rId5"/>
    <p:sldMasterId id="2147483747" r:id="rId6"/>
    <p:sldMasterId id="2147483780" r:id="rId7"/>
    <p:sldMasterId id="2147483769" r:id="rId8"/>
  </p:sldMasterIdLst>
  <p:notesMasterIdLst>
    <p:notesMasterId r:id="rId40"/>
  </p:notesMasterIdLst>
  <p:handoutMasterIdLst>
    <p:handoutMasterId r:id="rId41"/>
  </p:handoutMasterIdLst>
  <p:sldIdLst>
    <p:sldId id="285" r:id="rId9"/>
    <p:sldId id="293" r:id="rId10"/>
    <p:sldId id="264" r:id="rId11"/>
    <p:sldId id="327" r:id="rId12"/>
    <p:sldId id="328" r:id="rId13"/>
    <p:sldId id="329" r:id="rId14"/>
    <p:sldId id="270" r:id="rId15"/>
    <p:sldId id="318" r:id="rId16"/>
    <p:sldId id="325" r:id="rId17"/>
    <p:sldId id="320" r:id="rId18"/>
    <p:sldId id="321" r:id="rId19"/>
    <p:sldId id="311" r:id="rId20"/>
    <p:sldId id="308" r:id="rId21"/>
    <p:sldId id="309" r:id="rId22"/>
    <p:sldId id="310" r:id="rId23"/>
    <p:sldId id="314" r:id="rId24"/>
    <p:sldId id="315" r:id="rId25"/>
    <p:sldId id="330" r:id="rId26"/>
    <p:sldId id="317" r:id="rId27"/>
    <p:sldId id="333" r:id="rId28"/>
    <p:sldId id="313" r:id="rId29"/>
    <p:sldId id="262" r:id="rId30"/>
    <p:sldId id="302" r:id="rId31"/>
    <p:sldId id="324" r:id="rId32"/>
    <p:sldId id="292" r:id="rId33"/>
    <p:sldId id="331" r:id="rId34"/>
    <p:sldId id="332" r:id="rId35"/>
    <p:sldId id="334" r:id="rId36"/>
    <p:sldId id="335" r:id="rId37"/>
    <p:sldId id="336" r:id="rId38"/>
    <p:sldId id="337" r:id="rId39"/>
  </p:sldIdLst>
  <p:sldSz cx="9144000" cy="5143500" type="screen16x9"/>
  <p:notesSz cx="6807200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3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B06"/>
    <a:srgbClr val="D15805"/>
    <a:srgbClr val="0041C0"/>
    <a:srgbClr val="FA7502"/>
    <a:srgbClr val="FF9933"/>
    <a:srgbClr val="FF6600"/>
    <a:srgbClr val="CC4400"/>
    <a:srgbClr val="E8E4E9"/>
    <a:srgbClr val="F8F8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17" y="51"/>
      </p:cViewPr>
      <p:guideLst>
        <p:guide orient="horz" pos="162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microsoft.com/office/2016/11/relationships/changesInfo" Target="changesInfos/changesInfo1.xml"/><Relationship Id="rId20" Type="http://schemas.openxmlformats.org/officeDocument/2006/relationships/slide" Target="slides/slide12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ZUKI, Kei" userId="dce4f5b5-dc90-4cdb-a14c-6921a5cc0b7a" providerId="ADAL" clId="{4FC4A28B-4684-4860-8864-4DF5648D255B}"/>
    <pc:docChg chg="custSel delSld modSld">
      <pc:chgData name="SUZUKI, Kei" userId="dce4f5b5-dc90-4cdb-a14c-6921a5cc0b7a" providerId="ADAL" clId="{4FC4A28B-4684-4860-8864-4DF5648D255B}" dt="2026-06-18T13:14:24.343" v="73" actId="47"/>
      <pc:docMkLst>
        <pc:docMk/>
      </pc:docMkLst>
      <pc:sldChg chg="delSp modSp mod">
        <pc:chgData name="SUZUKI, Kei" userId="dce4f5b5-dc90-4cdb-a14c-6921a5cc0b7a" providerId="ADAL" clId="{4FC4A28B-4684-4860-8864-4DF5648D255B}" dt="2026-06-18T13:13:32.950" v="67" actId="478"/>
        <pc:sldMkLst>
          <pc:docMk/>
          <pc:sldMk cId="2089052043" sldId="285"/>
        </pc:sldMkLst>
        <pc:spChg chg="mod">
          <ac:chgData name="SUZUKI, Kei" userId="dce4f5b5-dc90-4cdb-a14c-6921a5cc0b7a" providerId="ADAL" clId="{4FC4A28B-4684-4860-8864-4DF5648D255B}" dt="2026-06-18T13:13:29.205" v="66" actId="20577"/>
          <ac:spMkLst>
            <pc:docMk/>
            <pc:sldMk cId="2089052043" sldId="285"/>
            <ac:spMk id="2" creationId="{C311A06F-2646-496E-869C-ABDDB58B8337}"/>
          </ac:spMkLst>
        </pc:spChg>
        <pc:graphicFrameChg chg="del">
          <ac:chgData name="SUZUKI, Kei" userId="dce4f5b5-dc90-4cdb-a14c-6921a5cc0b7a" providerId="ADAL" clId="{4FC4A28B-4684-4860-8864-4DF5648D255B}" dt="2026-06-18T13:13:32.950" v="67" actId="478"/>
          <ac:graphicFrameMkLst>
            <pc:docMk/>
            <pc:sldMk cId="2089052043" sldId="285"/>
            <ac:graphicFrameMk id="4" creationId="{4B867567-39D1-6CB1-F347-1CA0F720F1EA}"/>
          </ac:graphicFrameMkLst>
        </pc:graphicFrameChg>
      </pc:sldChg>
      <pc:sldChg chg="del">
        <pc:chgData name="SUZUKI, Kei" userId="dce4f5b5-dc90-4cdb-a14c-6921a5cc0b7a" providerId="ADAL" clId="{4FC4A28B-4684-4860-8864-4DF5648D255B}" dt="2026-06-18T13:13:57.711" v="70" actId="47"/>
        <pc:sldMkLst>
          <pc:docMk/>
          <pc:sldMk cId="3495279620" sldId="291"/>
        </pc:sldMkLst>
      </pc:sldChg>
      <pc:sldChg chg="del">
        <pc:chgData name="SUZUKI, Kei" userId="dce4f5b5-dc90-4cdb-a14c-6921a5cc0b7a" providerId="ADAL" clId="{4FC4A28B-4684-4860-8864-4DF5648D255B}" dt="2026-06-18T13:13:49.281" v="68" actId="47"/>
        <pc:sldMkLst>
          <pc:docMk/>
          <pc:sldMk cId="346159892" sldId="297"/>
        </pc:sldMkLst>
      </pc:sldChg>
      <pc:sldChg chg="del">
        <pc:chgData name="SUZUKI, Kei" userId="dce4f5b5-dc90-4cdb-a14c-6921a5cc0b7a" providerId="ADAL" clId="{4FC4A28B-4684-4860-8864-4DF5648D255B}" dt="2026-06-18T13:13:54.677" v="69" actId="47"/>
        <pc:sldMkLst>
          <pc:docMk/>
          <pc:sldMk cId="498635439" sldId="300"/>
        </pc:sldMkLst>
      </pc:sldChg>
      <pc:sldChg chg="del">
        <pc:chgData name="SUZUKI, Kei" userId="dce4f5b5-dc90-4cdb-a14c-6921a5cc0b7a" providerId="ADAL" clId="{4FC4A28B-4684-4860-8864-4DF5648D255B}" dt="2026-06-18T13:14:24.343" v="73" actId="47"/>
        <pc:sldMkLst>
          <pc:docMk/>
          <pc:sldMk cId="2413773081" sldId="338"/>
        </pc:sldMkLst>
      </pc:sldChg>
      <pc:sldChg chg="del">
        <pc:chgData name="SUZUKI, Kei" userId="dce4f5b5-dc90-4cdb-a14c-6921a5cc0b7a" providerId="ADAL" clId="{4FC4A28B-4684-4860-8864-4DF5648D255B}" dt="2026-06-18T13:14:23.085" v="72" actId="47"/>
        <pc:sldMkLst>
          <pc:docMk/>
          <pc:sldMk cId="2182628886" sldId="339"/>
        </pc:sldMkLst>
      </pc:sldChg>
      <pc:sldChg chg="del">
        <pc:chgData name="SUZUKI, Kei" userId="dce4f5b5-dc90-4cdb-a14c-6921a5cc0b7a" providerId="ADAL" clId="{4FC4A28B-4684-4860-8864-4DF5648D255B}" dt="2026-06-18T13:14:19.260" v="71" actId="47"/>
        <pc:sldMkLst>
          <pc:docMk/>
          <pc:sldMk cId="2788888860" sldId="3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21CFF2-CF34-4A9D-A938-46075ACE91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30E0F9-D175-46BC-BA71-59AFA0CF8D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ECFD9-57DC-4DF4-8FDE-54F9AA271A05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F7324D-D4BC-4F28-9BC0-7F3BCEC049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08F772-2840-4B81-96E7-25AF1934D1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6A752-1860-4CC7-82E5-00E7AF8D3D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686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3" y="746125"/>
            <a:ext cx="6621462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55C332C-524A-4BD0-B816-AEA2D8DAB1D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25379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24CB4-CA69-A479-D051-0D814A35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83CA76-50CF-AA58-39D1-9B18DF03F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BCC8FA-8C78-C536-981B-0D99900E6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BA0FFF-6C54-0B47-7ECD-023338F9B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92209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BD8F-FCE8-A9DF-6A4F-77F0DCD0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9F8FAE5-78B6-8141-B6F4-01536DBF2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6774D5-FC2F-0866-423A-E3FB55322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1844EC-2B18-6F31-AC59-9872021D4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1345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E436-35D7-B38C-9A7B-350B5380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915CF8-9997-0D30-F7F2-85EFDC4C9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A37DD4-6B91-8AF9-6F0B-4FE7FF93C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2BBB17-4433-A1A1-7449-59222CF72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01306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09924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19426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5644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C332C-524A-4BD0-B816-AEA2D8DAB1D4}" type="slidenum">
              <a:rPr lang="en-US" altLang="ja-JP" smtClean="0"/>
              <a:pPr/>
              <a:t>24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176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注記無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9CE896C1-2C93-47D1-877C-9F11122B66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3308" y="1551516"/>
            <a:ext cx="5657383" cy="1481667"/>
          </a:xfrm>
          <a:prstGeom prst="rect">
            <a:avLst/>
          </a:prstGeom>
        </p:spPr>
        <p:txBody>
          <a:bodyPr anchor="ctr"/>
          <a:lstStyle>
            <a:lvl1pPr algn="ctr">
              <a:defRPr sz="45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17" name="テキスト プレースホルダー 8">
            <a:extLst>
              <a:ext uri="{FF2B5EF4-FFF2-40B4-BE49-F238E27FC236}">
                <a16:creationId xmlns:a16="http://schemas.microsoft.com/office/drawing/2014/main" id="{5F17CABC-C10E-40AF-A173-7367417B53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13016" y="3339640"/>
            <a:ext cx="3317965" cy="877747"/>
          </a:xfrm>
          <a:prstGeom prst="rect">
            <a:avLst/>
          </a:prstGeom>
        </p:spPr>
        <p:txBody>
          <a:bodyPr anchor="ctr"/>
          <a:lstStyle>
            <a:lvl1pPr algn="ctr">
              <a:defRPr sz="1800">
                <a:latin typeface="+mj-ea"/>
                <a:ea typeface="+mj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氏名・所属等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CFE0BF-D4E5-4D98-AF24-26C4A12928EC}"/>
              </a:ext>
            </a:extLst>
          </p:cNvPr>
          <p:cNvSpPr txBox="1"/>
          <p:nvPr userDrawn="1"/>
        </p:nvSpPr>
        <p:spPr>
          <a:xfrm>
            <a:off x="5760720" y="232117"/>
            <a:ext cx="1498209" cy="682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kumimoji="1" lang="ja-JP" altLang="en-US" baseline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15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テキストボックス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1">
            <a:extLst>
              <a:ext uri="{FF2B5EF4-FFF2-40B4-BE49-F238E27FC236}">
                <a16:creationId xmlns:a16="http://schemas.microsoft.com/office/drawing/2014/main" id="{9718530D-273D-40DD-CE2E-0D69FE1386FD}"/>
              </a:ext>
            </a:extLst>
          </p:cNvPr>
          <p:cNvSpPr txBox="1">
            <a:spLocks/>
          </p:cNvSpPr>
          <p:nvPr userDrawn="1"/>
        </p:nvSpPr>
        <p:spPr>
          <a:xfrm>
            <a:off x="8365787" y="0"/>
            <a:ext cx="778212" cy="492868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+mj-lt"/>
                <a:ea typeface="ＭＳ Ｐゴシック" pitchFamily="5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pitchFamily="50" charset="-128"/>
                <a:cs typeface="+mn-cs"/>
              </a:defRPr>
            </a:lvl9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/>
              <a:t>/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3AD6F7DA-675F-C9AA-1EE7-54D7D0BDD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25303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テキストボックス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スライド番号プレースホルダ 1">
            <a:extLst>
              <a:ext uri="{FF2B5EF4-FFF2-40B4-BE49-F238E27FC236}">
                <a16:creationId xmlns:a16="http://schemas.microsoft.com/office/drawing/2014/main" id="{C118FF61-476C-4D8C-8738-BB6A53A21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65787" y="0"/>
            <a:ext cx="778212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/>
              <a:t>/</a:t>
            </a:r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0" indent="0"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408631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スライド番号プレースホルダ 1">
            <a:extLst>
              <a:ext uri="{FF2B5EF4-FFF2-40B4-BE49-F238E27FC236}">
                <a16:creationId xmlns:a16="http://schemas.microsoft.com/office/drawing/2014/main" id="{C118FF61-476C-4D8C-8738-BB6A53A21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65787" y="0"/>
            <a:ext cx="778212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/>
              <a:t>/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55CE32FD-4D95-5A42-8EB2-27AB596542DD}"/>
              </a:ext>
            </a:extLst>
          </p:cNvPr>
          <p:cNvSpPr/>
          <p:nvPr userDrawn="1"/>
        </p:nvSpPr>
        <p:spPr>
          <a:xfrm>
            <a:off x="668049" y="1221633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bg1"/>
                </a:solidFill>
                <a:latin typeface="+mj-lt"/>
              </a:rPr>
              <a:t>１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D953E66-0B59-BFA7-1D1A-AE790267AC3A}"/>
              </a:ext>
            </a:extLst>
          </p:cNvPr>
          <p:cNvSpPr/>
          <p:nvPr userDrawn="1"/>
        </p:nvSpPr>
        <p:spPr>
          <a:xfrm>
            <a:off x="668049" y="2588045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2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739466E-F851-09F2-E594-11C62AE41D27}"/>
              </a:ext>
            </a:extLst>
          </p:cNvPr>
          <p:cNvSpPr/>
          <p:nvPr userDrawn="1"/>
        </p:nvSpPr>
        <p:spPr>
          <a:xfrm>
            <a:off x="668049" y="3954457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3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1E636DB-8CBF-1014-7107-D8AC5A59F804}"/>
              </a:ext>
            </a:extLst>
          </p:cNvPr>
          <p:cNvSpPr/>
          <p:nvPr userDrawn="1"/>
        </p:nvSpPr>
        <p:spPr>
          <a:xfrm>
            <a:off x="5001234" y="1221633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4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F0A78C6-2F5D-1C60-4BFC-C3FD4C7668C9}"/>
              </a:ext>
            </a:extLst>
          </p:cNvPr>
          <p:cNvSpPr/>
          <p:nvPr userDrawn="1"/>
        </p:nvSpPr>
        <p:spPr>
          <a:xfrm>
            <a:off x="5001234" y="2588045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5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9D41A4A-C3FC-717E-11D4-C07C22C39AAC}"/>
              </a:ext>
            </a:extLst>
          </p:cNvPr>
          <p:cNvSpPr/>
          <p:nvPr userDrawn="1"/>
        </p:nvSpPr>
        <p:spPr>
          <a:xfrm>
            <a:off x="5001234" y="3954457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6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コンテンツ プレースホルダー 20">
            <a:extLst>
              <a:ext uri="{FF2B5EF4-FFF2-40B4-BE49-F238E27FC236}">
                <a16:creationId xmlns:a16="http://schemas.microsoft.com/office/drawing/2014/main" id="{D9524230-3959-76A0-DC0E-5CD7A3CC474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57382" y="1269681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6" name="コンテンツ プレースホルダー 20">
            <a:extLst>
              <a:ext uri="{FF2B5EF4-FFF2-40B4-BE49-F238E27FC236}">
                <a16:creationId xmlns:a16="http://schemas.microsoft.com/office/drawing/2014/main" id="{6D73B3F6-02CA-ACA7-2DE4-AD081C244C4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257382" y="2637945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8" name="コンテンツ プレースホルダー 20">
            <a:extLst>
              <a:ext uri="{FF2B5EF4-FFF2-40B4-BE49-F238E27FC236}">
                <a16:creationId xmlns:a16="http://schemas.microsoft.com/office/drawing/2014/main" id="{6F9231FF-C3C8-D040-E339-75B6E69A8B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57382" y="4004357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9" name="コンテンツ プレースホルダー 20">
            <a:extLst>
              <a:ext uri="{FF2B5EF4-FFF2-40B4-BE49-F238E27FC236}">
                <a16:creationId xmlns:a16="http://schemas.microsoft.com/office/drawing/2014/main" id="{0E25EA8E-E3A9-302C-FE1F-1677431EFAA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95674" y="1269681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0" name="コンテンツ プレースホルダー 20">
            <a:extLst>
              <a:ext uri="{FF2B5EF4-FFF2-40B4-BE49-F238E27FC236}">
                <a16:creationId xmlns:a16="http://schemas.microsoft.com/office/drawing/2014/main" id="{B591F773-E9EB-A8E4-4F78-A8A410986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95674" y="2637945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2" name="コンテンツ プレースホルダー 20">
            <a:extLst>
              <a:ext uri="{FF2B5EF4-FFF2-40B4-BE49-F238E27FC236}">
                <a16:creationId xmlns:a16="http://schemas.microsoft.com/office/drawing/2014/main" id="{F434ACC5-55F1-6163-76AD-FA83FC330DC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95674" y="4004357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33053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55CE32FD-4D95-5A42-8EB2-27AB596542DD}"/>
              </a:ext>
            </a:extLst>
          </p:cNvPr>
          <p:cNvSpPr/>
          <p:nvPr userDrawn="1"/>
        </p:nvSpPr>
        <p:spPr>
          <a:xfrm>
            <a:off x="668049" y="1221633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bg1"/>
                </a:solidFill>
                <a:latin typeface="+mj-lt"/>
              </a:rPr>
              <a:t>１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D953E66-0B59-BFA7-1D1A-AE790267AC3A}"/>
              </a:ext>
            </a:extLst>
          </p:cNvPr>
          <p:cNvSpPr/>
          <p:nvPr userDrawn="1"/>
        </p:nvSpPr>
        <p:spPr>
          <a:xfrm>
            <a:off x="668049" y="2588045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2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739466E-F851-09F2-E594-11C62AE41D27}"/>
              </a:ext>
            </a:extLst>
          </p:cNvPr>
          <p:cNvSpPr/>
          <p:nvPr userDrawn="1"/>
        </p:nvSpPr>
        <p:spPr>
          <a:xfrm>
            <a:off x="668049" y="3954457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3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1E636DB-8CBF-1014-7107-D8AC5A59F804}"/>
              </a:ext>
            </a:extLst>
          </p:cNvPr>
          <p:cNvSpPr/>
          <p:nvPr userDrawn="1"/>
        </p:nvSpPr>
        <p:spPr>
          <a:xfrm>
            <a:off x="5001234" y="1221633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4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F0A78C6-2F5D-1C60-4BFC-C3FD4C7668C9}"/>
              </a:ext>
            </a:extLst>
          </p:cNvPr>
          <p:cNvSpPr/>
          <p:nvPr userDrawn="1"/>
        </p:nvSpPr>
        <p:spPr>
          <a:xfrm>
            <a:off x="5001234" y="2588045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5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コンテンツ プレースホルダー 20">
            <a:extLst>
              <a:ext uri="{FF2B5EF4-FFF2-40B4-BE49-F238E27FC236}">
                <a16:creationId xmlns:a16="http://schemas.microsoft.com/office/drawing/2014/main" id="{D9524230-3959-76A0-DC0E-5CD7A3CC474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57382" y="1269681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6" name="コンテンツ プレースホルダー 20">
            <a:extLst>
              <a:ext uri="{FF2B5EF4-FFF2-40B4-BE49-F238E27FC236}">
                <a16:creationId xmlns:a16="http://schemas.microsoft.com/office/drawing/2014/main" id="{6D73B3F6-02CA-ACA7-2DE4-AD081C244C4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257382" y="2637945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8" name="コンテンツ プレースホルダー 20">
            <a:extLst>
              <a:ext uri="{FF2B5EF4-FFF2-40B4-BE49-F238E27FC236}">
                <a16:creationId xmlns:a16="http://schemas.microsoft.com/office/drawing/2014/main" id="{6F9231FF-C3C8-D040-E339-75B6E69A8B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57382" y="4004357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9" name="コンテンツ プレースホルダー 20">
            <a:extLst>
              <a:ext uri="{FF2B5EF4-FFF2-40B4-BE49-F238E27FC236}">
                <a16:creationId xmlns:a16="http://schemas.microsoft.com/office/drawing/2014/main" id="{0E25EA8E-E3A9-302C-FE1F-1677431EFAA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95674" y="1269681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0" name="コンテンツ プレースホルダー 20">
            <a:extLst>
              <a:ext uri="{FF2B5EF4-FFF2-40B4-BE49-F238E27FC236}">
                <a16:creationId xmlns:a16="http://schemas.microsoft.com/office/drawing/2014/main" id="{B591F773-E9EB-A8E4-4F78-A8A410986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95674" y="2637945"/>
            <a:ext cx="2661893" cy="39306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4" name="スライド番号プレースホルダ 1">
            <a:extLst>
              <a:ext uri="{FF2B5EF4-FFF2-40B4-BE49-F238E27FC236}">
                <a16:creationId xmlns:a16="http://schemas.microsoft.com/office/drawing/2014/main" id="{7EB56C54-6E28-E3A4-AB4A-D86FEDD26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46779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8FCF6A7-668E-D45F-A64E-71DDB38DC5AA}"/>
              </a:ext>
            </a:extLst>
          </p:cNvPr>
          <p:cNvSpPr/>
          <p:nvPr userDrawn="1"/>
        </p:nvSpPr>
        <p:spPr>
          <a:xfrm>
            <a:off x="678258" y="2485224"/>
            <a:ext cx="7970440" cy="956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18" name="コンテンツ プレースホルダー 20">
            <a:extLst>
              <a:ext uri="{FF2B5EF4-FFF2-40B4-BE49-F238E27FC236}">
                <a16:creationId xmlns:a16="http://schemas.microsoft.com/office/drawing/2014/main" id="{97650D2F-9407-1A54-3874-CCB1E252860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78262" y="2485226"/>
            <a:ext cx="7970438" cy="95636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D515A13-27BB-6CEC-87F8-5F70614A80DB}"/>
              </a:ext>
            </a:extLst>
          </p:cNvPr>
          <p:cNvSpPr/>
          <p:nvPr userDrawn="1"/>
        </p:nvSpPr>
        <p:spPr>
          <a:xfrm>
            <a:off x="678258" y="3833861"/>
            <a:ext cx="7970440" cy="956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0" name="コンテンツ プレースホルダー 20">
            <a:extLst>
              <a:ext uri="{FF2B5EF4-FFF2-40B4-BE49-F238E27FC236}">
                <a16:creationId xmlns:a16="http://schemas.microsoft.com/office/drawing/2014/main" id="{8DB6E489-DB6F-69DC-59E4-4BE20E365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262" y="3833863"/>
            <a:ext cx="7970438" cy="95636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B81E78-7CBA-CAD5-1AB8-E6B2919B9F30}"/>
              </a:ext>
            </a:extLst>
          </p:cNvPr>
          <p:cNvSpPr/>
          <p:nvPr userDrawn="1"/>
        </p:nvSpPr>
        <p:spPr>
          <a:xfrm>
            <a:off x="678258" y="1159020"/>
            <a:ext cx="7970440" cy="956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F70B8FF5-69D4-EB37-ADD8-3C91543E70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262" y="1159022"/>
            <a:ext cx="7970438" cy="95636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ja-JP"/>
              <a:t>Summary</a:t>
            </a:r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C34FEAF1-05F7-FEB5-4BA0-413ABFB80C15}"/>
              </a:ext>
            </a:extLst>
          </p:cNvPr>
          <p:cNvSpPr/>
          <p:nvPr userDrawn="1"/>
        </p:nvSpPr>
        <p:spPr>
          <a:xfrm>
            <a:off x="431828" y="912589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bg1"/>
                </a:solidFill>
                <a:latin typeface="+mj-lt"/>
              </a:rPr>
              <a:t>１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2263699-C300-F506-B4A4-5EEBA338E290}"/>
              </a:ext>
            </a:extLst>
          </p:cNvPr>
          <p:cNvSpPr/>
          <p:nvPr userDrawn="1"/>
        </p:nvSpPr>
        <p:spPr>
          <a:xfrm>
            <a:off x="431828" y="2261226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2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760163F8-5EE1-FFDC-ABE0-14ABF74E04F8}"/>
              </a:ext>
            </a:extLst>
          </p:cNvPr>
          <p:cNvSpPr/>
          <p:nvPr userDrawn="1"/>
        </p:nvSpPr>
        <p:spPr>
          <a:xfrm>
            <a:off x="431827" y="3602115"/>
            <a:ext cx="492867" cy="4928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+mj-lt"/>
              </a:rPr>
              <a:t>3</a:t>
            </a:r>
            <a:endParaRPr kumimoji="1" lang="ja-JP" alt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スライド番号プレースホルダ 1">
            <a:extLst>
              <a:ext uri="{FF2B5EF4-FFF2-40B4-BE49-F238E27FC236}">
                <a16:creationId xmlns:a16="http://schemas.microsoft.com/office/drawing/2014/main" id="{7C44C3DD-2ACF-6536-0914-5D2CA31C64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60135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ボックス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AD6F7DA-675F-C9AA-1EE7-54D7D0BDD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2" name="スライド番号プレースホルダ 1">
            <a:extLst>
              <a:ext uri="{FF2B5EF4-FFF2-40B4-BE49-F238E27FC236}">
                <a16:creationId xmlns:a16="http://schemas.microsoft.com/office/drawing/2014/main" id="{BAAC4E03-586C-6A49-6A2C-B050A3E4A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57731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ボックス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0" indent="0"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スライド番号プレースホルダ 1">
            <a:extLst>
              <a:ext uri="{FF2B5EF4-FFF2-40B4-BE49-F238E27FC236}">
                <a16:creationId xmlns:a16="http://schemas.microsoft.com/office/drawing/2014/main" id="{78D4910D-2A62-CD34-0530-915DF0043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010152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1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スライド番号プレースホルダ 1">
            <a:extLst>
              <a:ext uri="{FF2B5EF4-FFF2-40B4-BE49-F238E27FC236}">
                <a16:creationId xmlns:a16="http://schemas.microsoft.com/office/drawing/2014/main" id="{91DFBBB8-8FA3-391A-5215-61CF26ED5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2180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テキストボックス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AD6F7DA-675F-C9AA-1EE7-54D7D0BDD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9" name="コンテンツ プレースホルダー 20">
            <a:extLst>
              <a:ext uri="{FF2B5EF4-FFF2-40B4-BE49-F238E27FC236}">
                <a16:creationId xmlns:a16="http://schemas.microsoft.com/office/drawing/2014/main" id="{19EA67B3-7CA2-8DF5-540A-A4664C7893B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369820" y="904769"/>
            <a:ext cx="6446520" cy="662517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F888E21-A04E-F0DB-1B97-51BF43E6FC44}"/>
              </a:ext>
            </a:extLst>
          </p:cNvPr>
          <p:cNvSpPr txBox="1"/>
          <p:nvPr userDrawn="1"/>
        </p:nvSpPr>
        <p:spPr>
          <a:xfrm>
            <a:off x="794673" y="846228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4400" b="1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endParaRPr kumimoji="1" lang="ja-JP" altLang="en-US" sz="4400" b="1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6225AA7-7F75-7940-5CA9-1234D26A7EAB}"/>
              </a:ext>
            </a:extLst>
          </p:cNvPr>
          <p:cNvSpPr txBox="1"/>
          <p:nvPr userDrawn="1"/>
        </p:nvSpPr>
        <p:spPr>
          <a:xfrm>
            <a:off x="794673" y="1935497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4400" b="1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2</a:t>
            </a:r>
            <a:endParaRPr kumimoji="1" lang="ja-JP" altLang="en-US" sz="4400" b="1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8184464-7874-5B54-5F23-5D89BB3C2709}"/>
              </a:ext>
            </a:extLst>
          </p:cNvPr>
          <p:cNvSpPr txBox="1"/>
          <p:nvPr userDrawn="1"/>
        </p:nvSpPr>
        <p:spPr>
          <a:xfrm>
            <a:off x="794673" y="3024766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4400" b="1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3</a:t>
            </a:r>
            <a:endParaRPr kumimoji="1" lang="ja-JP" altLang="en-US" sz="4400" b="1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749160-4F71-5D40-7762-EB2E526D808E}"/>
              </a:ext>
            </a:extLst>
          </p:cNvPr>
          <p:cNvSpPr txBox="1"/>
          <p:nvPr userDrawn="1"/>
        </p:nvSpPr>
        <p:spPr>
          <a:xfrm>
            <a:off x="794673" y="4114035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4400" b="1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4</a:t>
            </a:r>
            <a:endParaRPr kumimoji="1" lang="ja-JP" altLang="en-US" sz="4400" b="1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CE33420-C83A-9559-93D3-4D4BD9E5AB32}"/>
              </a:ext>
            </a:extLst>
          </p:cNvPr>
          <p:cNvCxnSpPr/>
          <p:nvPr userDrawn="1"/>
        </p:nvCxnSpPr>
        <p:spPr>
          <a:xfrm>
            <a:off x="198120" y="1777047"/>
            <a:ext cx="8618220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7CC5124-D56D-4908-A7AC-974F74950E06}"/>
              </a:ext>
            </a:extLst>
          </p:cNvPr>
          <p:cNvCxnSpPr/>
          <p:nvPr userDrawn="1"/>
        </p:nvCxnSpPr>
        <p:spPr>
          <a:xfrm>
            <a:off x="198120" y="2859087"/>
            <a:ext cx="8618220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1A71DD8-C09A-8B06-2034-4466FFEDC3AC}"/>
              </a:ext>
            </a:extLst>
          </p:cNvPr>
          <p:cNvCxnSpPr/>
          <p:nvPr userDrawn="1"/>
        </p:nvCxnSpPr>
        <p:spPr>
          <a:xfrm>
            <a:off x="198120" y="4004357"/>
            <a:ext cx="8618220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コンテンツ プレースホルダー 20">
            <a:extLst>
              <a:ext uri="{FF2B5EF4-FFF2-40B4-BE49-F238E27FC236}">
                <a16:creationId xmlns:a16="http://schemas.microsoft.com/office/drawing/2014/main" id="{26C7E537-2FD8-91D2-7848-FD4267AE260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369820" y="1990859"/>
            <a:ext cx="6446520" cy="662517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6" name="コンテンツ プレースホルダー 20">
            <a:extLst>
              <a:ext uri="{FF2B5EF4-FFF2-40B4-BE49-F238E27FC236}">
                <a16:creationId xmlns:a16="http://schemas.microsoft.com/office/drawing/2014/main" id="{F88D4CB1-1F58-49AD-7451-5FF5640CE7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69820" y="3096654"/>
            <a:ext cx="6446520" cy="662517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7" name="コンテンツ プレースホルダー 20">
            <a:extLst>
              <a:ext uri="{FF2B5EF4-FFF2-40B4-BE49-F238E27FC236}">
                <a16:creationId xmlns:a16="http://schemas.microsoft.com/office/drawing/2014/main" id="{054A11C7-2AE0-AE24-4FA9-43A09A2173B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369820" y="4167496"/>
            <a:ext cx="6446520" cy="662517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2" name="スライド番号プレースホルダ 1">
            <a:extLst>
              <a:ext uri="{FF2B5EF4-FFF2-40B4-BE49-F238E27FC236}">
                <a16:creationId xmlns:a16="http://schemas.microsoft.com/office/drawing/2014/main" id="{62EB83F8-6028-BC7A-A289-358E4D304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68646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ボックス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AD6F7DA-675F-C9AA-1EE7-54D7D0BDD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2" name="スライド番号プレースホルダ 1">
            <a:extLst>
              <a:ext uri="{FF2B5EF4-FFF2-40B4-BE49-F238E27FC236}">
                <a16:creationId xmlns:a16="http://schemas.microsoft.com/office/drawing/2014/main" id="{F1C6BFF0-766A-4082-7DDA-96ED86C8E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92192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ボックス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0" indent="0"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スライド番号プレースホルダ 1">
            <a:extLst>
              <a:ext uri="{FF2B5EF4-FFF2-40B4-BE49-F238E27FC236}">
                <a16:creationId xmlns:a16="http://schemas.microsoft.com/office/drawing/2014/main" id="{DF5C95A4-2120-493C-1B8F-3B5F903BB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2593966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1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スライド番号プレースホルダ 1">
            <a:extLst>
              <a:ext uri="{FF2B5EF4-FFF2-40B4-BE49-F238E27FC236}">
                <a16:creationId xmlns:a16="http://schemas.microsoft.com/office/drawing/2014/main" id="{D934E562-D625-B3A8-3A19-DDFBF6F56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1389594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ボックス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AD6F7DA-675F-C9AA-1EE7-54D7D0BDD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2" name="スライド番号プレースホルダ 1">
            <a:extLst>
              <a:ext uri="{FF2B5EF4-FFF2-40B4-BE49-F238E27FC236}">
                <a16:creationId xmlns:a16="http://schemas.microsoft.com/office/drawing/2014/main" id="{CC3586D4-93F8-0FFE-7AC5-42BFE1934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3333832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ボックス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スライド番号プレースホルダ 1">
            <a:extLst>
              <a:ext uri="{FF2B5EF4-FFF2-40B4-BE49-F238E27FC236}">
                <a16:creationId xmlns:a16="http://schemas.microsoft.com/office/drawing/2014/main" id="{C118FF61-476C-4D8C-8738-BB6A53A21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0" indent="0"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460837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8">
            <a:extLst>
              <a:ext uri="{FF2B5EF4-FFF2-40B4-BE49-F238E27FC236}">
                <a16:creationId xmlns:a16="http://schemas.microsoft.com/office/drawing/2014/main" id="{73DAA729-967E-4336-826D-FFE2DFF2E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0936"/>
            <a:ext cx="9144000" cy="44625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1"/>
              </a:buClr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1pPr>
            <a:lvl2pPr>
              <a:defRPr sz="14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文章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3E6134-F50E-2F4C-C49D-02ECAE8D0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3999" cy="492867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スライド番号プレースホルダ 1">
            <a:extLst>
              <a:ext uri="{FF2B5EF4-FFF2-40B4-BE49-F238E27FC236}">
                <a16:creationId xmlns:a16="http://schemas.microsoft.com/office/drawing/2014/main" id="{76F67F1C-F3FD-C463-FB0B-F053FF395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60080" y="0"/>
            <a:ext cx="883919" cy="492868"/>
          </a:xfrm>
          <a:prstGeom prst="rect">
            <a:avLst/>
          </a:prstGeom>
        </p:spPr>
        <p:txBody>
          <a:bodyPr anchor="ctr"/>
          <a:lstStyle>
            <a:lvl1pPr>
              <a:defRPr sz="1400">
                <a:latin typeface="+mj-lt"/>
              </a:defRPr>
            </a:lvl1pPr>
          </a:lstStyle>
          <a:p>
            <a:fld id="{69D336B1-B5EC-48A5-935B-D81154520191}" type="slidenum">
              <a:rPr lang="en-US" altLang="ja-JP" smtClean="0"/>
              <a:pPr/>
              <a:t>‹#›</a:t>
            </a:fld>
            <a:r>
              <a:rPr lang="en-US" altLang="ja-JP" dirty="0"/>
              <a:t>/19</a:t>
            </a:r>
          </a:p>
        </p:txBody>
      </p:sp>
    </p:spTree>
    <p:extLst>
      <p:ext uri="{BB962C8B-B14F-4D97-AF65-F5344CB8AC3E}">
        <p14:creationId xmlns:p14="http://schemas.microsoft.com/office/powerpoint/2010/main" val="8827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D0108995-E734-30D2-CF4D-B112D0E69807}"/>
              </a:ext>
            </a:extLst>
          </p:cNvPr>
          <p:cNvSpPr/>
          <p:nvPr userDrawn="1"/>
        </p:nvSpPr>
        <p:spPr>
          <a:xfrm>
            <a:off x="558275" y="558276"/>
            <a:ext cx="27208" cy="32977"/>
          </a:xfrm>
          <a:custGeom>
            <a:avLst/>
            <a:gdLst>
              <a:gd name="connsiteX0" fmla="*/ 0 w 27208"/>
              <a:gd name="connsiteY0" fmla="*/ 0 h 32977"/>
              <a:gd name="connsiteX1" fmla="*/ 27208 w 27208"/>
              <a:gd name="connsiteY1" fmla="*/ 0 h 32977"/>
              <a:gd name="connsiteX2" fmla="*/ 0 w 27208"/>
              <a:gd name="connsiteY2" fmla="*/ 32977 h 32977"/>
              <a:gd name="connsiteX3" fmla="*/ 0 w 27208"/>
              <a:gd name="connsiteY3" fmla="*/ 0 h 3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08" h="32977">
                <a:moveTo>
                  <a:pt x="0" y="0"/>
                </a:moveTo>
                <a:lnTo>
                  <a:pt x="27208" y="0"/>
                </a:lnTo>
                <a:lnTo>
                  <a:pt x="0" y="329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5000">
                <a:srgbClr val="994430"/>
              </a:gs>
              <a:gs pos="50000">
                <a:srgbClr val="664360"/>
              </a:gs>
              <a:gs pos="25000">
                <a:srgbClr val="334290"/>
              </a:gs>
              <a:gs pos="0">
                <a:srgbClr val="0041C0"/>
              </a:gs>
              <a:gs pos="100000">
                <a:srgbClr val="CC440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A603E3CD-08BC-4209-4BC9-6411452D2316}"/>
              </a:ext>
            </a:extLst>
          </p:cNvPr>
          <p:cNvSpPr/>
          <p:nvPr userDrawn="1"/>
        </p:nvSpPr>
        <p:spPr>
          <a:xfrm>
            <a:off x="8558517" y="558275"/>
            <a:ext cx="27209" cy="32978"/>
          </a:xfrm>
          <a:custGeom>
            <a:avLst/>
            <a:gdLst>
              <a:gd name="connsiteX0" fmla="*/ 0 w 27209"/>
              <a:gd name="connsiteY0" fmla="*/ 0 h 32978"/>
              <a:gd name="connsiteX1" fmla="*/ 27209 w 27209"/>
              <a:gd name="connsiteY1" fmla="*/ 0 h 32978"/>
              <a:gd name="connsiteX2" fmla="*/ 27209 w 27209"/>
              <a:gd name="connsiteY2" fmla="*/ 32978 h 32978"/>
              <a:gd name="connsiteX3" fmla="*/ 0 w 27209"/>
              <a:gd name="connsiteY3" fmla="*/ 0 h 32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09" h="32978">
                <a:moveTo>
                  <a:pt x="0" y="0"/>
                </a:moveTo>
                <a:lnTo>
                  <a:pt x="27209" y="0"/>
                </a:lnTo>
                <a:lnTo>
                  <a:pt x="27209" y="329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5000">
                <a:srgbClr val="994430"/>
              </a:gs>
              <a:gs pos="50000">
                <a:srgbClr val="664360"/>
              </a:gs>
              <a:gs pos="25000">
                <a:srgbClr val="334290"/>
              </a:gs>
              <a:gs pos="0">
                <a:srgbClr val="0041C0"/>
              </a:gs>
              <a:gs pos="100000">
                <a:srgbClr val="CC440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AB528E59-7468-80CB-292D-D2A60C862C52}"/>
              </a:ext>
            </a:extLst>
          </p:cNvPr>
          <p:cNvSpPr/>
          <p:nvPr userDrawn="1"/>
        </p:nvSpPr>
        <p:spPr>
          <a:xfrm>
            <a:off x="8558515" y="4552247"/>
            <a:ext cx="27210" cy="32979"/>
          </a:xfrm>
          <a:custGeom>
            <a:avLst/>
            <a:gdLst>
              <a:gd name="connsiteX0" fmla="*/ 27210 w 27210"/>
              <a:gd name="connsiteY0" fmla="*/ 0 h 32979"/>
              <a:gd name="connsiteX1" fmla="*/ 27210 w 27210"/>
              <a:gd name="connsiteY1" fmla="*/ 32979 h 32979"/>
              <a:gd name="connsiteX2" fmla="*/ 0 w 27210"/>
              <a:gd name="connsiteY2" fmla="*/ 32979 h 32979"/>
              <a:gd name="connsiteX3" fmla="*/ 27210 w 27210"/>
              <a:gd name="connsiteY3" fmla="*/ 0 h 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10" h="32979">
                <a:moveTo>
                  <a:pt x="27210" y="0"/>
                </a:moveTo>
                <a:lnTo>
                  <a:pt x="27210" y="32979"/>
                </a:lnTo>
                <a:lnTo>
                  <a:pt x="0" y="32979"/>
                </a:lnTo>
                <a:lnTo>
                  <a:pt x="27210" y="0"/>
                </a:lnTo>
                <a:close/>
              </a:path>
            </a:pathLst>
          </a:custGeom>
          <a:gradFill flip="none" rotWithShape="1">
            <a:gsLst>
              <a:gs pos="75000">
                <a:srgbClr val="994430"/>
              </a:gs>
              <a:gs pos="50000">
                <a:srgbClr val="664360"/>
              </a:gs>
              <a:gs pos="25000">
                <a:srgbClr val="334290"/>
              </a:gs>
              <a:gs pos="0">
                <a:srgbClr val="0041C0"/>
              </a:gs>
              <a:gs pos="100000">
                <a:srgbClr val="CC440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B1BAEE8B-A9E3-D132-30C1-75CF5522FE35}"/>
              </a:ext>
            </a:extLst>
          </p:cNvPr>
          <p:cNvSpPr/>
          <p:nvPr userDrawn="1"/>
        </p:nvSpPr>
        <p:spPr>
          <a:xfrm>
            <a:off x="558276" y="4552249"/>
            <a:ext cx="27209" cy="32977"/>
          </a:xfrm>
          <a:custGeom>
            <a:avLst/>
            <a:gdLst>
              <a:gd name="connsiteX0" fmla="*/ 0 w 27209"/>
              <a:gd name="connsiteY0" fmla="*/ 0 h 32977"/>
              <a:gd name="connsiteX1" fmla="*/ 27209 w 27209"/>
              <a:gd name="connsiteY1" fmla="*/ 32977 h 32977"/>
              <a:gd name="connsiteX2" fmla="*/ 0 w 27209"/>
              <a:gd name="connsiteY2" fmla="*/ 32977 h 32977"/>
              <a:gd name="connsiteX3" fmla="*/ 0 w 27209"/>
              <a:gd name="connsiteY3" fmla="*/ 0 h 3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09" h="32977">
                <a:moveTo>
                  <a:pt x="0" y="0"/>
                </a:moveTo>
                <a:lnTo>
                  <a:pt x="27209" y="32977"/>
                </a:lnTo>
                <a:lnTo>
                  <a:pt x="0" y="329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5000">
                <a:srgbClr val="994430"/>
              </a:gs>
              <a:gs pos="50000">
                <a:srgbClr val="664360"/>
              </a:gs>
              <a:gs pos="25000">
                <a:srgbClr val="334290"/>
              </a:gs>
              <a:gs pos="0">
                <a:srgbClr val="0041C0"/>
              </a:gs>
              <a:gs pos="100000">
                <a:srgbClr val="CC440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29FCDA26-3589-76A0-2034-4AB1BC5C289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  <a:gd name="connsiteX4" fmla="*/ 0 w 9144000"/>
              <a:gd name="connsiteY4" fmla="*/ 0 h 5143500"/>
              <a:gd name="connsiteX5" fmla="*/ 1159829 w 9144000"/>
              <a:gd name="connsiteY5" fmla="*/ 291041 h 5143500"/>
              <a:gd name="connsiteX6" fmla="*/ 622250 w 9144000"/>
              <a:gd name="connsiteY6" fmla="*/ 513713 h 5143500"/>
              <a:gd name="connsiteX7" fmla="*/ 585483 w 9144000"/>
              <a:gd name="connsiteY7" fmla="*/ 558275 h 5143500"/>
              <a:gd name="connsiteX8" fmla="*/ 558275 w 9144000"/>
              <a:gd name="connsiteY8" fmla="*/ 558275 h 5143500"/>
              <a:gd name="connsiteX9" fmla="*/ 558275 w 9144000"/>
              <a:gd name="connsiteY9" fmla="*/ 591252 h 5143500"/>
              <a:gd name="connsiteX10" fmla="*/ 529417 w 9144000"/>
              <a:gd name="connsiteY10" fmla="*/ 626228 h 5143500"/>
              <a:gd name="connsiteX11" fmla="*/ 399578 w 9144000"/>
              <a:gd name="connsiteY11" fmla="*/ 1051292 h 5143500"/>
              <a:gd name="connsiteX12" fmla="*/ 399578 w 9144000"/>
              <a:gd name="connsiteY12" fmla="*/ 4092207 h 5143500"/>
              <a:gd name="connsiteX13" fmla="*/ 529417 w 9144000"/>
              <a:gd name="connsiteY13" fmla="*/ 4517271 h 5143500"/>
              <a:gd name="connsiteX14" fmla="*/ 558275 w 9144000"/>
              <a:gd name="connsiteY14" fmla="*/ 4552248 h 5143500"/>
              <a:gd name="connsiteX15" fmla="*/ 558275 w 9144000"/>
              <a:gd name="connsiteY15" fmla="*/ 4585225 h 5143500"/>
              <a:gd name="connsiteX16" fmla="*/ 585484 w 9144000"/>
              <a:gd name="connsiteY16" fmla="*/ 4585225 h 5143500"/>
              <a:gd name="connsiteX17" fmla="*/ 622250 w 9144000"/>
              <a:gd name="connsiteY17" fmla="*/ 4629786 h 5143500"/>
              <a:gd name="connsiteX18" fmla="*/ 1159829 w 9144000"/>
              <a:gd name="connsiteY18" fmla="*/ 4852458 h 5143500"/>
              <a:gd name="connsiteX19" fmla="*/ 7984170 w 9144000"/>
              <a:gd name="connsiteY19" fmla="*/ 4852458 h 5143500"/>
              <a:gd name="connsiteX20" fmla="*/ 8521749 w 9144000"/>
              <a:gd name="connsiteY20" fmla="*/ 4629786 h 5143500"/>
              <a:gd name="connsiteX21" fmla="*/ 8558515 w 9144000"/>
              <a:gd name="connsiteY21" fmla="*/ 4585225 h 5143500"/>
              <a:gd name="connsiteX22" fmla="*/ 8585725 w 9144000"/>
              <a:gd name="connsiteY22" fmla="*/ 4585225 h 5143500"/>
              <a:gd name="connsiteX23" fmla="*/ 8585725 w 9144000"/>
              <a:gd name="connsiteY23" fmla="*/ 4552246 h 5143500"/>
              <a:gd name="connsiteX24" fmla="*/ 8614582 w 9144000"/>
              <a:gd name="connsiteY24" fmla="*/ 4517271 h 5143500"/>
              <a:gd name="connsiteX25" fmla="*/ 8744421 w 9144000"/>
              <a:gd name="connsiteY25" fmla="*/ 4092207 h 5143500"/>
              <a:gd name="connsiteX26" fmla="*/ 8744421 w 9144000"/>
              <a:gd name="connsiteY26" fmla="*/ 1051292 h 5143500"/>
              <a:gd name="connsiteX27" fmla="*/ 8614582 w 9144000"/>
              <a:gd name="connsiteY27" fmla="*/ 626228 h 5143500"/>
              <a:gd name="connsiteX28" fmla="*/ 8585725 w 9144000"/>
              <a:gd name="connsiteY28" fmla="*/ 591253 h 5143500"/>
              <a:gd name="connsiteX29" fmla="*/ 8585725 w 9144000"/>
              <a:gd name="connsiteY29" fmla="*/ 558275 h 5143500"/>
              <a:gd name="connsiteX30" fmla="*/ 8558516 w 9144000"/>
              <a:gd name="connsiteY30" fmla="*/ 558275 h 5143500"/>
              <a:gd name="connsiteX31" fmla="*/ 8521749 w 9144000"/>
              <a:gd name="connsiteY31" fmla="*/ 513713 h 5143500"/>
              <a:gd name="connsiteX32" fmla="*/ 7984170 w 9144000"/>
              <a:gd name="connsiteY32" fmla="*/ 291041 h 5143500"/>
              <a:gd name="connsiteX33" fmla="*/ 1159829 w 9144000"/>
              <a:gd name="connsiteY33" fmla="*/ 29104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  <a:moveTo>
                  <a:pt x="1159829" y="291041"/>
                </a:moveTo>
                <a:cubicBezTo>
                  <a:pt x="949892" y="291041"/>
                  <a:pt x="759829" y="376135"/>
                  <a:pt x="622250" y="513713"/>
                </a:cubicBezTo>
                <a:lnTo>
                  <a:pt x="585483" y="558275"/>
                </a:lnTo>
                <a:lnTo>
                  <a:pt x="558275" y="558275"/>
                </a:lnTo>
                <a:lnTo>
                  <a:pt x="558275" y="591252"/>
                </a:lnTo>
                <a:lnTo>
                  <a:pt x="529417" y="626228"/>
                </a:lnTo>
                <a:cubicBezTo>
                  <a:pt x="447443" y="747565"/>
                  <a:pt x="399578" y="893839"/>
                  <a:pt x="399578" y="1051292"/>
                </a:cubicBezTo>
                <a:lnTo>
                  <a:pt x="399578" y="4092207"/>
                </a:lnTo>
                <a:cubicBezTo>
                  <a:pt x="399578" y="4249660"/>
                  <a:pt x="447443" y="4395934"/>
                  <a:pt x="529417" y="4517271"/>
                </a:cubicBezTo>
                <a:lnTo>
                  <a:pt x="558275" y="4552248"/>
                </a:lnTo>
                <a:lnTo>
                  <a:pt x="558275" y="4585225"/>
                </a:lnTo>
                <a:lnTo>
                  <a:pt x="585484" y="4585225"/>
                </a:lnTo>
                <a:lnTo>
                  <a:pt x="622250" y="4629786"/>
                </a:lnTo>
                <a:cubicBezTo>
                  <a:pt x="759829" y="4767364"/>
                  <a:pt x="949892" y="4852458"/>
                  <a:pt x="1159829" y="4852458"/>
                </a:cubicBezTo>
                <a:lnTo>
                  <a:pt x="7984170" y="4852458"/>
                </a:lnTo>
                <a:cubicBezTo>
                  <a:pt x="8194108" y="4852458"/>
                  <a:pt x="8384170" y="4767364"/>
                  <a:pt x="8521749" y="4629786"/>
                </a:cubicBezTo>
                <a:lnTo>
                  <a:pt x="8558515" y="4585225"/>
                </a:lnTo>
                <a:lnTo>
                  <a:pt x="8585725" y="4585225"/>
                </a:lnTo>
                <a:lnTo>
                  <a:pt x="8585725" y="4552246"/>
                </a:lnTo>
                <a:lnTo>
                  <a:pt x="8614582" y="4517271"/>
                </a:lnTo>
                <a:cubicBezTo>
                  <a:pt x="8696556" y="4395934"/>
                  <a:pt x="8744421" y="4249660"/>
                  <a:pt x="8744421" y="4092207"/>
                </a:cubicBezTo>
                <a:lnTo>
                  <a:pt x="8744421" y="1051292"/>
                </a:lnTo>
                <a:cubicBezTo>
                  <a:pt x="8744421" y="893839"/>
                  <a:pt x="8696556" y="747565"/>
                  <a:pt x="8614582" y="626228"/>
                </a:cubicBezTo>
                <a:lnTo>
                  <a:pt x="8585725" y="591253"/>
                </a:lnTo>
                <a:lnTo>
                  <a:pt x="8585725" y="558275"/>
                </a:lnTo>
                <a:lnTo>
                  <a:pt x="8558516" y="558275"/>
                </a:lnTo>
                <a:lnTo>
                  <a:pt x="8521749" y="513713"/>
                </a:lnTo>
                <a:cubicBezTo>
                  <a:pt x="8384170" y="376135"/>
                  <a:pt x="8194108" y="291041"/>
                  <a:pt x="7984170" y="291041"/>
                </a:cubicBezTo>
                <a:lnTo>
                  <a:pt x="1159829" y="291041"/>
                </a:lnTo>
                <a:close/>
              </a:path>
            </a:pathLst>
          </a:custGeom>
          <a:gradFill flip="none" rotWithShape="1">
            <a:gsLst>
              <a:gs pos="75000">
                <a:srgbClr val="BB6135"/>
              </a:gs>
              <a:gs pos="50000">
                <a:srgbClr val="7D5663"/>
              </a:gs>
              <a:gs pos="25000">
                <a:srgbClr val="3F4C92"/>
              </a:gs>
              <a:gs pos="0">
                <a:srgbClr val="0041C0"/>
              </a:gs>
              <a:gs pos="100000">
                <a:srgbClr val="F96B0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09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86" r:id="rId2"/>
    <p:sldLayoutId id="2147483787" r:id="rId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メイリオ" pitchFamily="50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8E8248-649E-F509-7F08-3CFBABF3AC8D}"/>
              </a:ext>
            </a:extLst>
          </p:cNvPr>
          <p:cNvSpPr/>
          <p:nvPr userDrawn="1"/>
        </p:nvSpPr>
        <p:spPr>
          <a:xfrm>
            <a:off x="0" y="496921"/>
            <a:ext cx="9144000" cy="113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baseline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67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4" r:id="rId2"/>
    <p:sldLayoutId id="2147483778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8E8248-649E-F509-7F08-3CFBABF3AC8D}"/>
              </a:ext>
            </a:extLst>
          </p:cNvPr>
          <p:cNvSpPr/>
          <p:nvPr userDrawn="1"/>
        </p:nvSpPr>
        <p:spPr>
          <a:xfrm>
            <a:off x="0" y="496921"/>
            <a:ext cx="9144000" cy="113729"/>
          </a:xfrm>
          <a:prstGeom prst="rect">
            <a:avLst/>
          </a:prstGeom>
          <a:gradFill flip="none" rotWithShape="1">
            <a:gsLst>
              <a:gs pos="75000">
                <a:srgbClr val="BB6135"/>
              </a:gs>
              <a:gs pos="50000">
                <a:srgbClr val="7D5663"/>
              </a:gs>
              <a:gs pos="25000">
                <a:srgbClr val="3F4C92"/>
              </a:gs>
              <a:gs pos="0">
                <a:srgbClr val="0041C0"/>
              </a:gs>
              <a:gs pos="100000">
                <a:srgbClr val="F96B0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baseline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82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49" r:id="rId2"/>
    <p:sldLayoutId id="2147483765" r:id="rId3"/>
    <p:sldLayoutId id="2147483785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8E8248-649E-F509-7F08-3CFBABF3AC8D}"/>
              </a:ext>
            </a:extLst>
          </p:cNvPr>
          <p:cNvSpPr/>
          <p:nvPr userDrawn="1"/>
        </p:nvSpPr>
        <p:spPr>
          <a:xfrm>
            <a:off x="0" y="496921"/>
            <a:ext cx="9144000" cy="113729"/>
          </a:xfrm>
          <a:prstGeom prst="rect">
            <a:avLst/>
          </a:prstGeom>
          <a:solidFill>
            <a:srgbClr val="0041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baseline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51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8E8248-649E-F509-7F08-3CFBABF3AC8D}"/>
              </a:ext>
            </a:extLst>
          </p:cNvPr>
          <p:cNvSpPr/>
          <p:nvPr userDrawn="1"/>
        </p:nvSpPr>
        <p:spPr>
          <a:xfrm>
            <a:off x="0" y="496921"/>
            <a:ext cx="9144000" cy="113729"/>
          </a:xfrm>
          <a:prstGeom prst="rect">
            <a:avLst/>
          </a:prstGeom>
          <a:solidFill>
            <a:srgbClr val="F96B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baseline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2600" b="1">
          <a:solidFill>
            <a:schemeClr val="tx2"/>
          </a:solidFill>
          <a:latin typeface="Arial" charset="0"/>
          <a:ea typeface="メイリオ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11A06F-2646-496E-869C-ABDDB58B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308" y="1657652"/>
            <a:ext cx="5657383" cy="1481667"/>
          </a:xfrm>
        </p:spPr>
        <p:txBody>
          <a:bodyPr/>
          <a:lstStyle/>
          <a:p>
            <a:r>
              <a:rPr kumimoji="1" lang="ja-JP" altLang="en-US" dirty="0"/>
              <a:t>回路基板検査装置</a:t>
            </a:r>
          </a:p>
        </p:txBody>
      </p:sp>
    </p:spTree>
    <p:extLst>
      <p:ext uri="{BB962C8B-B14F-4D97-AF65-F5344CB8AC3E}">
        <p14:creationId xmlns:p14="http://schemas.microsoft.com/office/powerpoint/2010/main" val="208905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D0C6251-7F96-7DDA-8252-2BAA95BD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3C419D-0CCD-8F4A-0D7B-4B4FBF0624B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kumimoji="1" lang="ja-JP" altLang="en-US"/>
              <a:t>システムの紹介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F4647A0-70D3-293B-3AD2-E6D6BCB3022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F96B06"/>
                </a:solidFill>
              </a:rPr>
              <a:t>ハード</a:t>
            </a:r>
            <a:r>
              <a:rPr kumimoji="1" lang="ja-JP" altLang="en-US"/>
              <a:t>の紹介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386730-1F1E-E974-E43B-B7F87AEB63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>
                <a:solidFill>
                  <a:srgbClr val="0041C0"/>
                </a:solidFill>
              </a:rPr>
              <a:t>ソフト</a:t>
            </a:r>
            <a:r>
              <a:rPr kumimoji="1" lang="ja-JP" altLang="en-US"/>
              <a:t>の紹介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857CBBF-4A1F-BED7-14A6-D172C33050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95674" y="1269681"/>
            <a:ext cx="2981059" cy="393066"/>
          </a:xfrm>
        </p:spPr>
        <p:txBody>
          <a:bodyPr/>
          <a:lstStyle/>
          <a:p>
            <a:r>
              <a:rPr kumimoji="1" lang="ja-JP" altLang="en-US"/>
              <a:t>プロジェクト進行方法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7EF5FC10-F0FA-F1F2-E1F3-FECE5C77D62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CB2B87-C84D-F10A-CF52-0D24EAF0A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8643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矢印: 上 10">
            <a:extLst>
              <a:ext uri="{FF2B5EF4-FFF2-40B4-BE49-F238E27FC236}">
                <a16:creationId xmlns:a16="http://schemas.microsoft.com/office/drawing/2014/main" id="{C6A61DE2-8D32-B5E3-C1D4-54A264832E54}"/>
              </a:ext>
            </a:extLst>
          </p:cNvPr>
          <p:cNvSpPr/>
          <p:nvPr/>
        </p:nvSpPr>
        <p:spPr>
          <a:xfrm rot="18965429">
            <a:off x="7980728" y="2492249"/>
            <a:ext cx="330586" cy="493384"/>
          </a:xfrm>
          <a:prstGeom prst="upArrow">
            <a:avLst>
              <a:gd name="adj1" fmla="val 24825"/>
              <a:gd name="adj2" fmla="val 835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625BC7-4E4A-C81C-D4E8-B903C034296B}"/>
              </a:ext>
            </a:extLst>
          </p:cNvPr>
          <p:cNvSpPr txBox="1"/>
          <p:nvPr/>
        </p:nvSpPr>
        <p:spPr>
          <a:xfrm>
            <a:off x="6729407" y="2188473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検査開始</a:t>
            </a:r>
            <a:endParaRPr kumimoji="1" lang="ja-JP" altLang="en-US" b="1" baseline="0">
              <a:latin typeface="+mn-lt"/>
              <a:ea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F5DDA5-FE80-C2D0-CB05-4F3C5F3C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システムの紹介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744F2A9-6ED7-4446-4766-EC94F3B15EB4}"/>
              </a:ext>
            </a:extLst>
          </p:cNvPr>
          <p:cNvSpPr/>
          <p:nvPr/>
        </p:nvSpPr>
        <p:spPr>
          <a:xfrm>
            <a:off x="3911599" y="3081867"/>
            <a:ext cx="1320800" cy="1845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3DE7E1-4958-C50A-08F7-519627A0F135}"/>
              </a:ext>
            </a:extLst>
          </p:cNvPr>
          <p:cNvSpPr/>
          <p:nvPr/>
        </p:nvSpPr>
        <p:spPr>
          <a:xfrm>
            <a:off x="524328" y="4402667"/>
            <a:ext cx="3293533" cy="1439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2BB37FC-403D-143F-EB7E-F7B0A13BF007}"/>
              </a:ext>
            </a:extLst>
          </p:cNvPr>
          <p:cNvSpPr/>
          <p:nvPr/>
        </p:nvSpPr>
        <p:spPr>
          <a:xfrm>
            <a:off x="276768" y="4582159"/>
            <a:ext cx="8590462" cy="345441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7" name="台形 26">
            <a:extLst>
              <a:ext uri="{FF2B5EF4-FFF2-40B4-BE49-F238E27FC236}">
                <a16:creationId xmlns:a16="http://schemas.microsoft.com/office/drawing/2014/main" id="{122A976D-FACC-7007-EBC2-79C19213C393}"/>
              </a:ext>
            </a:extLst>
          </p:cNvPr>
          <p:cNvSpPr/>
          <p:nvPr/>
        </p:nvSpPr>
        <p:spPr>
          <a:xfrm>
            <a:off x="4025446" y="3081867"/>
            <a:ext cx="1093106" cy="1464732"/>
          </a:xfrm>
          <a:prstGeom prst="trapezoid">
            <a:avLst>
              <a:gd name="adj" fmla="val 37234"/>
            </a:avLst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8" name="フローチャート: 代替処理 27">
            <a:extLst>
              <a:ext uri="{FF2B5EF4-FFF2-40B4-BE49-F238E27FC236}">
                <a16:creationId xmlns:a16="http://schemas.microsoft.com/office/drawing/2014/main" id="{37CE40DB-20F9-9CB4-1006-0F3037340F6C}"/>
              </a:ext>
            </a:extLst>
          </p:cNvPr>
          <p:cNvSpPr/>
          <p:nvPr/>
        </p:nvSpPr>
        <p:spPr>
          <a:xfrm>
            <a:off x="4407201" y="2937935"/>
            <a:ext cx="329596" cy="143932"/>
          </a:xfrm>
          <a:prstGeom prst="flowChartAlternateProces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DBBB5C9-A9E7-BD2B-561A-28A20FA756FB}"/>
              </a:ext>
            </a:extLst>
          </p:cNvPr>
          <p:cNvSpPr/>
          <p:nvPr/>
        </p:nvSpPr>
        <p:spPr>
          <a:xfrm>
            <a:off x="5806531" y="888699"/>
            <a:ext cx="2953748" cy="29485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3BFFDA-5F49-4A23-A5E1-7221370DEB34}"/>
              </a:ext>
            </a:extLst>
          </p:cNvPr>
          <p:cNvSpPr/>
          <p:nvPr/>
        </p:nvSpPr>
        <p:spPr>
          <a:xfrm>
            <a:off x="6103666" y="1054268"/>
            <a:ext cx="2359478" cy="88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739C833-2814-26C4-5716-72F3148A9A95}"/>
              </a:ext>
            </a:extLst>
          </p:cNvPr>
          <p:cNvSpPr/>
          <p:nvPr/>
        </p:nvSpPr>
        <p:spPr>
          <a:xfrm>
            <a:off x="6103666" y="1928527"/>
            <a:ext cx="2359478" cy="88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0A066A8-3F89-CFBD-18B3-29F5D759894C}"/>
              </a:ext>
            </a:extLst>
          </p:cNvPr>
          <p:cNvSpPr/>
          <p:nvPr/>
        </p:nvSpPr>
        <p:spPr>
          <a:xfrm>
            <a:off x="6103666" y="2810269"/>
            <a:ext cx="2359478" cy="88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B3525BF-0395-4874-0E20-299179D3B5FD}"/>
              </a:ext>
            </a:extLst>
          </p:cNvPr>
          <p:cNvSpPr txBox="1"/>
          <p:nvPr/>
        </p:nvSpPr>
        <p:spPr>
          <a:xfrm>
            <a:off x="6817572" y="962572"/>
            <a:ext cx="947695" cy="280076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kumimoji="1" lang="en-US" altLang="ja-JP" sz="8800" b="1" baseline="0">
                <a:solidFill>
                  <a:schemeClr val="bg1"/>
                </a:solidFill>
                <a:latin typeface="+mn-lt"/>
                <a:ea typeface="+mn-ea"/>
              </a:rPr>
              <a:t>O</a:t>
            </a:r>
          </a:p>
          <a:p>
            <a:pPr algn="l"/>
            <a:r>
              <a:rPr kumimoji="1" lang="en-US" altLang="ja-JP" sz="8800" b="1" baseline="0">
                <a:solidFill>
                  <a:schemeClr val="bg1"/>
                </a:solidFill>
                <a:latin typeface="+mn-lt"/>
                <a:ea typeface="+mn-ea"/>
              </a:rPr>
              <a:t>K</a:t>
            </a:r>
            <a:endParaRPr kumimoji="1" lang="ja-JP" altLang="en-US" sz="8800" b="1" baseline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75E9BE-4C96-6A9C-9C69-9137E0FB9F5C}"/>
              </a:ext>
            </a:extLst>
          </p:cNvPr>
          <p:cNvSpPr txBox="1"/>
          <p:nvPr/>
        </p:nvSpPr>
        <p:spPr>
          <a:xfrm>
            <a:off x="157285" y="1126800"/>
            <a:ext cx="52886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スタート位置に検査基板をセットする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GUI</a:t>
            </a: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を操作し，検査開始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検査対象を複数回に分けて撮像する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画像処理で基板の良・不良を判別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良品ならベルトコンベアが順転し，不良なら逆転する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0BAD6E-2E41-A5D6-5BDA-B814325AE753}"/>
              </a:ext>
            </a:extLst>
          </p:cNvPr>
          <p:cNvSpPr txBox="1"/>
          <p:nvPr/>
        </p:nvSpPr>
        <p:spPr>
          <a:xfrm>
            <a:off x="6817572" y="932847"/>
            <a:ext cx="928459" cy="280076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en-US" altLang="ja-JP" sz="8800" b="1">
                <a:solidFill>
                  <a:schemeClr val="bg1"/>
                </a:solidFill>
                <a:latin typeface="+mn-lt"/>
                <a:ea typeface="+mn-ea"/>
              </a:rPr>
              <a:t>N</a:t>
            </a:r>
          </a:p>
          <a:p>
            <a:pPr algn="l"/>
            <a:r>
              <a:rPr lang="en-US" altLang="ja-JP" sz="8800" b="1">
                <a:solidFill>
                  <a:schemeClr val="bg1"/>
                </a:solidFill>
                <a:latin typeface="+mn-lt"/>
                <a:ea typeface="+mn-ea"/>
              </a:rPr>
              <a:t>G</a:t>
            </a:r>
            <a:endParaRPr kumimoji="1" lang="en-US" altLang="ja-JP" sz="8800" b="1" baseline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2631533-B78F-31AA-E203-05AA44E81355}"/>
              </a:ext>
            </a:extLst>
          </p:cNvPr>
          <p:cNvSpPr txBox="1"/>
          <p:nvPr/>
        </p:nvSpPr>
        <p:spPr>
          <a:xfrm>
            <a:off x="6960238" y="3841219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b="1" baseline="0">
                <a:latin typeface="+mn-lt"/>
                <a:ea typeface="+mn-ea"/>
              </a:rPr>
              <a:t>GUI</a:t>
            </a:r>
            <a:endParaRPr kumimoji="1" lang="ja-JP" altLang="en-US" sz="2400" b="1" baseline="0">
              <a:latin typeface="+mn-lt"/>
              <a:ea typeface="+mn-ea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CB502A5-2498-905A-A50D-7E54E07C040F}"/>
              </a:ext>
            </a:extLst>
          </p:cNvPr>
          <p:cNvSpPr/>
          <p:nvPr/>
        </p:nvSpPr>
        <p:spPr>
          <a:xfrm>
            <a:off x="0" y="596902"/>
            <a:ext cx="9144000" cy="454659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D9E2223-9567-2A65-2C5F-455E266C2257}"/>
              </a:ext>
            </a:extLst>
          </p:cNvPr>
          <p:cNvSpPr txBox="1"/>
          <p:nvPr/>
        </p:nvSpPr>
        <p:spPr>
          <a:xfrm>
            <a:off x="376709" y="1779454"/>
            <a:ext cx="8383570" cy="181588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>
              <a:buClr>
                <a:schemeClr val="tx1"/>
              </a:buClr>
            </a:pPr>
            <a:r>
              <a:rPr kumimoji="1" lang="ja-JP" altLang="en-US" sz="2000" b="1" u="sng" baseline="0">
                <a:solidFill>
                  <a:srgbClr val="FF0000"/>
                </a:solidFill>
                <a:latin typeface="+mn-lt"/>
                <a:ea typeface="+mn-ea"/>
              </a:rPr>
              <a:t>特徴</a:t>
            </a: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kumimoji="1" lang="en-US" altLang="ja-JP" sz="2000" baseline="0">
                <a:latin typeface="+mn-lt"/>
                <a:ea typeface="+mn-ea"/>
              </a:rPr>
              <a:t>GUI</a:t>
            </a:r>
            <a:r>
              <a:rPr kumimoji="1" lang="ja-JP" altLang="en-US" sz="2000" baseline="0">
                <a:latin typeface="+mn-lt"/>
                <a:ea typeface="+mn-ea"/>
              </a:rPr>
              <a:t>を用いたアプリケーションを作成・使用</a:t>
            </a:r>
            <a:br>
              <a:rPr lang="en-US" altLang="ja-JP" sz="2000">
                <a:latin typeface="+mn-lt"/>
                <a:ea typeface="+mn-ea"/>
              </a:rPr>
            </a:br>
            <a:r>
              <a:rPr lang="ja-JP" altLang="en-US" sz="2000">
                <a:latin typeface="+mn-lt"/>
                <a:ea typeface="+mn-ea"/>
              </a:rPr>
              <a:t>→</a:t>
            </a:r>
            <a:r>
              <a:rPr kumimoji="1" lang="ja-JP" altLang="en-US" sz="2400" b="1" baseline="0">
                <a:solidFill>
                  <a:srgbClr val="FF0000"/>
                </a:solidFill>
                <a:latin typeface="+mn-lt"/>
                <a:ea typeface="+mn-ea"/>
              </a:rPr>
              <a:t>利便性を向上</a:t>
            </a:r>
            <a:endParaRPr kumimoji="1" lang="ja-JP" altLang="en-US" sz="2400" b="1" baseline="0">
              <a:latin typeface="+mn-lt"/>
              <a:ea typeface="+mn-ea"/>
            </a:endParaRPr>
          </a:p>
          <a:p>
            <a:pPr marL="342900" indent="-342900" algn="l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kumimoji="1" lang="ja-JP" altLang="en-US" sz="2000" baseline="0">
                <a:latin typeface="+mn-lt"/>
                <a:ea typeface="+mn-ea"/>
              </a:rPr>
              <a:t>検査対象を複数回撮影</a:t>
            </a:r>
            <a:br>
              <a:rPr lang="en-US" altLang="ja-JP" sz="2000">
                <a:latin typeface="+mn-lt"/>
                <a:ea typeface="+mn-ea"/>
              </a:rPr>
            </a:br>
            <a:r>
              <a:rPr lang="ja-JP" altLang="en-US" sz="2000">
                <a:latin typeface="+mn-lt"/>
                <a:ea typeface="+mn-ea"/>
              </a:rPr>
              <a:t>→</a:t>
            </a:r>
            <a:r>
              <a:rPr kumimoji="1" lang="ja-JP" altLang="en-US" sz="2400" b="1" baseline="0">
                <a:solidFill>
                  <a:srgbClr val="FF0000"/>
                </a:solidFill>
                <a:latin typeface="+mn-lt"/>
                <a:ea typeface="+mn-ea"/>
              </a:rPr>
              <a:t>判別精度を上げる</a:t>
            </a:r>
            <a:r>
              <a:rPr kumimoji="1" lang="ja-JP" altLang="en-US" sz="2000" baseline="0">
                <a:latin typeface="+mn-lt"/>
                <a:ea typeface="+mn-ea"/>
              </a:rPr>
              <a:t>とともに，</a:t>
            </a:r>
            <a:r>
              <a:rPr kumimoji="1" lang="ja-JP" altLang="en-US" sz="2400" b="1" baseline="0">
                <a:solidFill>
                  <a:srgbClr val="FF0000"/>
                </a:solidFill>
                <a:latin typeface="+mn-lt"/>
                <a:ea typeface="+mn-ea"/>
              </a:rPr>
              <a:t>暗箱のサイズを小さく</a:t>
            </a:r>
            <a:r>
              <a:rPr kumimoji="1" lang="ja-JP" altLang="en-US" sz="2000" baseline="0">
                <a:latin typeface="+mn-lt"/>
                <a:ea typeface="+mn-ea"/>
              </a:rPr>
              <a:t>している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CBF3A9-28DC-E978-32C4-36E849A7B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488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08642E-6 L 0.13316 -3.08642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16 -3.08642E-6 L 0.26267 -3.08642E-6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0"/>
                            </p:stCondLst>
                            <p:childTnLst>
                              <p:par>
                                <p:cTn id="58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0"/>
                            </p:stCondLst>
                            <p:childTnLst>
                              <p:par>
                                <p:cTn id="66" presetID="22" presetClass="exit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67 -3.08642E-6 L 0.41354 -3.08642E-6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0"/>
                            </p:stCondLst>
                            <p:childTnLst>
                              <p:par>
                                <p:cTn id="81" presetID="22" presetClass="exit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354 -3.08642E-6 L 0.5618 -3.08642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354 -3.08642E-6 L 8.33333E-7 4.19753E-6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94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30" grpId="0" animBg="1"/>
      <p:bldP spid="31" grpId="0" animBg="1"/>
      <p:bldP spid="32" grpId="0" animBg="1"/>
      <p:bldP spid="49" grpId="0"/>
      <p:bldP spid="49" grpId="1"/>
      <p:bldP spid="9" grpId="0"/>
      <p:bldP spid="3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AE798-35A0-5BF8-B6F1-7C7F2713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8893CC1-F8FC-6C6D-3351-B7A10279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ハードの紹介</a:t>
            </a:r>
            <a:endParaRPr kumimoji="1" lang="ja-JP" altLang="en-US"/>
          </a:p>
        </p:txBody>
      </p:sp>
      <p:pic>
        <p:nvPicPr>
          <p:cNvPr id="44" name="図 43" descr="テーブル が含まれている画像&#10;&#10;自動的に生成された説明">
            <a:extLst>
              <a:ext uri="{FF2B5EF4-FFF2-40B4-BE49-F238E27FC236}">
                <a16:creationId xmlns:a16="http://schemas.microsoft.com/office/drawing/2014/main" id="{071693D4-708C-A5F0-88C6-79B1893CF3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8913" y="1312411"/>
            <a:ext cx="3737176" cy="3110381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3B1D261-6068-E5B8-D411-D623F0255750}"/>
              </a:ext>
            </a:extLst>
          </p:cNvPr>
          <p:cNvSpPr txBox="1"/>
          <p:nvPr/>
        </p:nvSpPr>
        <p:spPr>
          <a:xfrm>
            <a:off x="261152" y="1378091"/>
            <a:ext cx="2304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latin typeface="+mn-lt"/>
                <a:ea typeface="+mn-ea"/>
              </a:rPr>
              <a:t>暗箱の作成</a:t>
            </a:r>
            <a:endParaRPr kumimoji="1" lang="ja-JP" altLang="en-US" sz="2000" b="1" baseline="0">
              <a:latin typeface="+mn-lt"/>
              <a:ea typeface="+mn-ea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F21C94CB-F074-E2DC-B176-9BCC7829A95E}"/>
              </a:ext>
            </a:extLst>
          </p:cNvPr>
          <p:cNvSpPr txBox="1"/>
          <p:nvPr/>
        </p:nvSpPr>
        <p:spPr>
          <a:xfrm>
            <a:off x="265219" y="1068641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latin typeface="+mn-lt"/>
                <a:ea typeface="+mn-ea"/>
              </a:rPr>
              <a:t>タスク</a:t>
            </a:r>
            <a:r>
              <a:rPr lang="en-US" altLang="ja-JP" sz="1400" b="1">
                <a:latin typeface="+mn-lt"/>
                <a:ea typeface="+mn-ea"/>
              </a:rPr>
              <a:t>1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9A59F83-AD6E-93C6-A89A-204408D940E8}"/>
              </a:ext>
            </a:extLst>
          </p:cNvPr>
          <p:cNvSpPr txBox="1"/>
          <p:nvPr/>
        </p:nvSpPr>
        <p:spPr>
          <a:xfrm>
            <a:off x="261152" y="4086369"/>
            <a:ext cx="2304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コンベア部分の作成</a:t>
            </a:r>
            <a:endParaRPr kumimoji="1" lang="ja-JP" altLang="en-US" sz="20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F8A2322-01DD-3D02-0D75-72A1C745F726}"/>
              </a:ext>
            </a:extLst>
          </p:cNvPr>
          <p:cNvSpPr txBox="1"/>
          <p:nvPr/>
        </p:nvSpPr>
        <p:spPr>
          <a:xfrm>
            <a:off x="261152" y="2609456"/>
            <a:ext cx="2304000" cy="70788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アルミフレームでの</a:t>
            </a:r>
            <a:endParaRPr lang="en-US" altLang="ja-JP" sz="2000" b="1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外枠作成</a:t>
            </a:r>
            <a:endParaRPr kumimoji="1" lang="ja-JP" altLang="en-US" sz="20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6470BBEF-1A35-D5AF-B07B-25752BFD990D}"/>
              </a:ext>
            </a:extLst>
          </p:cNvPr>
          <p:cNvSpPr txBox="1"/>
          <p:nvPr/>
        </p:nvSpPr>
        <p:spPr>
          <a:xfrm>
            <a:off x="265219" y="2293478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タスク</a:t>
            </a:r>
            <a:r>
              <a:rPr lang="en-US" altLang="ja-JP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2</a:t>
            </a:r>
            <a:endParaRPr kumimoji="1" lang="ja-JP" altLang="en-US" sz="14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B0A7B8A-5B89-3A02-1C72-B3031A54885A}"/>
              </a:ext>
            </a:extLst>
          </p:cNvPr>
          <p:cNvSpPr txBox="1"/>
          <p:nvPr/>
        </p:nvSpPr>
        <p:spPr>
          <a:xfrm>
            <a:off x="265219" y="3778592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タスク</a:t>
            </a:r>
            <a:r>
              <a:rPr lang="en-US" altLang="ja-JP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3</a:t>
            </a:r>
            <a:endParaRPr kumimoji="1" lang="ja-JP" altLang="en-US" sz="14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04343A44-B199-D399-B7A0-7F3C193DCE0A}"/>
              </a:ext>
            </a:extLst>
          </p:cNvPr>
          <p:cNvSpPr txBox="1"/>
          <p:nvPr/>
        </p:nvSpPr>
        <p:spPr>
          <a:xfrm>
            <a:off x="3093444" y="1410456"/>
            <a:ext cx="2142822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採寸を</a:t>
            </a:r>
            <a:r>
              <a:rPr kumimoji="1" lang="ja-JP" altLang="en-US" sz="1600" b="1" baseline="0">
                <a:solidFill>
                  <a:srgbClr val="F96B06"/>
                </a:solidFill>
                <a:latin typeface="+mn-lt"/>
                <a:ea typeface="+mn-ea"/>
              </a:rPr>
              <a:t>設計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A406413-5F6D-EA77-640B-28D9DA046AB1}"/>
              </a:ext>
            </a:extLst>
          </p:cNvPr>
          <p:cNvSpPr txBox="1"/>
          <p:nvPr/>
        </p:nvSpPr>
        <p:spPr>
          <a:xfrm>
            <a:off x="3095650" y="2124201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プラダンで試作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6D8055F-0192-B045-D41C-B326C0F25B3A}"/>
              </a:ext>
            </a:extLst>
          </p:cNvPr>
          <p:cNvSpPr txBox="1"/>
          <p:nvPr/>
        </p:nvSpPr>
        <p:spPr>
          <a:xfrm>
            <a:off x="3093444" y="2752386"/>
            <a:ext cx="2027196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レーザー加工機で加工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51F46B3E-992B-7B3D-4E86-93633577D05B}"/>
              </a:ext>
            </a:extLst>
          </p:cNvPr>
          <p:cNvSpPr txBox="1"/>
          <p:nvPr/>
        </p:nvSpPr>
        <p:spPr>
          <a:xfrm>
            <a:off x="3095650" y="3535011"/>
            <a:ext cx="174797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9FE6555-A731-B8C7-B013-F1D83607FFB4}"/>
              </a:ext>
            </a:extLst>
          </p:cNvPr>
          <p:cNvSpPr txBox="1"/>
          <p:nvPr/>
        </p:nvSpPr>
        <p:spPr>
          <a:xfrm>
            <a:off x="3095650" y="4263066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配線や光源の取り付け</a:t>
            </a:r>
          </a:p>
        </p:txBody>
      </p: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6A418FA8-AA15-A06F-7BB3-DCE28CB980BF}"/>
              </a:ext>
            </a:extLst>
          </p:cNvPr>
          <p:cNvCxnSpPr>
            <a:cxnSpLocks/>
            <a:stCxn id="60" idx="3"/>
            <a:endCxn id="66" idx="1"/>
          </p:cNvCxnSpPr>
          <p:nvPr/>
        </p:nvCxnSpPr>
        <p:spPr>
          <a:xfrm>
            <a:off x="2565152" y="1578146"/>
            <a:ext cx="528292" cy="158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3BA26FAF-5C0F-B1E3-09CA-60C0C4F521F9}"/>
              </a:ext>
            </a:extLst>
          </p:cNvPr>
          <p:cNvCxnSpPr>
            <a:cxnSpLocks/>
            <a:stCxn id="60" idx="3"/>
            <a:endCxn id="67" idx="1"/>
          </p:cNvCxnSpPr>
          <p:nvPr/>
        </p:nvCxnSpPr>
        <p:spPr>
          <a:xfrm>
            <a:off x="2565152" y="1578146"/>
            <a:ext cx="530498" cy="71533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BCA79AD7-F2B4-2289-FDD5-77C3D9EDF319}"/>
              </a:ext>
            </a:extLst>
          </p:cNvPr>
          <p:cNvCxnSpPr>
            <a:cxnSpLocks/>
            <a:stCxn id="60" idx="3"/>
            <a:endCxn id="68" idx="1"/>
          </p:cNvCxnSpPr>
          <p:nvPr/>
        </p:nvCxnSpPr>
        <p:spPr>
          <a:xfrm>
            <a:off x="2565152" y="1578146"/>
            <a:ext cx="528292" cy="134351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コネクタ: カギ線 80">
            <a:extLst>
              <a:ext uri="{FF2B5EF4-FFF2-40B4-BE49-F238E27FC236}">
                <a16:creationId xmlns:a16="http://schemas.microsoft.com/office/drawing/2014/main" id="{5C089FCE-8C18-B44E-201C-F33EDCB2122E}"/>
              </a:ext>
            </a:extLst>
          </p:cNvPr>
          <p:cNvCxnSpPr>
            <a:cxnSpLocks/>
            <a:stCxn id="60" idx="3"/>
            <a:endCxn id="69" idx="1"/>
          </p:cNvCxnSpPr>
          <p:nvPr/>
        </p:nvCxnSpPr>
        <p:spPr>
          <a:xfrm>
            <a:off x="2565152" y="1578146"/>
            <a:ext cx="530498" cy="212614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58FC860-93AC-1E20-47F5-22693903FB2F}"/>
              </a:ext>
            </a:extLst>
          </p:cNvPr>
          <p:cNvCxnSpPr>
            <a:cxnSpLocks/>
            <a:stCxn id="60" idx="3"/>
            <a:endCxn id="70" idx="1"/>
          </p:cNvCxnSpPr>
          <p:nvPr/>
        </p:nvCxnSpPr>
        <p:spPr>
          <a:xfrm>
            <a:off x="2565152" y="1578146"/>
            <a:ext cx="530498" cy="285419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813E014-18F8-2D06-9269-5EA251C79856}"/>
              </a:ext>
            </a:extLst>
          </p:cNvPr>
          <p:cNvSpPr/>
          <p:nvPr/>
        </p:nvSpPr>
        <p:spPr>
          <a:xfrm>
            <a:off x="5478913" y="4263066"/>
            <a:ext cx="3665087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DF8233-AAE5-0F3E-BDE8-CFC2E1991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3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973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2E8C5-AB72-3C45-C822-BB38D241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BEBF063-347B-A193-38F7-2225074A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ハードの紹介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21B1A1-C35F-AB23-E007-71710F4E2FAE}"/>
              </a:ext>
            </a:extLst>
          </p:cNvPr>
          <p:cNvSpPr txBox="1"/>
          <p:nvPr/>
        </p:nvSpPr>
        <p:spPr>
          <a:xfrm>
            <a:off x="3093444" y="1285758"/>
            <a:ext cx="2142822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暗箱と合体できるようにサイズを</a:t>
            </a:r>
            <a:r>
              <a:rPr lang="ja-JP" altLang="en-US" sz="1600" b="1">
                <a:solidFill>
                  <a:srgbClr val="F96B06"/>
                </a:solidFill>
                <a:latin typeface="+mn-lt"/>
                <a:ea typeface="+mn-ea"/>
              </a:rPr>
              <a:t>設計</a:t>
            </a:r>
            <a:endParaRPr kumimoji="1" lang="ja-JP" altLang="en-US" sz="1600" b="1" baseline="0">
              <a:solidFill>
                <a:srgbClr val="F96B06"/>
              </a:solidFill>
              <a:latin typeface="+mn-lt"/>
              <a:ea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0F40B6-1FEB-1796-0ABC-A6A39FCCAA99}"/>
              </a:ext>
            </a:extLst>
          </p:cNvPr>
          <p:cNvSpPr txBox="1"/>
          <p:nvPr/>
        </p:nvSpPr>
        <p:spPr>
          <a:xfrm>
            <a:off x="3114882" y="2211177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アルミフレームの切り出し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9208AF0-9951-D343-E701-90476774D888}"/>
              </a:ext>
            </a:extLst>
          </p:cNvPr>
          <p:cNvSpPr txBox="1"/>
          <p:nvPr/>
        </p:nvSpPr>
        <p:spPr>
          <a:xfrm>
            <a:off x="3093444" y="2793546"/>
            <a:ext cx="1318139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9D79ED1-00A7-E535-AE3E-3BDD01F9CCD8}"/>
              </a:ext>
            </a:extLst>
          </p:cNvPr>
          <p:cNvSpPr txBox="1"/>
          <p:nvPr/>
        </p:nvSpPr>
        <p:spPr>
          <a:xfrm>
            <a:off x="3095650" y="3458067"/>
            <a:ext cx="1747971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全体の補強パーツ作成・組み立て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F72255C-BBB7-3F1D-4511-E80DFC9B2547}"/>
              </a:ext>
            </a:extLst>
          </p:cNvPr>
          <p:cNvSpPr txBox="1"/>
          <p:nvPr/>
        </p:nvSpPr>
        <p:spPr>
          <a:xfrm>
            <a:off x="3095650" y="4317202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>
                <a:latin typeface="+mn-lt"/>
                <a:ea typeface="+mn-ea"/>
              </a:rPr>
              <a:t>3D</a:t>
            </a:r>
            <a:r>
              <a:rPr lang="ja-JP" altLang="en-US" sz="1600">
                <a:latin typeface="+mn-lt"/>
                <a:ea typeface="+mn-ea"/>
              </a:rPr>
              <a:t>プリンターパーツ作成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622C2EDA-A6C4-BFDE-16B4-A9B7DE518178}"/>
              </a:ext>
            </a:extLst>
          </p:cNvPr>
          <p:cNvSpPr txBox="1"/>
          <p:nvPr/>
        </p:nvSpPr>
        <p:spPr>
          <a:xfrm>
            <a:off x="261152" y="1378091"/>
            <a:ext cx="2304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暗箱の作成</a:t>
            </a:r>
            <a:endParaRPr kumimoji="1" lang="ja-JP" altLang="en-US" sz="20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594B2CE-6591-4067-D398-E640C9F12272}"/>
              </a:ext>
            </a:extLst>
          </p:cNvPr>
          <p:cNvSpPr txBox="1"/>
          <p:nvPr/>
        </p:nvSpPr>
        <p:spPr>
          <a:xfrm>
            <a:off x="265219" y="1068641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タスク</a:t>
            </a:r>
            <a:r>
              <a:rPr lang="en-US" altLang="ja-JP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1</a:t>
            </a:r>
            <a:endParaRPr kumimoji="1" lang="ja-JP" altLang="en-US" sz="14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8B3F1C63-8ED9-2D04-91A2-CCD7EC1F6BFD}"/>
              </a:ext>
            </a:extLst>
          </p:cNvPr>
          <p:cNvSpPr txBox="1"/>
          <p:nvPr/>
        </p:nvSpPr>
        <p:spPr>
          <a:xfrm>
            <a:off x="261152" y="4086369"/>
            <a:ext cx="2304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コンベア部分の作成</a:t>
            </a:r>
            <a:endParaRPr kumimoji="1" lang="ja-JP" altLang="en-US" sz="20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B23CC5D2-A39C-80CC-3E62-265F7664D40D}"/>
              </a:ext>
            </a:extLst>
          </p:cNvPr>
          <p:cNvSpPr txBox="1"/>
          <p:nvPr/>
        </p:nvSpPr>
        <p:spPr>
          <a:xfrm>
            <a:off x="261152" y="2609456"/>
            <a:ext cx="2304000" cy="70788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latin typeface="+mn-lt"/>
                <a:ea typeface="+mn-ea"/>
              </a:rPr>
              <a:t>アルミフレームでの</a:t>
            </a:r>
            <a:endParaRPr lang="en-US" altLang="ja-JP" sz="2000" b="1">
              <a:latin typeface="+mn-lt"/>
              <a:ea typeface="+mn-ea"/>
            </a:endParaRPr>
          </a:p>
          <a:p>
            <a:pPr algn="ctr"/>
            <a:r>
              <a:rPr lang="ja-JP" altLang="en-US" sz="2000" b="1">
                <a:latin typeface="+mn-lt"/>
                <a:ea typeface="+mn-ea"/>
              </a:rPr>
              <a:t>外枠作成</a:t>
            </a:r>
            <a:endParaRPr kumimoji="1" lang="ja-JP" altLang="en-US" sz="2000" b="1" baseline="0">
              <a:latin typeface="+mn-lt"/>
              <a:ea typeface="+mn-ea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788228FB-AF1D-F94C-975D-156419E41DC6}"/>
              </a:ext>
            </a:extLst>
          </p:cNvPr>
          <p:cNvSpPr txBox="1"/>
          <p:nvPr/>
        </p:nvSpPr>
        <p:spPr>
          <a:xfrm>
            <a:off x="265219" y="2293478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latin typeface="+mn-lt"/>
                <a:ea typeface="+mn-ea"/>
              </a:rPr>
              <a:t>タスク</a:t>
            </a:r>
            <a:r>
              <a:rPr lang="en-US" altLang="ja-JP" sz="1400" b="1">
                <a:latin typeface="+mn-lt"/>
                <a:ea typeface="+mn-ea"/>
              </a:rPr>
              <a:t>2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FB6BD2B5-9385-866B-9E06-D39FB693ECD5}"/>
              </a:ext>
            </a:extLst>
          </p:cNvPr>
          <p:cNvSpPr txBox="1"/>
          <p:nvPr/>
        </p:nvSpPr>
        <p:spPr>
          <a:xfrm>
            <a:off x="265219" y="3778592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タスク</a:t>
            </a:r>
            <a:r>
              <a:rPr lang="en-US" altLang="ja-JP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3</a:t>
            </a:r>
            <a:endParaRPr kumimoji="1" lang="ja-JP" altLang="en-US" sz="14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C4F420CD-8438-BEBA-DD62-7E2651E39FC9}"/>
              </a:ext>
            </a:extLst>
          </p:cNvPr>
          <p:cNvCxnSpPr>
            <a:cxnSpLocks/>
            <a:stCxn id="8" idx="1"/>
            <a:endCxn id="72" idx="3"/>
          </p:cNvCxnSpPr>
          <p:nvPr/>
        </p:nvCxnSpPr>
        <p:spPr>
          <a:xfrm rot="10800000" flipV="1">
            <a:off x="2565152" y="2380453"/>
            <a:ext cx="549730" cy="582945"/>
          </a:xfrm>
          <a:prstGeom prst="bentConnector3">
            <a:avLst>
              <a:gd name="adj1" fmla="val 5173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24A16F77-6C75-68DB-70EC-5819DA57FE63}"/>
              </a:ext>
            </a:extLst>
          </p:cNvPr>
          <p:cNvCxnSpPr>
            <a:cxnSpLocks/>
            <a:stCxn id="7" idx="1"/>
            <a:endCxn id="72" idx="3"/>
          </p:cNvCxnSpPr>
          <p:nvPr/>
        </p:nvCxnSpPr>
        <p:spPr>
          <a:xfrm rot="10800000" flipV="1">
            <a:off x="2565152" y="1578145"/>
            <a:ext cx="528292" cy="138525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コネクタ: カギ線 93">
            <a:extLst>
              <a:ext uri="{FF2B5EF4-FFF2-40B4-BE49-F238E27FC236}">
                <a16:creationId xmlns:a16="http://schemas.microsoft.com/office/drawing/2014/main" id="{22AB8E2B-87BA-B814-85DB-99EFA9CD06A8}"/>
              </a:ext>
            </a:extLst>
          </p:cNvPr>
          <p:cNvCxnSpPr>
            <a:cxnSpLocks/>
            <a:stCxn id="15" idx="1"/>
            <a:endCxn id="72" idx="3"/>
          </p:cNvCxnSpPr>
          <p:nvPr/>
        </p:nvCxnSpPr>
        <p:spPr>
          <a:xfrm rot="10800000" flipV="1">
            <a:off x="2565152" y="2962823"/>
            <a:ext cx="528292" cy="57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コネクタ: カギ線 96">
            <a:extLst>
              <a:ext uri="{FF2B5EF4-FFF2-40B4-BE49-F238E27FC236}">
                <a16:creationId xmlns:a16="http://schemas.microsoft.com/office/drawing/2014/main" id="{0E3E2AD3-F198-ABF5-76BE-A57C0E1BB6E2}"/>
              </a:ext>
            </a:extLst>
          </p:cNvPr>
          <p:cNvCxnSpPr>
            <a:cxnSpLocks/>
            <a:stCxn id="16" idx="1"/>
            <a:endCxn id="72" idx="3"/>
          </p:cNvCxnSpPr>
          <p:nvPr/>
        </p:nvCxnSpPr>
        <p:spPr>
          <a:xfrm rot="10800000">
            <a:off x="2565152" y="2963399"/>
            <a:ext cx="530498" cy="78705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コネクタ: カギ線 99">
            <a:extLst>
              <a:ext uri="{FF2B5EF4-FFF2-40B4-BE49-F238E27FC236}">
                <a16:creationId xmlns:a16="http://schemas.microsoft.com/office/drawing/2014/main" id="{120F91E8-A098-F881-B13D-CB76AE5A96B6}"/>
              </a:ext>
            </a:extLst>
          </p:cNvPr>
          <p:cNvCxnSpPr>
            <a:cxnSpLocks/>
            <a:stCxn id="17" idx="1"/>
            <a:endCxn id="72" idx="3"/>
          </p:cNvCxnSpPr>
          <p:nvPr/>
        </p:nvCxnSpPr>
        <p:spPr>
          <a:xfrm rot="10800000">
            <a:off x="2565152" y="2963399"/>
            <a:ext cx="530498" cy="15230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図 103" descr="ダイアグラム, 設計図&#10;&#10;自動的に生成された説明">
            <a:extLst>
              <a:ext uri="{FF2B5EF4-FFF2-40B4-BE49-F238E27FC236}">
                <a16:creationId xmlns:a16="http://schemas.microsoft.com/office/drawing/2014/main" id="{EA96761D-EB88-570F-4A7F-6572DB5ECD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1621" y="1312411"/>
            <a:ext cx="3737176" cy="3110380"/>
          </a:xfrm>
          <a:prstGeom prst="rect">
            <a:avLst/>
          </a:prstGeom>
        </p:spPr>
      </p:pic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57F76978-E53C-108E-4C5B-EE27BA348E5A}"/>
              </a:ext>
            </a:extLst>
          </p:cNvPr>
          <p:cNvSpPr/>
          <p:nvPr/>
        </p:nvSpPr>
        <p:spPr>
          <a:xfrm>
            <a:off x="5478913" y="4410091"/>
            <a:ext cx="3665087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06B8F2-F82A-8965-4E51-AF15D4689C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4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2252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CFE81-4E49-7CD3-9660-24A392703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AF2AF07-CBA6-AA2D-CC1A-7B27A2B9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ハードの紹介</a:t>
            </a:r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B5D7399-9EEA-3DBE-F572-B14F647B4F43}"/>
              </a:ext>
            </a:extLst>
          </p:cNvPr>
          <p:cNvSpPr txBox="1"/>
          <p:nvPr/>
        </p:nvSpPr>
        <p:spPr>
          <a:xfrm>
            <a:off x="261152" y="1378091"/>
            <a:ext cx="2304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暗箱の作成</a:t>
            </a:r>
            <a:endParaRPr kumimoji="1" lang="ja-JP" altLang="en-US" sz="20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658078A-4A70-AF5C-445D-8B00E4787B06}"/>
              </a:ext>
            </a:extLst>
          </p:cNvPr>
          <p:cNvSpPr txBox="1"/>
          <p:nvPr/>
        </p:nvSpPr>
        <p:spPr>
          <a:xfrm>
            <a:off x="265219" y="1068641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タスク</a:t>
            </a:r>
            <a:r>
              <a:rPr lang="en-US" altLang="ja-JP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1</a:t>
            </a:r>
            <a:endParaRPr kumimoji="1" lang="ja-JP" altLang="en-US" sz="14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ADA572B-E62D-C6EF-F96C-18A88181829E}"/>
              </a:ext>
            </a:extLst>
          </p:cNvPr>
          <p:cNvSpPr txBox="1"/>
          <p:nvPr/>
        </p:nvSpPr>
        <p:spPr>
          <a:xfrm>
            <a:off x="261152" y="4086369"/>
            <a:ext cx="2304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latin typeface="+mn-lt"/>
                <a:ea typeface="+mn-ea"/>
              </a:rPr>
              <a:t>コンベア部分の作成</a:t>
            </a:r>
            <a:endParaRPr kumimoji="1" lang="ja-JP" altLang="en-US" sz="2000" b="1" baseline="0">
              <a:latin typeface="+mn-lt"/>
              <a:ea typeface="+mn-ea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17C3999-B28E-50F7-E34D-44122D378B3B}"/>
              </a:ext>
            </a:extLst>
          </p:cNvPr>
          <p:cNvSpPr txBox="1"/>
          <p:nvPr/>
        </p:nvSpPr>
        <p:spPr>
          <a:xfrm>
            <a:off x="261152" y="2609456"/>
            <a:ext cx="2304000" cy="70788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アルミフレームでの</a:t>
            </a:r>
            <a:endParaRPr lang="en-US" altLang="ja-JP" sz="2000" b="1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  <a:p>
            <a:pPr algn="ctr"/>
            <a:r>
              <a:rPr lang="ja-JP" altLang="en-US" sz="20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外枠作成</a:t>
            </a:r>
            <a:endParaRPr kumimoji="1" lang="ja-JP" altLang="en-US" sz="20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5B0A6ED-C367-3A2A-5F99-F4B69063D1B1}"/>
              </a:ext>
            </a:extLst>
          </p:cNvPr>
          <p:cNvSpPr txBox="1"/>
          <p:nvPr/>
        </p:nvSpPr>
        <p:spPr>
          <a:xfrm>
            <a:off x="265219" y="2293478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タスク</a:t>
            </a:r>
            <a:r>
              <a:rPr lang="en-US" altLang="ja-JP" sz="1400" b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2</a:t>
            </a:r>
            <a:endParaRPr kumimoji="1" lang="ja-JP" altLang="en-US" sz="1400" b="1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B5A1A36-2187-D12C-397D-0805D051C9CD}"/>
              </a:ext>
            </a:extLst>
          </p:cNvPr>
          <p:cNvSpPr txBox="1"/>
          <p:nvPr/>
        </p:nvSpPr>
        <p:spPr>
          <a:xfrm>
            <a:off x="265219" y="3778592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latin typeface="+mn-lt"/>
                <a:ea typeface="+mn-ea"/>
              </a:rPr>
              <a:t>タスク</a:t>
            </a:r>
            <a:r>
              <a:rPr lang="en-US" altLang="ja-JP" sz="1400" b="1">
                <a:latin typeface="+mn-lt"/>
                <a:ea typeface="+mn-ea"/>
              </a:rPr>
              <a:t>3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DE7CD44-AF68-B3E7-9F5B-6189861C58FA}"/>
              </a:ext>
            </a:extLst>
          </p:cNvPr>
          <p:cNvSpPr txBox="1"/>
          <p:nvPr/>
        </p:nvSpPr>
        <p:spPr>
          <a:xfrm>
            <a:off x="3093444" y="1408869"/>
            <a:ext cx="2142822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>
                <a:latin typeface="+mn-lt"/>
                <a:ea typeface="+mn-ea"/>
              </a:rPr>
              <a:t>LEGO</a:t>
            </a:r>
            <a:r>
              <a:rPr lang="ja-JP" altLang="en-US" sz="1600">
                <a:latin typeface="+mn-lt"/>
                <a:ea typeface="+mn-ea"/>
              </a:rPr>
              <a:t>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897C869-E43A-A5CC-D6FA-3DEC07FCE313}"/>
              </a:ext>
            </a:extLst>
          </p:cNvPr>
          <p:cNvSpPr txBox="1"/>
          <p:nvPr/>
        </p:nvSpPr>
        <p:spPr>
          <a:xfrm>
            <a:off x="3114882" y="2303933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ブラケットパーツの加工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CFC6920-5DCE-9447-04D7-BAE5C294075F}"/>
              </a:ext>
            </a:extLst>
          </p:cNvPr>
          <p:cNvSpPr txBox="1"/>
          <p:nvPr/>
        </p:nvSpPr>
        <p:spPr>
          <a:xfrm>
            <a:off x="3093444" y="3226366"/>
            <a:ext cx="2008655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モータ・ブラケットと接続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61E7294-0CF0-896A-E59D-D6811FE31AFD}"/>
              </a:ext>
            </a:extLst>
          </p:cNvPr>
          <p:cNvSpPr txBox="1"/>
          <p:nvPr/>
        </p:nvSpPr>
        <p:spPr>
          <a:xfrm>
            <a:off x="3093444" y="4116585"/>
            <a:ext cx="174797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="1" baseline="0">
                <a:solidFill>
                  <a:srgbClr val="F96B06"/>
                </a:solidFill>
                <a:latin typeface="+mn-lt"/>
                <a:ea typeface="+mn-ea"/>
              </a:rPr>
              <a:t>モータ制御</a:t>
            </a:r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4A0D9174-6DD5-09E5-B514-4B2A592A6197}"/>
              </a:ext>
            </a:extLst>
          </p:cNvPr>
          <p:cNvCxnSpPr>
            <a:cxnSpLocks/>
            <a:stCxn id="39" idx="3"/>
            <a:endCxn id="55" idx="1"/>
          </p:cNvCxnSpPr>
          <p:nvPr/>
        </p:nvCxnSpPr>
        <p:spPr>
          <a:xfrm flipV="1">
            <a:off x="2565152" y="1578146"/>
            <a:ext cx="528292" cy="27082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コネクタ: カギ線 62">
            <a:extLst>
              <a:ext uri="{FF2B5EF4-FFF2-40B4-BE49-F238E27FC236}">
                <a16:creationId xmlns:a16="http://schemas.microsoft.com/office/drawing/2014/main" id="{ED5D0272-1AF6-8D06-305E-67B30A11A4C3}"/>
              </a:ext>
            </a:extLst>
          </p:cNvPr>
          <p:cNvCxnSpPr>
            <a:cxnSpLocks/>
            <a:stCxn id="39" idx="3"/>
            <a:endCxn id="56" idx="1"/>
          </p:cNvCxnSpPr>
          <p:nvPr/>
        </p:nvCxnSpPr>
        <p:spPr>
          <a:xfrm flipV="1">
            <a:off x="2565152" y="2473210"/>
            <a:ext cx="549730" cy="1813214"/>
          </a:xfrm>
          <a:prstGeom prst="bentConnector3">
            <a:avLst>
              <a:gd name="adj1" fmla="val 4797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60555C6C-A319-280D-668D-6CA265CEF5E2}"/>
              </a:ext>
            </a:extLst>
          </p:cNvPr>
          <p:cNvCxnSpPr>
            <a:cxnSpLocks/>
            <a:stCxn id="39" idx="3"/>
            <a:endCxn id="57" idx="1"/>
          </p:cNvCxnSpPr>
          <p:nvPr/>
        </p:nvCxnSpPr>
        <p:spPr>
          <a:xfrm flipV="1">
            <a:off x="2565152" y="3395643"/>
            <a:ext cx="528292" cy="89078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D680D9E8-A5D9-154D-0855-991983EDD17A}"/>
              </a:ext>
            </a:extLst>
          </p:cNvPr>
          <p:cNvCxnSpPr>
            <a:cxnSpLocks/>
            <a:stCxn id="39" idx="3"/>
            <a:endCxn id="58" idx="1"/>
          </p:cNvCxnSpPr>
          <p:nvPr/>
        </p:nvCxnSpPr>
        <p:spPr>
          <a:xfrm flipV="1">
            <a:off x="2565152" y="4285862"/>
            <a:ext cx="528292" cy="5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図 80" descr="ダイアグラム, 設計図&#10;&#10;自動的に生成された説明">
            <a:extLst>
              <a:ext uri="{FF2B5EF4-FFF2-40B4-BE49-F238E27FC236}">
                <a16:creationId xmlns:a16="http://schemas.microsoft.com/office/drawing/2014/main" id="{04EC02F1-1B5D-A6D0-0EC4-FB715BC02A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6561" y="1312411"/>
            <a:ext cx="3736343" cy="3110380"/>
          </a:xfrm>
          <a:prstGeom prst="rect">
            <a:avLst/>
          </a:prstGeom>
        </p:spPr>
      </p:pic>
      <p:pic>
        <p:nvPicPr>
          <p:cNvPr id="83" name="図 82" descr="ダイアグラム, 設計図&#10;&#10;自動的に生成された説明">
            <a:extLst>
              <a:ext uri="{FF2B5EF4-FFF2-40B4-BE49-F238E27FC236}">
                <a16:creationId xmlns:a16="http://schemas.microsoft.com/office/drawing/2014/main" id="{F7FECC1C-C67D-58AA-5856-2598406B69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7999" y="1212326"/>
            <a:ext cx="3810000" cy="3210465"/>
          </a:xfrm>
          <a:prstGeom prst="rect">
            <a:avLst/>
          </a:prstGeom>
        </p:spPr>
      </p:pic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4A3870C1-3F9B-3A96-24F6-306760EAC24F}"/>
              </a:ext>
            </a:extLst>
          </p:cNvPr>
          <p:cNvSpPr/>
          <p:nvPr/>
        </p:nvSpPr>
        <p:spPr>
          <a:xfrm>
            <a:off x="5478913" y="4410091"/>
            <a:ext cx="3665087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8B4CDB3-8D34-3506-18C6-66B01553FE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5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581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42C3D-6FB7-6F70-FE75-4609F368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2F3D52B-1745-0BAA-CDF5-725E7FD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モーター制御</a:t>
            </a:r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E92CF1-67D2-F404-E1F9-D32ABD37BE93}"/>
              </a:ext>
            </a:extLst>
          </p:cNvPr>
          <p:cNvSpPr/>
          <p:nvPr/>
        </p:nvSpPr>
        <p:spPr>
          <a:xfrm>
            <a:off x="263501" y="825056"/>
            <a:ext cx="2001079" cy="471783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bg1"/>
                </a:solidFill>
              </a:rPr>
              <a:t>動作要件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DDD379-5291-195A-DB35-0954A6CC4FA7}"/>
              </a:ext>
            </a:extLst>
          </p:cNvPr>
          <p:cNvSpPr txBox="1"/>
          <p:nvPr/>
        </p:nvSpPr>
        <p:spPr>
          <a:xfrm>
            <a:off x="263501" y="1444361"/>
            <a:ext cx="367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■検査状態に応じて回転方法を変更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DAA258-7B4A-3B90-DECE-715D8FA6775B}"/>
              </a:ext>
            </a:extLst>
          </p:cNvPr>
          <p:cNvSpPr txBox="1"/>
          <p:nvPr/>
        </p:nvSpPr>
        <p:spPr>
          <a:xfrm>
            <a:off x="425147" y="1822269"/>
            <a:ext cx="3126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aseline="0">
                <a:latin typeface="+mn-lt"/>
                <a:ea typeface="+mn-ea"/>
              </a:rPr>
              <a:t>〇</a:t>
            </a:r>
            <a:r>
              <a:rPr kumimoji="1" lang="ja-JP" altLang="en-US" sz="1400" b="1" baseline="0">
                <a:solidFill>
                  <a:srgbClr val="D15805"/>
                </a:solidFill>
                <a:latin typeface="+mn-lt"/>
                <a:ea typeface="+mn-ea"/>
              </a:rPr>
              <a:t>検査開始</a:t>
            </a:r>
            <a:r>
              <a:rPr kumimoji="1" lang="ja-JP" altLang="en-US" sz="1400" baseline="0">
                <a:latin typeface="+mn-lt"/>
                <a:ea typeface="+mn-ea"/>
              </a:rPr>
              <a:t>：カメラ位置まで基板を運搬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DB5EDF6-04E2-AF93-D2B6-CEF65866074F}"/>
              </a:ext>
            </a:extLst>
          </p:cNvPr>
          <p:cNvSpPr txBox="1"/>
          <p:nvPr/>
        </p:nvSpPr>
        <p:spPr>
          <a:xfrm>
            <a:off x="425146" y="2191121"/>
            <a:ext cx="3126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aseline="0">
                <a:latin typeface="+mn-lt"/>
                <a:ea typeface="+mn-ea"/>
              </a:rPr>
              <a:t>〇</a:t>
            </a:r>
            <a:r>
              <a:rPr kumimoji="1" lang="ja-JP" altLang="en-US" sz="1400" b="1" baseline="0">
                <a:solidFill>
                  <a:srgbClr val="D15805"/>
                </a:solidFill>
                <a:latin typeface="+mn-lt"/>
                <a:ea typeface="+mn-ea"/>
              </a:rPr>
              <a:t>検査中</a:t>
            </a:r>
            <a:r>
              <a:rPr kumimoji="1" lang="ja-JP" altLang="en-US" sz="1400" baseline="0">
                <a:noFill/>
                <a:latin typeface="+mn-lt"/>
                <a:ea typeface="+mn-ea"/>
              </a:rPr>
              <a:t>状</a:t>
            </a:r>
            <a:r>
              <a:rPr kumimoji="1" lang="ja-JP" altLang="en-US" sz="1400" baseline="0">
                <a:latin typeface="+mn-lt"/>
                <a:ea typeface="+mn-ea"/>
              </a:rPr>
              <a:t>：少しずつ基板を送り出す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D966B1-CE4A-B1A8-9647-C0A6467400F4}"/>
              </a:ext>
            </a:extLst>
          </p:cNvPr>
          <p:cNvSpPr txBox="1"/>
          <p:nvPr/>
        </p:nvSpPr>
        <p:spPr>
          <a:xfrm>
            <a:off x="425146" y="2559973"/>
            <a:ext cx="3126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aseline="0">
                <a:latin typeface="+mn-lt"/>
                <a:ea typeface="+mn-ea"/>
              </a:rPr>
              <a:t>〇</a:t>
            </a:r>
            <a:r>
              <a:rPr kumimoji="1" lang="ja-JP" altLang="en-US" sz="1400" b="1" baseline="0">
                <a:solidFill>
                  <a:srgbClr val="D15805"/>
                </a:solidFill>
                <a:latin typeface="+mn-lt"/>
                <a:ea typeface="+mn-ea"/>
              </a:rPr>
              <a:t>検査結果</a:t>
            </a:r>
            <a:r>
              <a:rPr kumimoji="1" lang="ja-JP" altLang="en-US" sz="1400" baseline="0">
                <a:latin typeface="+mn-lt"/>
                <a:ea typeface="+mn-ea"/>
              </a:rPr>
              <a:t>：良品ならそのまま送り出す</a:t>
            </a:r>
            <a:endParaRPr kumimoji="1" lang="en-US" altLang="ja-JP" sz="1400" baseline="0">
              <a:latin typeface="+mn-lt"/>
              <a:ea typeface="+mn-ea"/>
            </a:endParaRPr>
          </a:p>
          <a:p>
            <a:pPr algn="l"/>
            <a:r>
              <a:rPr lang="ja-JP" altLang="en-US" sz="1400">
                <a:noFill/>
                <a:latin typeface="+mn-lt"/>
                <a:ea typeface="+mn-ea"/>
              </a:rPr>
              <a:t>〇検査結果：</a:t>
            </a:r>
            <a:r>
              <a:rPr lang="ja-JP" altLang="en-US" sz="1400">
                <a:latin typeface="+mn-lt"/>
                <a:ea typeface="+mn-ea"/>
              </a:rPr>
              <a:t>不良品なら初期位置へ</a:t>
            </a:r>
            <a:endParaRPr kumimoji="1" lang="ja-JP" altLang="en-US" sz="1400" baseline="0">
              <a:latin typeface="+mn-lt"/>
              <a:ea typeface="+mn-ea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385401D-4683-46B7-8DC5-DCA235E2A053}"/>
              </a:ext>
            </a:extLst>
          </p:cNvPr>
          <p:cNvSpPr/>
          <p:nvPr/>
        </p:nvSpPr>
        <p:spPr>
          <a:xfrm>
            <a:off x="4873601" y="825056"/>
            <a:ext cx="2001079" cy="471783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</a:rPr>
              <a:t>動作フロー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B31E2A9-7F6D-951B-6CEA-A765F6A8C2EE}"/>
              </a:ext>
            </a:extLst>
          </p:cNvPr>
          <p:cNvSpPr txBox="1"/>
          <p:nvPr/>
        </p:nvSpPr>
        <p:spPr>
          <a:xfrm>
            <a:off x="263501" y="3235061"/>
            <a:ext cx="367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■制御コードを</a:t>
            </a:r>
            <a:r>
              <a:rPr kumimoji="1" lang="en-US" altLang="ja-JP" baseline="0">
                <a:latin typeface="+mn-lt"/>
                <a:ea typeface="+mn-ea"/>
              </a:rPr>
              <a:t>PC</a:t>
            </a:r>
            <a:r>
              <a:rPr kumimoji="1" lang="ja-JP" altLang="en-US" baseline="0">
                <a:latin typeface="+mn-lt"/>
                <a:ea typeface="+mn-ea"/>
              </a:rPr>
              <a:t>上から動作させる</a:t>
            </a:r>
          </a:p>
        </p:txBody>
      </p:sp>
      <p:sp>
        <p:nvSpPr>
          <p:cNvPr id="18" name="フローチャート: 端子 17">
            <a:extLst>
              <a:ext uri="{FF2B5EF4-FFF2-40B4-BE49-F238E27FC236}">
                <a16:creationId xmlns:a16="http://schemas.microsoft.com/office/drawing/2014/main" id="{A338C403-8F0A-A41A-3A8F-CFFFE618A706}"/>
              </a:ext>
            </a:extLst>
          </p:cNvPr>
          <p:cNvSpPr/>
          <p:nvPr/>
        </p:nvSpPr>
        <p:spPr>
          <a:xfrm>
            <a:off x="5718550" y="1570510"/>
            <a:ext cx="1886209" cy="471783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GUI</a:t>
            </a:r>
            <a:r>
              <a:rPr kumimoji="1" lang="ja-JP" altLang="en-US" sz="1400">
                <a:solidFill>
                  <a:schemeClr val="tx1"/>
                </a:solidFill>
              </a:rPr>
              <a:t>からコード実行</a:t>
            </a:r>
          </a:p>
        </p:txBody>
      </p:sp>
      <p:sp>
        <p:nvSpPr>
          <p:cNvPr id="19" name="フローチャート: 処理 18">
            <a:extLst>
              <a:ext uri="{FF2B5EF4-FFF2-40B4-BE49-F238E27FC236}">
                <a16:creationId xmlns:a16="http://schemas.microsoft.com/office/drawing/2014/main" id="{4B861398-8DD0-FD36-0821-4635EC3D4FA1}"/>
              </a:ext>
            </a:extLst>
          </p:cNvPr>
          <p:cNvSpPr/>
          <p:nvPr/>
        </p:nvSpPr>
        <p:spPr>
          <a:xfrm>
            <a:off x="5721988" y="2244419"/>
            <a:ext cx="1886209" cy="523219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</a:rPr>
              <a:t>モーターの設定</a:t>
            </a:r>
          </a:p>
        </p:txBody>
      </p:sp>
      <p:sp>
        <p:nvSpPr>
          <p:cNvPr id="20" name="フローチャート: 処理 19">
            <a:extLst>
              <a:ext uri="{FF2B5EF4-FFF2-40B4-BE49-F238E27FC236}">
                <a16:creationId xmlns:a16="http://schemas.microsoft.com/office/drawing/2014/main" id="{AF9C71CD-0298-70EF-6DF2-089F598A0908}"/>
              </a:ext>
            </a:extLst>
          </p:cNvPr>
          <p:cNvSpPr/>
          <p:nvPr/>
        </p:nvSpPr>
        <p:spPr>
          <a:xfrm>
            <a:off x="5718545" y="2950626"/>
            <a:ext cx="1886209" cy="52322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</a:rPr>
              <a:t>汎用モーター制御関数</a:t>
            </a:r>
          </a:p>
          <a:p>
            <a:pPr algn="ctr"/>
            <a:r>
              <a:rPr lang="ja-JP" altLang="en-US" sz="1400">
                <a:solidFill>
                  <a:schemeClr val="tx1"/>
                </a:solidFill>
              </a:rPr>
              <a:t>を用意</a:t>
            </a:r>
            <a:endParaRPr lang="en-US" altLang="ja-JP" sz="1400">
              <a:solidFill>
                <a:schemeClr val="tx1"/>
              </a:solidFill>
            </a:endParaRPr>
          </a:p>
        </p:txBody>
      </p:sp>
      <p:sp>
        <p:nvSpPr>
          <p:cNvPr id="21" name="フローチャート: 処理 20">
            <a:extLst>
              <a:ext uri="{FF2B5EF4-FFF2-40B4-BE49-F238E27FC236}">
                <a16:creationId xmlns:a16="http://schemas.microsoft.com/office/drawing/2014/main" id="{29B26C35-F246-09BC-703D-E511CD24D567}"/>
              </a:ext>
            </a:extLst>
          </p:cNvPr>
          <p:cNvSpPr/>
          <p:nvPr/>
        </p:nvSpPr>
        <p:spPr>
          <a:xfrm>
            <a:off x="5718546" y="3696080"/>
            <a:ext cx="1886209" cy="523220"/>
          </a:xfrm>
          <a:prstGeom prst="flowChartProcess">
            <a:avLst/>
          </a:prstGeom>
          <a:solidFill>
            <a:schemeClr val="bg1"/>
          </a:solidFill>
          <a:ln w="12700"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D15805"/>
                </a:solidFill>
              </a:rPr>
              <a:t>モーター指令用関数を</a:t>
            </a:r>
          </a:p>
          <a:p>
            <a:pPr algn="ctr"/>
            <a:r>
              <a:rPr lang="ja-JP" altLang="en-US" sz="1400" b="1">
                <a:solidFill>
                  <a:srgbClr val="D15805"/>
                </a:solidFill>
              </a:rPr>
              <a:t>用意</a:t>
            </a:r>
            <a:endParaRPr lang="en-US" altLang="ja-JP" sz="1400" b="1">
              <a:solidFill>
                <a:srgbClr val="D15805"/>
              </a:solidFill>
            </a:endParaRPr>
          </a:p>
        </p:txBody>
      </p:sp>
      <p:sp>
        <p:nvSpPr>
          <p:cNvPr id="22" name="フローチャート: 端子 21">
            <a:extLst>
              <a:ext uri="{FF2B5EF4-FFF2-40B4-BE49-F238E27FC236}">
                <a16:creationId xmlns:a16="http://schemas.microsoft.com/office/drawing/2014/main" id="{69BF07E3-ED29-371F-EEB8-9F7D93FD56A8}"/>
              </a:ext>
            </a:extLst>
          </p:cNvPr>
          <p:cNvSpPr/>
          <p:nvPr/>
        </p:nvSpPr>
        <p:spPr>
          <a:xfrm>
            <a:off x="5718547" y="4378033"/>
            <a:ext cx="1886209" cy="471783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モーター制御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FC663BD-2319-AA9E-71A6-1618733349B8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661655" y="2042293"/>
            <a:ext cx="3438" cy="202126"/>
          </a:xfrm>
          <a:prstGeom prst="straightConnector1">
            <a:avLst/>
          </a:prstGeom>
          <a:ln w="12700">
            <a:solidFill>
              <a:schemeClr val="tx1"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EF48A97-A1CB-A1A0-F3C6-9F159729042F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6661650" y="2767638"/>
            <a:ext cx="3443" cy="182988"/>
          </a:xfrm>
          <a:prstGeom prst="straightConnector1">
            <a:avLst/>
          </a:prstGeom>
          <a:ln w="12700">
            <a:solidFill>
              <a:schemeClr val="tx1"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DA0E17D-1A41-ADE3-B6BF-5A58DE0876FC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6661650" y="3473846"/>
            <a:ext cx="1" cy="222234"/>
          </a:xfrm>
          <a:prstGeom prst="straightConnector1">
            <a:avLst/>
          </a:prstGeom>
          <a:ln w="12700">
            <a:solidFill>
              <a:schemeClr val="tx1"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E98C48F-9CE6-8177-B87E-86233F71BAA6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6661651" y="4219300"/>
            <a:ext cx="1" cy="158733"/>
          </a:xfrm>
          <a:prstGeom prst="straightConnector1">
            <a:avLst/>
          </a:prstGeom>
          <a:ln w="12700">
            <a:solidFill>
              <a:schemeClr val="tx1">
                <a:alpha val="9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1BBEE2-EDB0-39F6-059E-794D0FCA3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6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6197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79074-5A21-69AE-4EFA-E68FEFB72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C53E9BC-794D-1478-04C2-67810E33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モーター制御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CCFD5B-59FD-61ED-87F7-ECFB4367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06" y="4127720"/>
            <a:ext cx="4151736" cy="774259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B40D7B2-B634-B339-46D9-61894AE368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752" y="893859"/>
            <a:ext cx="3818546" cy="400812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8E5D8DC4-8FE8-53AB-C662-8B454189A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406" y="893859"/>
            <a:ext cx="3904719" cy="315978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881D11-1405-CB20-7885-3D3950D0C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7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77797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1163B92B-6507-9CB4-017E-DA1E7110CFA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44753" y="846722"/>
            <a:ext cx="5712447" cy="421879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F94E302-88D3-F191-F2B5-1225F08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ハードの</a:t>
            </a:r>
            <a:r>
              <a:rPr lang="ja-JP" altLang="en-US"/>
              <a:t>完成写真</a:t>
            </a:r>
            <a:endParaRPr kumimoji="1" lang="ja-JP" altLang="en-US"/>
          </a:p>
        </p:txBody>
      </p: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5C092A83-5FFF-781A-7B0D-FFB5464A1D83}"/>
              </a:ext>
            </a:extLst>
          </p:cNvPr>
          <p:cNvSpPr txBox="1"/>
          <p:nvPr/>
        </p:nvSpPr>
        <p:spPr>
          <a:xfrm>
            <a:off x="-10027" y="2276549"/>
            <a:ext cx="1683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スプロケットを等間隔に配置 </a:t>
            </a:r>
          </a:p>
        </p:txBody>
      </p: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08106984-75D6-EFF9-1867-FFF4CF11D2BC}"/>
              </a:ext>
            </a:extLst>
          </p:cNvPr>
          <p:cNvCxnSpPr>
            <a:cxnSpLocks/>
            <a:stCxn id="134" idx="3"/>
          </p:cNvCxnSpPr>
          <p:nvPr/>
        </p:nvCxnSpPr>
        <p:spPr>
          <a:xfrm>
            <a:off x="1673379" y="2399660"/>
            <a:ext cx="724868" cy="2210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D2906DDC-20B0-088B-3284-D8D4CB709FEB}"/>
              </a:ext>
            </a:extLst>
          </p:cNvPr>
          <p:cNvSpPr txBox="1"/>
          <p:nvPr/>
        </p:nvSpPr>
        <p:spPr>
          <a:xfrm>
            <a:off x="-10027" y="1968773"/>
            <a:ext cx="10886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キャタピラの長さ</a:t>
            </a:r>
          </a:p>
        </p:txBody>
      </p:sp>
      <p:cxnSp>
        <p:nvCxnSpPr>
          <p:cNvPr id="141" name="直線矢印コネクタ 140">
            <a:extLst>
              <a:ext uri="{FF2B5EF4-FFF2-40B4-BE49-F238E27FC236}">
                <a16:creationId xmlns:a16="http://schemas.microsoft.com/office/drawing/2014/main" id="{D90B4E4B-C2B8-F096-3558-0AE04A2E9483}"/>
              </a:ext>
            </a:extLst>
          </p:cNvPr>
          <p:cNvCxnSpPr>
            <a:cxnSpLocks/>
            <a:stCxn id="140" idx="3"/>
          </p:cNvCxnSpPr>
          <p:nvPr/>
        </p:nvCxnSpPr>
        <p:spPr>
          <a:xfrm>
            <a:off x="1078663" y="2091884"/>
            <a:ext cx="1412666" cy="418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61947677-D82A-1EC7-BE5F-6342FF16536B}"/>
              </a:ext>
            </a:extLst>
          </p:cNvPr>
          <p:cNvSpPr txBox="1"/>
          <p:nvPr/>
        </p:nvSpPr>
        <p:spPr>
          <a:xfrm>
            <a:off x="-10027" y="1722552"/>
            <a:ext cx="15797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連結するパーツに対称性</a:t>
            </a:r>
          </a:p>
        </p:txBody>
      </p:sp>
      <p:cxnSp>
        <p:nvCxnSpPr>
          <p:cNvPr id="150" name="直線矢印コネクタ 149">
            <a:extLst>
              <a:ext uri="{FF2B5EF4-FFF2-40B4-BE49-F238E27FC236}">
                <a16:creationId xmlns:a16="http://schemas.microsoft.com/office/drawing/2014/main" id="{BE6F1BBF-6A57-261E-2471-F0D22CF9AE24}"/>
              </a:ext>
            </a:extLst>
          </p:cNvPr>
          <p:cNvCxnSpPr>
            <a:cxnSpLocks/>
            <a:stCxn id="149" idx="3"/>
          </p:cNvCxnSpPr>
          <p:nvPr/>
        </p:nvCxnSpPr>
        <p:spPr>
          <a:xfrm>
            <a:off x="1569720" y="1845663"/>
            <a:ext cx="921609" cy="664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E17DC803-56CE-6023-0434-9C1E785A4906}"/>
              </a:ext>
            </a:extLst>
          </p:cNvPr>
          <p:cNvCxnSpPr>
            <a:cxnSpLocks/>
            <a:stCxn id="149" idx="3"/>
          </p:cNvCxnSpPr>
          <p:nvPr/>
        </p:nvCxnSpPr>
        <p:spPr>
          <a:xfrm>
            <a:off x="1569720" y="1845663"/>
            <a:ext cx="1523909" cy="430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C631D260-283D-81CC-213D-76C13A4B7723}"/>
              </a:ext>
            </a:extLst>
          </p:cNvPr>
          <p:cNvSpPr txBox="1"/>
          <p:nvPr/>
        </p:nvSpPr>
        <p:spPr>
          <a:xfrm>
            <a:off x="7201358" y="4609227"/>
            <a:ext cx="1833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動力伝達部</a:t>
            </a:r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の</a:t>
            </a:r>
            <a:r>
              <a:rPr lang="ja-JP" altLang="en-US" sz="100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スプロケット連結</a:t>
            </a:r>
            <a:endParaRPr lang="ja-JP" altLang="en-US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C1F1646D-5283-695F-F8DB-3DA01122BA3A}"/>
              </a:ext>
            </a:extLst>
          </p:cNvPr>
          <p:cNvCxnSpPr>
            <a:cxnSpLocks/>
            <a:stCxn id="160" idx="1"/>
          </p:cNvCxnSpPr>
          <p:nvPr/>
        </p:nvCxnSpPr>
        <p:spPr>
          <a:xfrm flipH="1" flipV="1">
            <a:off x="6965950" y="4275364"/>
            <a:ext cx="235408" cy="4569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BA9778BD-10E7-FE22-6E9D-3D098147133E}"/>
              </a:ext>
            </a:extLst>
          </p:cNvPr>
          <p:cNvSpPr txBox="1"/>
          <p:nvPr/>
        </p:nvSpPr>
        <p:spPr>
          <a:xfrm>
            <a:off x="-10027" y="3635298"/>
            <a:ext cx="19764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0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キャタピラを支えるための支柱</a:t>
            </a:r>
            <a:endParaRPr lang="ja-JP" altLang="en-US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00D8E02D-8B2F-FFD9-385F-F33AF65E7B08}"/>
              </a:ext>
            </a:extLst>
          </p:cNvPr>
          <p:cNvCxnSpPr>
            <a:cxnSpLocks/>
          </p:cNvCxnSpPr>
          <p:nvPr/>
        </p:nvCxnSpPr>
        <p:spPr>
          <a:xfrm flipV="1">
            <a:off x="1567301" y="3168400"/>
            <a:ext cx="1417199" cy="5733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テキスト ボックス 181">
            <a:extLst>
              <a:ext uri="{FF2B5EF4-FFF2-40B4-BE49-F238E27FC236}">
                <a16:creationId xmlns:a16="http://schemas.microsoft.com/office/drawing/2014/main" id="{94E35E7D-8138-76A0-B0A7-04DD27987019}"/>
              </a:ext>
            </a:extLst>
          </p:cNvPr>
          <p:cNvSpPr txBox="1"/>
          <p:nvPr/>
        </p:nvSpPr>
        <p:spPr>
          <a:xfrm>
            <a:off x="-10027" y="4724623"/>
            <a:ext cx="2283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フレームを接続するための</a:t>
            </a:r>
            <a:r>
              <a:rPr lang="en-US" altLang="ja-JP" sz="1000">
                <a:solidFill>
                  <a:srgbClr val="FF0000"/>
                </a:solidFill>
                <a:latin typeface="+mj-ea"/>
                <a:ea typeface="+mj-ea"/>
              </a:rPr>
              <a:t>3d</a:t>
            </a:r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プリンタパーツ</a:t>
            </a:r>
          </a:p>
        </p:txBody>
      </p: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42BDA739-A76D-C6EC-A0BA-E4CBDFB70000}"/>
              </a:ext>
            </a:extLst>
          </p:cNvPr>
          <p:cNvCxnSpPr>
            <a:cxnSpLocks/>
            <a:stCxn id="182" idx="3"/>
          </p:cNvCxnSpPr>
          <p:nvPr/>
        </p:nvCxnSpPr>
        <p:spPr>
          <a:xfrm flipV="1">
            <a:off x="2273696" y="3303414"/>
            <a:ext cx="804607" cy="1544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テキスト ボックス 196">
            <a:extLst>
              <a:ext uri="{FF2B5EF4-FFF2-40B4-BE49-F238E27FC236}">
                <a16:creationId xmlns:a16="http://schemas.microsoft.com/office/drawing/2014/main" id="{37524B07-026A-1903-5E1E-A856B5CBE2CC}"/>
              </a:ext>
            </a:extLst>
          </p:cNvPr>
          <p:cNvSpPr txBox="1"/>
          <p:nvPr/>
        </p:nvSpPr>
        <p:spPr>
          <a:xfrm>
            <a:off x="6627702" y="2620731"/>
            <a:ext cx="2534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フレームを接続するための</a:t>
            </a:r>
            <a:r>
              <a:rPr lang="en-US" altLang="ja-JP" sz="1000">
                <a:solidFill>
                  <a:srgbClr val="FF0000"/>
                </a:solidFill>
                <a:latin typeface="+mj-ea"/>
                <a:ea typeface="+mj-ea"/>
              </a:rPr>
              <a:t>3d</a:t>
            </a:r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プリンタパーツ</a:t>
            </a:r>
          </a:p>
        </p:txBody>
      </p:sp>
      <p:cxnSp>
        <p:nvCxnSpPr>
          <p:cNvPr id="198" name="直線矢印コネクタ 197">
            <a:extLst>
              <a:ext uri="{FF2B5EF4-FFF2-40B4-BE49-F238E27FC236}">
                <a16:creationId xmlns:a16="http://schemas.microsoft.com/office/drawing/2014/main" id="{BFB29589-5ADE-DE1A-0F50-73330A7CAE35}"/>
              </a:ext>
            </a:extLst>
          </p:cNvPr>
          <p:cNvCxnSpPr>
            <a:cxnSpLocks/>
            <a:stCxn id="197" idx="1"/>
          </p:cNvCxnSpPr>
          <p:nvPr/>
        </p:nvCxnSpPr>
        <p:spPr>
          <a:xfrm>
            <a:off x="6627702" y="2743842"/>
            <a:ext cx="338248" cy="4245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矢印コネクタ 201">
            <a:extLst>
              <a:ext uri="{FF2B5EF4-FFF2-40B4-BE49-F238E27FC236}">
                <a16:creationId xmlns:a16="http://schemas.microsoft.com/office/drawing/2014/main" id="{741C7068-3AB2-5840-AB14-FE62C362FF63}"/>
              </a:ext>
            </a:extLst>
          </p:cNvPr>
          <p:cNvCxnSpPr>
            <a:cxnSpLocks/>
            <a:stCxn id="197" idx="1"/>
          </p:cNvCxnSpPr>
          <p:nvPr/>
        </p:nvCxnSpPr>
        <p:spPr>
          <a:xfrm flipH="1">
            <a:off x="6050373" y="2743842"/>
            <a:ext cx="577329" cy="123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矢印コネクタ 204">
            <a:extLst>
              <a:ext uri="{FF2B5EF4-FFF2-40B4-BE49-F238E27FC236}">
                <a16:creationId xmlns:a16="http://schemas.microsoft.com/office/drawing/2014/main" id="{DFAF6FB3-DEBC-63E7-314E-289D4D149EA6}"/>
              </a:ext>
            </a:extLst>
          </p:cNvPr>
          <p:cNvCxnSpPr>
            <a:cxnSpLocks/>
            <a:stCxn id="197" idx="1"/>
          </p:cNvCxnSpPr>
          <p:nvPr/>
        </p:nvCxnSpPr>
        <p:spPr>
          <a:xfrm flipH="1" flipV="1">
            <a:off x="5200650" y="2620731"/>
            <a:ext cx="1427052" cy="1231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テキスト ボックス 213">
            <a:extLst>
              <a:ext uri="{FF2B5EF4-FFF2-40B4-BE49-F238E27FC236}">
                <a16:creationId xmlns:a16="http://schemas.microsoft.com/office/drawing/2014/main" id="{E2B1B9CB-133B-3F12-61E1-D08B0B09F3FA}"/>
              </a:ext>
            </a:extLst>
          </p:cNvPr>
          <p:cNvSpPr txBox="1"/>
          <p:nvPr/>
        </p:nvSpPr>
        <p:spPr>
          <a:xfrm>
            <a:off x="-3175" y="3927447"/>
            <a:ext cx="15728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アルミフレームの高さ調整</a:t>
            </a:r>
            <a:endParaRPr lang="ja-JP" altLang="en-US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219" name="直線矢印コネクタ 218">
            <a:extLst>
              <a:ext uri="{FF2B5EF4-FFF2-40B4-BE49-F238E27FC236}">
                <a16:creationId xmlns:a16="http://schemas.microsoft.com/office/drawing/2014/main" id="{725918C3-874D-1349-934C-F86CB6839F28}"/>
              </a:ext>
            </a:extLst>
          </p:cNvPr>
          <p:cNvCxnSpPr>
            <a:cxnSpLocks/>
            <a:stCxn id="214" idx="3"/>
          </p:cNvCxnSpPr>
          <p:nvPr/>
        </p:nvCxnSpPr>
        <p:spPr>
          <a:xfrm flipV="1">
            <a:off x="1569720" y="3295240"/>
            <a:ext cx="1414780" cy="755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テキスト ボックス 231">
            <a:extLst>
              <a:ext uri="{FF2B5EF4-FFF2-40B4-BE49-F238E27FC236}">
                <a16:creationId xmlns:a16="http://schemas.microsoft.com/office/drawing/2014/main" id="{CCCB5043-BAA3-4AD6-BEB8-F53AAA28FF97}"/>
              </a:ext>
            </a:extLst>
          </p:cNvPr>
          <p:cNvSpPr txBox="1"/>
          <p:nvPr/>
        </p:nvSpPr>
        <p:spPr>
          <a:xfrm>
            <a:off x="3172075" y="4702202"/>
            <a:ext cx="22937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アルミフレームに穴をあけて配線を隠す </a:t>
            </a:r>
          </a:p>
        </p:txBody>
      </p:sp>
      <p:cxnSp>
        <p:nvCxnSpPr>
          <p:cNvPr id="233" name="直線矢印コネクタ 232">
            <a:extLst>
              <a:ext uri="{FF2B5EF4-FFF2-40B4-BE49-F238E27FC236}">
                <a16:creationId xmlns:a16="http://schemas.microsoft.com/office/drawing/2014/main" id="{7D1FD7AD-174A-00C0-4D27-B1A842599483}"/>
              </a:ext>
            </a:extLst>
          </p:cNvPr>
          <p:cNvCxnSpPr>
            <a:cxnSpLocks/>
          </p:cNvCxnSpPr>
          <p:nvPr/>
        </p:nvCxnSpPr>
        <p:spPr>
          <a:xfrm flipV="1">
            <a:off x="5143427" y="4594568"/>
            <a:ext cx="889807" cy="2307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テキスト ボックス 239">
            <a:extLst>
              <a:ext uri="{FF2B5EF4-FFF2-40B4-BE49-F238E27FC236}">
                <a16:creationId xmlns:a16="http://schemas.microsoft.com/office/drawing/2014/main" id="{D6214CA9-59D9-8E1E-7D43-C0CD7E61B0B9}"/>
              </a:ext>
            </a:extLst>
          </p:cNvPr>
          <p:cNvSpPr txBox="1"/>
          <p:nvPr/>
        </p:nvSpPr>
        <p:spPr>
          <a:xfrm>
            <a:off x="2750823" y="4516733"/>
            <a:ext cx="26911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アルミフレームに適合するためのボルトとナット</a:t>
            </a:r>
          </a:p>
        </p:txBody>
      </p:sp>
      <p:cxnSp>
        <p:nvCxnSpPr>
          <p:cNvPr id="241" name="直線矢印コネクタ 240">
            <a:extLst>
              <a:ext uri="{FF2B5EF4-FFF2-40B4-BE49-F238E27FC236}">
                <a16:creationId xmlns:a16="http://schemas.microsoft.com/office/drawing/2014/main" id="{CE3F3C85-0E6B-400C-4985-FF88A131CA9D}"/>
              </a:ext>
            </a:extLst>
          </p:cNvPr>
          <p:cNvCxnSpPr>
            <a:cxnSpLocks/>
          </p:cNvCxnSpPr>
          <p:nvPr/>
        </p:nvCxnSpPr>
        <p:spPr>
          <a:xfrm flipV="1">
            <a:off x="4252068" y="4050557"/>
            <a:ext cx="919288" cy="4532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テキスト ボックス 246">
            <a:extLst>
              <a:ext uri="{FF2B5EF4-FFF2-40B4-BE49-F238E27FC236}">
                <a16:creationId xmlns:a16="http://schemas.microsoft.com/office/drawing/2014/main" id="{BB6003E3-926E-37EC-DFFE-A8CB84BC4AC8}"/>
              </a:ext>
            </a:extLst>
          </p:cNvPr>
          <p:cNvSpPr txBox="1"/>
          <p:nvPr/>
        </p:nvSpPr>
        <p:spPr>
          <a:xfrm>
            <a:off x="5875217" y="1916319"/>
            <a:ext cx="9216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ダドジョイント</a:t>
            </a:r>
            <a:endParaRPr lang="ja-JP" altLang="en-US" sz="105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248" name="直線矢印コネクタ 247">
            <a:extLst>
              <a:ext uri="{FF2B5EF4-FFF2-40B4-BE49-F238E27FC236}">
                <a16:creationId xmlns:a16="http://schemas.microsoft.com/office/drawing/2014/main" id="{4FA5776B-9909-E08D-95A4-CFF823610FBF}"/>
              </a:ext>
            </a:extLst>
          </p:cNvPr>
          <p:cNvCxnSpPr>
            <a:cxnSpLocks/>
            <a:stCxn id="247" idx="1"/>
          </p:cNvCxnSpPr>
          <p:nvPr/>
        </p:nvCxnSpPr>
        <p:spPr>
          <a:xfrm flipH="1" flipV="1">
            <a:off x="5365750" y="1845662"/>
            <a:ext cx="509467" cy="201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矢印コネクタ 250">
            <a:extLst>
              <a:ext uri="{FF2B5EF4-FFF2-40B4-BE49-F238E27FC236}">
                <a16:creationId xmlns:a16="http://schemas.microsoft.com/office/drawing/2014/main" id="{97B6B3BE-3C4D-4F50-F571-81BA3548467C}"/>
              </a:ext>
            </a:extLst>
          </p:cNvPr>
          <p:cNvCxnSpPr>
            <a:cxnSpLocks/>
            <a:stCxn id="247" idx="1"/>
          </p:cNvCxnSpPr>
          <p:nvPr/>
        </p:nvCxnSpPr>
        <p:spPr>
          <a:xfrm flipH="1" flipV="1">
            <a:off x="5441950" y="1278582"/>
            <a:ext cx="433267" cy="768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95ED29-0E98-6F04-2CC7-03551933FF7A}"/>
              </a:ext>
            </a:extLst>
          </p:cNvPr>
          <p:cNvSpPr txBox="1"/>
          <p:nvPr/>
        </p:nvSpPr>
        <p:spPr>
          <a:xfrm>
            <a:off x="1569720" y="867003"/>
            <a:ext cx="9069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カメラ用の穴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357CFE8-F43C-50F4-E775-BBA38C36B10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476673" y="990114"/>
            <a:ext cx="1476411" cy="5848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2495CC-ECD1-953F-CA16-6852277128C1}"/>
              </a:ext>
            </a:extLst>
          </p:cNvPr>
          <p:cNvSpPr txBox="1"/>
          <p:nvPr/>
        </p:nvSpPr>
        <p:spPr>
          <a:xfrm>
            <a:off x="6016529" y="821018"/>
            <a:ext cx="13142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スケルトン仕様の箱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6ED679F-D28B-C66A-342A-634F8B01C4B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816790" y="944129"/>
            <a:ext cx="1199739" cy="3612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A139AC7-7DE7-E588-99D1-2F144B164BB8}"/>
              </a:ext>
            </a:extLst>
          </p:cNvPr>
          <p:cNvSpPr txBox="1"/>
          <p:nvPr/>
        </p:nvSpPr>
        <p:spPr>
          <a:xfrm>
            <a:off x="6150965" y="1162782"/>
            <a:ext cx="1182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精密に設計された配線用の穴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5EFE4C4-3294-A219-2A89-88094B7094DD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101389" y="1338635"/>
            <a:ext cx="1049576" cy="242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1053F88-7C6C-F62F-C70C-CAD16BB1B09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705726" y="1362837"/>
            <a:ext cx="2445239" cy="3665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E3DF97-3CA7-9DBA-B8D7-DB08C96E07DE}"/>
              </a:ext>
            </a:extLst>
          </p:cNvPr>
          <p:cNvSpPr txBox="1"/>
          <p:nvPr/>
        </p:nvSpPr>
        <p:spPr>
          <a:xfrm>
            <a:off x="6210982" y="2171631"/>
            <a:ext cx="13568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>
                <a:solidFill>
                  <a:srgbClr val="FF0000"/>
                </a:solidFill>
                <a:latin typeface="+mj-ea"/>
                <a:ea typeface="+mj-ea"/>
              </a:rPr>
              <a:t>外光</a:t>
            </a:r>
            <a:r>
              <a:rPr lang="ja-JP" altLang="en-US" sz="105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を減らすための</a:t>
            </a:r>
            <a:endParaRPr lang="en-US" altLang="ja-JP" sz="1050" b="0" i="0">
              <a:solidFill>
                <a:srgbClr val="FF0000"/>
              </a:solidFill>
              <a:effectLst/>
              <a:latin typeface="+mj-ea"/>
              <a:ea typeface="+mj-ea"/>
            </a:endParaRPr>
          </a:p>
          <a:p>
            <a:r>
              <a:rPr lang="ja-JP" altLang="en-US" sz="1050" b="0" i="0">
                <a:solidFill>
                  <a:srgbClr val="FF0000"/>
                </a:solidFill>
                <a:effectLst/>
                <a:latin typeface="+mj-ea"/>
                <a:ea typeface="+mj-ea"/>
              </a:rPr>
              <a:t>小さい出入口</a:t>
            </a:r>
            <a:endParaRPr lang="ja-JP" altLang="en-US" sz="105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FAC292F-DEE2-0725-F479-EE308A58F7BE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875648" y="2379380"/>
            <a:ext cx="2335334" cy="170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DE05EE80-A138-543C-77DF-92781C2F71C8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4711712" y="2379380"/>
            <a:ext cx="1499270" cy="415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CA49D45-6B17-0CA7-47DD-30B7C0776704}"/>
              </a:ext>
            </a:extLst>
          </p:cNvPr>
          <p:cNvSpPr txBox="1"/>
          <p:nvPr/>
        </p:nvSpPr>
        <p:spPr>
          <a:xfrm>
            <a:off x="-3175" y="2813943"/>
            <a:ext cx="1414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アルミ板を用いた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ブラケット部分の作成</a:t>
            </a: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A4EC7275-157E-12F2-EC54-D06E7223993B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1411605" y="2896132"/>
            <a:ext cx="876161" cy="1178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AC37DC9C-C3F1-10A9-CF14-8403B9F8564C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1411605" y="3013998"/>
            <a:ext cx="5444631" cy="208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AAA444C-0B9C-8502-02CB-BCDC7D6114E8}"/>
              </a:ext>
            </a:extLst>
          </p:cNvPr>
          <p:cNvSpPr txBox="1"/>
          <p:nvPr/>
        </p:nvSpPr>
        <p:spPr>
          <a:xfrm>
            <a:off x="-24258" y="4449142"/>
            <a:ext cx="13203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きれいなまとまった配線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1A337F7-5FA6-69BC-544A-ED86C990DA2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754113" y="4246784"/>
            <a:ext cx="576657" cy="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8253C9-15E4-298F-AAF3-10497297D37B}"/>
              </a:ext>
            </a:extLst>
          </p:cNvPr>
          <p:cNvSpPr txBox="1"/>
          <p:nvPr/>
        </p:nvSpPr>
        <p:spPr>
          <a:xfrm>
            <a:off x="7330770" y="4123673"/>
            <a:ext cx="1833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ステッピングモーターを使用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881D8A3F-1E8E-B7F8-588B-32AB7EFB85C4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1296099" y="3377391"/>
            <a:ext cx="2103765" cy="1194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185CBC6-6E2B-E6B7-8146-CAEC3BBEA315}"/>
              </a:ext>
            </a:extLst>
          </p:cNvPr>
          <p:cNvCxnSpPr>
            <a:cxnSpLocks/>
          </p:cNvCxnSpPr>
          <p:nvPr/>
        </p:nvCxnSpPr>
        <p:spPr>
          <a:xfrm flipH="1" flipV="1">
            <a:off x="4981329" y="1622419"/>
            <a:ext cx="1169636" cy="76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C0FF4C9-7CCD-DEA8-0C00-A1C87CB76E5F}"/>
              </a:ext>
            </a:extLst>
          </p:cNvPr>
          <p:cNvSpPr txBox="1"/>
          <p:nvPr/>
        </p:nvSpPr>
        <p:spPr>
          <a:xfrm>
            <a:off x="6051779" y="1561091"/>
            <a:ext cx="2534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個のモーターが同期するように制御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E409161-FB45-B089-52EA-7866AEB3ABDB}"/>
              </a:ext>
            </a:extLst>
          </p:cNvPr>
          <p:cNvCxnSpPr>
            <a:cxnSpLocks/>
          </p:cNvCxnSpPr>
          <p:nvPr/>
        </p:nvCxnSpPr>
        <p:spPr>
          <a:xfrm flipV="1">
            <a:off x="3634673" y="3649185"/>
            <a:ext cx="353904" cy="311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986E40F-74E0-F9B5-D67C-30DF92E57FFF}"/>
              </a:ext>
            </a:extLst>
          </p:cNvPr>
          <p:cNvSpPr txBox="1"/>
          <p:nvPr/>
        </p:nvSpPr>
        <p:spPr>
          <a:xfrm>
            <a:off x="3302281" y="3927447"/>
            <a:ext cx="4435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暗箱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F8C0AC6-A456-E07D-CC9A-38F3B61A4CE7}"/>
              </a:ext>
            </a:extLst>
          </p:cNvPr>
          <p:cNvSpPr txBox="1"/>
          <p:nvPr/>
        </p:nvSpPr>
        <p:spPr>
          <a:xfrm>
            <a:off x="1927221" y="4880854"/>
            <a:ext cx="1173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テープライトを遮光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B001BF0-FC57-90CE-3E40-EB50D0E2893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39167" y="1623477"/>
            <a:ext cx="4480207" cy="2885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42556F04-4D15-7B51-8AA0-43E9EFD3FFD9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2513961" y="3340855"/>
            <a:ext cx="1374052" cy="15399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623D4F6-0EB6-2E09-03B1-A2FD00B274F0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39167" y="1623477"/>
            <a:ext cx="1212288" cy="638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796907E-5845-74BC-1DC3-B9303FDC48AB}"/>
              </a:ext>
            </a:extLst>
          </p:cNvPr>
          <p:cNvSpPr txBox="1"/>
          <p:nvPr/>
        </p:nvSpPr>
        <p:spPr>
          <a:xfrm>
            <a:off x="900695" y="1387039"/>
            <a:ext cx="12384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モーター位置の調整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3790501-7B80-F3B9-2BA1-D65EF1E47156}"/>
              </a:ext>
            </a:extLst>
          </p:cNvPr>
          <p:cNvSpPr txBox="1"/>
          <p:nvPr/>
        </p:nvSpPr>
        <p:spPr>
          <a:xfrm>
            <a:off x="0" y="3295240"/>
            <a:ext cx="18221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テープライトに光量を抑えるテープ</a:t>
            </a: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286F7B73-804A-BEA0-9293-9968E254A938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1822179" y="2690606"/>
            <a:ext cx="1827387" cy="7277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CC00CA2E-3616-35E6-35AE-2FD6678A5E9D}"/>
              </a:ext>
            </a:extLst>
          </p:cNvPr>
          <p:cNvSpPr txBox="1"/>
          <p:nvPr/>
        </p:nvSpPr>
        <p:spPr>
          <a:xfrm>
            <a:off x="-34712" y="1017707"/>
            <a:ext cx="1493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テープライトの配置を工夫</a:t>
            </a:r>
          </a:p>
        </p:txBody>
      </p: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DE4EA6E4-A05D-3C19-D04A-477A2A46CAA9}"/>
              </a:ext>
            </a:extLst>
          </p:cNvPr>
          <p:cNvCxnSpPr>
            <a:cxnSpLocks/>
            <a:stCxn id="132" idx="3"/>
          </p:cNvCxnSpPr>
          <p:nvPr/>
        </p:nvCxnSpPr>
        <p:spPr>
          <a:xfrm>
            <a:off x="1459098" y="1140818"/>
            <a:ext cx="1754780" cy="7755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1B7974D-8949-565E-658E-27D12C6D96A1}"/>
              </a:ext>
            </a:extLst>
          </p:cNvPr>
          <p:cNvCxnSpPr>
            <a:cxnSpLocks/>
          </p:cNvCxnSpPr>
          <p:nvPr/>
        </p:nvCxnSpPr>
        <p:spPr>
          <a:xfrm>
            <a:off x="3279837" y="963728"/>
            <a:ext cx="1078818" cy="480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F8A92A8-B1ED-9C12-E0DE-9794A6AF0AF8}"/>
              </a:ext>
            </a:extLst>
          </p:cNvPr>
          <p:cNvSpPr txBox="1"/>
          <p:nvPr/>
        </p:nvSpPr>
        <p:spPr>
          <a:xfrm>
            <a:off x="2014557" y="669060"/>
            <a:ext cx="14955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対称なブレッドボード配線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1D3C14BD-364A-5593-D4FA-E027C9B957E0}"/>
              </a:ext>
            </a:extLst>
          </p:cNvPr>
          <p:cNvCxnSpPr>
            <a:cxnSpLocks/>
          </p:cNvCxnSpPr>
          <p:nvPr/>
        </p:nvCxnSpPr>
        <p:spPr>
          <a:xfrm flipH="1">
            <a:off x="4632283" y="821018"/>
            <a:ext cx="933864" cy="3480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D3CBB9D-C911-CFCA-A979-9D41153C678A}"/>
              </a:ext>
            </a:extLst>
          </p:cNvPr>
          <p:cNvSpPr txBox="1"/>
          <p:nvPr/>
        </p:nvSpPr>
        <p:spPr>
          <a:xfrm>
            <a:off x="5588330" y="622041"/>
            <a:ext cx="210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信号の種類によって配線の色を変える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3607F7B3-BAA7-C93F-59F8-68C913E1C8F6}"/>
              </a:ext>
            </a:extLst>
          </p:cNvPr>
          <p:cNvCxnSpPr>
            <a:cxnSpLocks/>
          </p:cNvCxnSpPr>
          <p:nvPr/>
        </p:nvCxnSpPr>
        <p:spPr>
          <a:xfrm flipV="1">
            <a:off x="5850809" y="4646725"/>
            <a:ext cx="349140" cy="169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172AB97-8AFF-DDD6-58E5-8564C2BA8E82}"/>
              </a:ext>
            </a:extLst>
          </p:cNvPr>
          <p:cNvSpPr txBox="1"/>
          <p:nvPr/>
        </p:nvSpPr>
        <p:spPr>
          <a:xfrm>
            <a:off x="4765774" y="4909134"/>
            <a:ext cx="2534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モーター配線の延長の色を統一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ED1B51C3-99CE-E13A-593A-388515C46541}"/>
              </a:ext>
            </a:extLst>
          </p:cNvPr>
          <p:cNvCxnSpPr>
            <a:cxnSpLocks/>
          </p:cNvCxnSpPr>
          <p:nvPr/>
        </p:nvCxnSpPr>
        <p:spPr>
          <a:xfrm flipH="1">
            <a:off x="4362911" y="811661"/>
            <a:ext cx="48308" cy="4247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9FC73A1-4400-A915-96C6-43C5424D5800}"/>
              </a:ext>
            </a:extLst>
          </p:cNvPr>
          <p:cNvSpPr txBox="1"/>
          <p:nvPr/>
        </p:nvSpPr>
        <p:spPr>
          <a:xfrm>
            <a:off x="4006400" y="601000"/>
            <a:ext cx="15884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ターミナルにより接続が容易</a:t>
            </a: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2EFC8E79-8989-3A96-FEF9-86DD08691600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4795298" y="1140947"/>
            <a:ext cx="1770381" cy="1828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251CB51-066E-BB8F-4DD7-0ABE0DCFE5EE}"/>
              </a:ext>
            </a:extLst>
          </p:cNvPr>
          <p:cNvSpPr txBox="1"/>
          <p:nvPr/>
        </p:nvSpPr>
        <p:spPr>
          <a:xfrm>
            <a:off x="6565679" y="1017836"/>
            <a:ext cx="2109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>
                <a:solidFill>
                  <a:srgbClr val="FF0000"/>
                </a:solidFill>
                <a:latin typeface="+mj-ea"/>
                <a:ea typeface="+mj-ea"/>
              </a:rPr>
              <a:t>AC</a:t>
            </a:r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アダプタによる電源の供給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95A25232-DEA6-276D-6A98-4DEC60A50A68}"/>
              </a:ext>
            </a:extLst>
          </p:cNvPr>
          <p:cNvCxnSpPr>
            <a:cxnSpLocks/>
          </p:cNvCxnSpPr>
          <p:nvPr/>
        </p:nvCxnSpPr>
        <p:spPr>
          <a:xfrm flipH="1">
            <a:off x="6969269" y="3371888"/>
            <a:ext cx="598553" cy="334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653889C-67E6-360F-273F-53331A357951}"/>
              </a:ext>
            </a:extLst>
          </p:cNvPr>
          <p:cNvSpPr txBox="1"/>
          <p:nvPr/>
        </p:nvSpPr>
        <p:spPr>
          <a:xfrm>
            <a:off x="7528574" y="3249075"/>
            <a:ext cx="11461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十字棒を用いて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部品同士を連結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22978A94-0FC5-BFA5-45B6-E5F3F1FE71CD}"/>
              </a:ext>
            </a:extLst>
          </p:cNvPr>
          <p:cNvCxnSpPr>
            <a:cxnSpLocks/>
          </p:cNvCxnSpPr>
          <p:nvPr/>
        </p:nvCxnSpPr>
        <p:spPr>
          <a:xfrm flipH="1">
            <a:off x="7202331" y="3869170"/>
            <a:ext cx="326243" cy="1387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B8D0DBA4-A6B7-3911-A625-54E02A395638}"/>
              </a:ext>
            </a:extLst>
          </p:cNvPr>
          <p:cNvSpPr txBox="1"/>
          <p:nvPr/>
        </p:nvSpPr>
        <p:spPr>
          <a:xfrm>
            <a:off x="7492887" y="3622607"/>
            <a:ext cx="11461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FF0000"/>
                </a:solidFill>
                <a:latin typeface="+mj-ea"/>
                <a:ea typeface="+mj-ea"/>
              </a:rPr>
              <a:t>基板の投入方向をかく</a:t>
            </a:r>
            <a:endParaRPr lang="en-US" altLang="ja-JP" sz="1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43BA9996-C7A3-995E-B818-00B22B469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8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560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40" grpId="0"/>
      <p:bldP spid="149" grpId="0"/>
      <p:bldP spid="160" grpId="0"/>
      <p:bldP spid="172" grpId="0"/>
      <p:bldP spid="182" grpId="0"/>
      <p:bldP spid="197" grpId="0"/>
      <p:bldP spid="214" grpId="0"/>
      <p:bldP spid="232" grpId="0"/>
      <p:bldP spid="240" grpId="0"/>
      <p:bldP spid="247" grpId="0"/>
      <p:bldP spid="3" grpId="0"/>
      <p:bldP spid="9" grpId="0"/>
      <p:bldP spid="16" grpId="0"/>
      <p:bldP spid="25" grpId="0"/>
      <p:bldP spid="32" grpId="0"/>
      <p:bldP spid="40" grpId="0"/>
      <p:bldP spid="7" grpId="0"/>
      <p:bldP spid="18" grpId="0"/>
      <p:bldP spid="24" grpId="0"/>
      <p:bldP spid="49" grpId="0"/>
      <p:bldP spid="15" grpId="0"/>
      <p:bldP spid="56" grpId="0"/>
      <p:bldP spid="132" grpId="0"/>
      <p:bldP spid="22" grpId="0"/>
      <p:bldP spid="30" grpId="0"/>
      <p:bldP spid="43" grpId="0"/>
      <p:bldP spid="48" grpId="0"/>
      <p:bldP spid="55" grpId="0"/>
      <p:bldP spid="60" grpId="0"/>
      <p:bldP spid="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962FBB-B6BF-1748-0D51-40CC205015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Wingdings"/>
            </a:pPr>
            <a:r>
              <a:rPr lang="en-US" altLang="ja-JP" b="1">
                <a:solidFill>
                  <a:srgbClr val="000000"/>
                </a:solidFill>
              </a:rPr>
              <a:t>GUI</a:t>
            </a:r>
            <a:r>
              <a:rPr lang="ja-JP" altLang="en-US" b="1">
                <a:solidFill>
                  <a:srgbClr val="000000"/>
                </a:solidFill>
              </a:rPr>
              <a:t>モジュール</a:t>
            </a:r>
            <a:endParaRPr lang="en-US" altLang="ja-JP" b="1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  <a:buFont typeface="Meiryo UI" panose="020B0604030504040204" pitchFamily="50" charset="-128"/>
              <a:buChar char="○"/>
            </a:pPr>
            <a:r>
              <a:rPr lang="ja-JP" altLang="en-US" sz="1800">
                <a:solidFill>
                  <a:srgbClr val="000000"/>
                </a:solidFill>
              </a:rPr>
              <a:t>画面設計，実装</a:t>
            </a:r>
            <a:endParaRPr lang="en-US" altLang="ja-JP" sz="1800">
              <a:solidFill>
                <a:srgbClr val="000000"/>
              </a:solidFill>
            </a:endParaRPr>
          </a:p>
          <a:p>
            <a:pPr marL="0" indent="0">
              <a:buClr>
                <a:srgbClr val="000000"/>
              </a:buClr>
              <a:buNone/>
            </a:pPr>
            <a:endParaRPr lang="en-US" altLang="ja-JP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  <a:buFont typeface="Wingdings"/>
            </a:pPr>
            <a:endParaRPr lang="en-US" altLang="ja-JP">
              <a:solidFill>
                <a:srgbClr val="000000"/>
              </a:solidFill>
            </a:endParaRPr>
          </a:p>
          <a:p>
            <a:pPr marL="0" indent="0">
              <a:buNone/>
            </a:pPr>
            <a:endParaRPr kumimoji="1" lang="en-US" altLang="ja-JP"/>
          </a:p>
          <a:p>
            <a:pPr marL="0" indent="0">
              <a:buNone/>
            </a:pPr>
            <a:endParaRPr lang="ja-JP" altLang="en-US"/>
          </a:p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5CF2D0A-28C4-02D2-2693-540CD105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ソフトの紹介</a:t>
            </a:r>
            <a:r>
              <a:rPr lang="ja-JP" altLang="en-US"/>
              <a:t>（</a:t>
            </a:r>
            <a:r>
              <a:rPr lang="en-US" altLang="ja-JP"/>
              <a:t>GUI</a:t>
            </a:r>
            <a:r>
              <a:rPr lang="ja-JP" altLang="en-US"/>
              <a:t>）</a:t>
            </a:r>
            <a:endParaRPr kumimoji="1" lang="ja-JP" altLang="en-US"/>
          </a:p>
        </p:txBody>
      </p:sp>
      <p:pic>
        <p:nvPicPr>
          <p:cNvPr id="5" name="図 4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48030D9-9E3B-AD47-43F4-3EF128751D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4659" y="1683026"/>
            <a:ext cx="3706263" cy="29221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470E120-3DAB-A212-E23C-635156B77E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6682" y="1544918"/>
            <a:ext cx="4789225" cy="3674086"/>
          </a:xfrm>
          <a:prstGeom prst="rect">
            <a:avLst/>
          </a:prstGeom>
        </p:spPr>
      </p:pic>
      <p:sp>
        <p:nvSpPr>
          <p:cNvPr id="7" name="矢印: 左 6">
            <a:extLst>
              <a:ext uri="{FF2B5EF4-FFF2-40B4-BE49-F238E27FC236}">
                <a16:creationId xmlns:a16="http://schemas.microsoft.com/office/drawing/2014/main" id="{6E45C7D9-494F-D07F-EA69-EE99D2D32EF0}"/>
              </a:ext>
            </a:extLst>
          </p:cNvPr>
          <p:cNvSpPr/>
          <p:nvPr/>
        </p:nvSpPr>
        <p:spPr>
          <a:xfrm rot="10800000">
            <a:off x="4698939" y="3004503"/>
            <a:ext cx="617379" cy="352602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6A596466-867F-BD2E-0CCD-66151CA85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9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3831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EEDDC3-A2E0-F78C-AFA3-3BC34FCB09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rgbClr val="000000"/>
              </a:buClr>
              <a:buFont typeface="Wingdings"/>
            </a:pPr>
            <a:r>
              <a:rPr lang="en-US" altLang="ja-JP" b="1">
                <a:solidFill>
                  <a:srgbClr val="000000"/>
                </a:solidFill>
              </a:rPr>
              <a:t>GUI</a:t>
            </a:r>
            <a:r>
              <a:rPr lang="ja-JP" altLang="en-US" b="1">
                <a:solidFill>
                  <a:srgbClr val="000000"/>
                </a:solidFill>
              </a:rPr>
              <a:t>モジュール</a:t>
            </a:r>
            <a:endParaRPr lang="en-US" altLang="ja-JP" b="1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  <a:buFont typeface="Meiryo UI" panose="020B0604030504040204" pitchFamily="50" charset="-128"/>
              <a:buChar char="○"/>
            </a:pPr>
            <a:r>
              <a:rPr lang="ja-JP" altLang="en-US" sz="1800">
                <a:solidFill>
                  <a:srgbClr val="000000"/>
                </a:solidFill>
              </a:rPr>
              <a:t>ダイアログ設計，実装</a:t>
            </a:r>
            <a:endParaRPr lang="en-US" altLang="ja-JP" sz="18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anose="05000000000000000000" pitchFamily="2" charset="2"/>
              <a:buChar char="l"/>
            </a:pPr>
            <a:r>
              <a:rPr lang="ja-JP" altLang="en-US" sz="1600">
                <a:solidFill>
                  <a:srgbClr val="000000"/>
                </a:solidFill>
              </a:rPr>
              <a:t>場面に応じたダイアログを実装</a:t>
            </a:r>
            <a:endParaRPr lang="en-US" altLang="ja-JP" sz="16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anose="05000000000000000000" pitchFamily="2" charset="2"/>
              <a:buChar char="l"/>
            </a:pPr>
            <a:endParaRPr lang="en-US" altLang="ja-JP" sz="1600">
              <a:solidFill>
                <a:srgbClr val="000000"/>
              </a:solidFill>
            </a:endParaRPr>
          </a:p>
          <a:p>
            <a:pPr marL="0" indent="0">
              <a:buClr>
                <a:srgbClr val="000000"/>
              </a:buClr>
              <a:buNone/>
            </a:pPr>
            <a:endParaRPr lang="en-US" altLang="ja-JP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  <a:buFont typeface="Wingdings"/>
            </a:pPr>
            <a:endParaRPr lang="en-US" altLang="ja-JP">
              <a:solidFill>
                <a:srgbClr val="000000"/>
              </a:solidFill>
            </a:endParaRPr>
          </a:p>
          <a:p>
            <a:pPr marL="0" indent="0">
              <a:buNone/>
            </a:pPr>
            <a:endParaRPr kumimoji="1" lang="en-US" altLang="ja-JP"/>
          </a:p>
          <a:p>
            <a:pPr marL="0" indent="0">
              <a:buNone/>
            </a:pPr>
            <a:endParaRPr lang="ja-JP" altLang="en-US"/>
          </a:p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2B97128-278C-B179-9F2E-33A00839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</a:t>
            </a:r>
            <a:r>
              <a:rPr lang="en-US" altLang="ja-JP"/>
              <a:t>GUI</a:t>
            </a:r>
            <a:r>
              <a:rPr lang="ja-JP" altLang="en-US"/>
              <a:t>）</a:t>
            </a:r>
            <a:endParaRPr kumimoji="1" lang="ja-JP" altLang="en-US"/>
          </a:p>
        </p:txBody>
      </p:sp>
      <p:pic>
        <p:nvPicPr>
          <p:cNvPr id="5" name="図 4" descr="グラフィカル ユーザー インターフェイス, テキスト, アプリケーション, チャットまたはテキスト メッセージ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FBE26DF-1D74-999A-9008-6557F63D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31" y="1970989"/>
            <a:ext cx="1792245" cy="1351296"/>
          </a:xfrm>
          <a:prstGeom prst="rect">
            <a:avLst/>
          </a:prstGeom>
        </p:spPr>
      </p:pic>
      <p:pic>
        <p:nvPicPr>
          <p:cNvPr id="6" name="図 5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971274C-21EE-F93F-8EAF-CA712D252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82" y="3447669"/>
            <a:ext cx="1834942" cy="157044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986C2A1-5443-9075-68B8-9039FE36AF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18" y="2126887"/>
            <a:ext cx="6428693" cy="3089295"/>
          </a:xfrm>
          <a:prstGeom prst="rect">
            <a:avLst/>
          </a:prstGeom>
        </p:spPr>
      </p:pic>
      <p:sp>
        <p:nvSpPr>
          <p:cNvPr id="8" name="矢印: 左 7">
            <a:extLst>
              <a:ext uri="{FF2B5EF4-FFF2-40B4-BE49-F238E27FC236}">
                <a16:creationId xmlns:a16="http://schemas.microsoft.com/office/drawing/2014/main" id="{E55A0B72-8A5A-9C68-17F1-D7039E328AC7}"/>
              </a:ext>
            </a:extLst>
          </p:cNvPr>
          <p:cNvSpPr/>
          <p:nvPr/>
        </p:nvSpPr>
        <p:spPr>
          <a:xfrm rot="10800000">
            <a:off x="6390690" y="3145984"/>
            <a:ext cx="617379" cy="352602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89A899-7CA4-0CD1-9F39-828DD1CDE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10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984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7B495-69FC-0D52-85D6-2EEB9903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390CD1-90C7-8C8F-AB8C-040D58FDA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pPr>
              <a:buClr>
                <a:srgbClr val="000000"/>
              </a:buClr>
              <a:buFont typeface="Wingdings"/>
            </a:pPr>
            <a:r>
              <a:rPr lang="ja-JP" altLang="en-US" b="1">
                <a:solidFill>
                  <a:srgbClr val="000000"/>
                </a:solidFill>
              </a:rPr>
              <a:t>検査履歴保存用モジュール</a:t>
            </a:r>
            <a:endParaRPr lang="en-US" altLang="ja-JP" b="1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  <a:buFont typeface="Meiryo UI" panose="020B0604030504040204" pitchFamily="50" charset="-128"/>
              <a:buChar char="○"/>
            </a:pPr>
            <a:r>
              <a:rPr lang="en-US" altLang="ja-JP" sz="1800">
                <a:solidFill>
                  <a:srgbClr val="000000"/>
                </a:solidFill>
              </a:rPr>
              <a:t>Pandas</a:t>
            </a:r>
            <a:r>
              <a:rPr lang="ja-JP" altLang="en-US" sz="1800">
                <a:solidFill>
                  <a:srgbClr val="000000"/>
                </a:solidFill>
              </a:rPr>
              <a:t>の</a:t>
            </a:r>
            <a:r>
              <a:rPr lang="en-US" altLang="ja-JP" sz="1800" err="1">
                <a:solidFill>
                  <a:srgbClr val="000000"/>
                </a:solidFill>
              </a:rPr>
              <a:t>DataFrame</a:t>
            </a:r>
            <a:r>
              <a:rPr lang="ja-JP" altLang="en-US" sz="1800">
                <a:solidFill>
                  <a:srgbClr val="000000"/>
                </a:solidFill>
              </a:rPr>
              <a:t>を用いて検査履歴を作成</a:t>
            </a:r>
            <a:endParaRPr lang="en-US" altLang="ja-JP" sz="18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Wingdings" panose="05000000000000000000" pitchFamily="2" charset="2"/>
              <a:buChar char="l"/>
            </a:pPr>
            <a:r>
              <a:rPr lang="ja-JP" altLang="en-US" sz="1600">
                <a:solidFill>
                  <a:srgbClr val="000000"/>
                </a:solidFill>
              </a:rPr>
              <a:t>タイムスタンプ</a:t>
            </a:r>
            <a:endParaRPr lang="en-US" altLang="ja-JP" sz="16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Wingdings" panose="05000000000000000000" pitchFamily="2" charset="2"/>
              <a:buChar char="l"/>
            </a:pPr>
            <a:r>
              <a:rPr lang="ja-JP" altLang="en-US" sz="1600">
                <a:solidFill>
                  <a:srgbClr val="000000"/>
                </a:solidFill>
              </a:rPr>
              <a:t>検査結果（</a:t>
            </a:r>
            <a:r>
              <a:rPr lang="en-US" altLang="ja-JP" sz="1600">
                <a:solidFill>
                  <a:srgbClr val="000000"/>
                </a:solidFill>
              </a:rPr>
              <a:t>G</a:t>
            </a:r>
            <a:r>
              <a:rPr lang="ja-JP" altLang="en-US" sz="1600">
                <a:solidFill>
                  <a:srgbClr val="000000"/>
                </a:solidFill>
              </a:rPr>
              <a:t>：良品　　</a:t>
            </a:r>
            <a:r>
              <a:rPr lang="en-US" altLang="ja-JP" sz="1600">
                <a:solidFill>
                  <a:srgbClr val="000000"/>
                </a:solidFill>
              </a:rPr>
              <a:t>B</a:t>
            </a:r>
            <a:r>
              <a:rPr lang="ja-JP" altLang="en-US" sz="1600">
                <a:solidFill>
                  <a:srgbClr val="000000"/>
                </a:solidFill>
              </a:rPr>
              <a:t>：不良品　　</a:t>
            </a:r>
            <a:r>
              <a:rPr lang="en-US" altLang="ja-JP" sz="1600">
                <a:solidFill>
                  <a:srgbClr val="000000"/>
                </a:solidFill>
              </a:rPr>
              <a:t>R</a:t>
            </a:r>
            <a:r>
              <a:rPr lang="ja-JP" altLang="en-US" sz="1600">
                <a:solidFill>
                  <a:srgbClr val="000000"/>
                </a:solidFill>
              </a:rPr>
              <a:t>：基板登録）</a:t>
            </a:r>
            <a:endParaRPr lang="en-US" altLang="ja-JP" sz="16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Wingdings" panose="05000000000000000000" pitchFamily="2" charset="2"/>
              <a:buChar char="l"/>
            </a:pPr>
            <a:r>
              <a:rPr lang="ja-JP" altLang="en-US" sz="1600">
                <a:solidFill>
                  <a:srgbClr val="000000"/>
                </a:solidFill>
              </a:rPr>
              <a:t>欠陥の数</a:t>
            </a:r>
            <a:endParaRPr lang="en-US" altLang="ja-JP" sz="16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SzPct val="80000"/>
              <a:buFont typeface="Wingdings" panose="05000000000000000000" pitchFamily="2" charset="2"/>
              <a:buChar char="l"/>
            </a:pPr>
            <a:r>
              <a:rPr lang="ja-JP" altLang="en-US" sz="1600">
                <a:solidFill>
                  <a:srgbClr val="000000"/>
                </a:solidFill>
              </a:rPr>
              <a:t>欠陥の位置</a:t>
            </a:r>
            <a:endParaRPr lang="en-US" altLang="ja-JP" sz="160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  <a:buFont typeface="Meiryo UI" panose="020B0604030504040204" pitchFamily="50" charset="-128"/>
              <a:buChar char="○"/>
            </a:pPr>
            <a:r>
              <a:rPr kumimoji="1" lang="en-US" altLang="ja-JP" sz="1800">
                <a:solidFill>
                  <a:srgbClr val="000000"/>
                </a:solidFill>
              </a:rPr>
              <a:t>GUI</a:t>
            </a:r>
            <a:r>
              <a:rPr lang="ja-JP" altLang="en-US" sz="1800">
                <a:solidFill>
                  <a:srgbClr val="000000"/>
                </a:solidFill>
              </a:rPr>
              <a:t>に</a:t>
            </a:r>
            <a:r>
              <a:rPr kumimoji="1" lang="ja-JP" altLang="en-US" sz="1800">
                <a:solidFill>
                  <a:srgbClr val="000000"/>
                </a:solidFill>
              </a:rPr>
              <a:t>整形して表示</a:t>
            </a:r>
            <a:endParaRPr kumimoji="1" lang="en-US" altLang="ja-JP" sz="180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  <a:buFont typeface="Meiryo UI" panose="020B0604030504040204" pitchFamily="50" charset="-128"/>
              <a:buChar char="○"/>
            </a:pPr>
            <a:r>
              <a:rPr lang="en-US" altLang="ja-JP" sz="1800"/>
              <a:t>csv</a:t>
            </a:r>
            <a:r>
              <a:rPr lang="ja-JP" altLang="en-US" sz="1800"/>
              <a:t>で保存</a:t>
            </a:r>
            <a:endParaRPr kumimoji="1" lang="en-US" altLang="ja-JP" sz="1800"/>
          </a:p>
          <a:p>
            <a:pPr marL="0" indent="0">
              <a:buNone/>
            </a:pPr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99D50DD-4A18-0E0F-9446-0290C2D9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</a:t>
            </a:r>
            <a:r>
              <a:rPr lang="en-US" altLang="ja-JP"/>
              <a:t>GUI</a:t>
            </a:r>
            <a:r>
              <a:rPr lang="ja-JP" altLang="en-US"/>
              <a:t>）</a:t>
            </a:r>
            <a:endParaRPr kumimoji="1" lang="ja-JP" altLang="en-US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15861F9-E1D7-7528-0705-340A295F2B07}"/>
              </a:ext>
            </a:extLst>
          </p:cNvPr>
          <p:cNvGrpSpPr/>
          <p:nvPr/>
        </p:nvGrpSpPr>
        <p:grpSpPr>
          <a:xfrm>
            <a:off x="7270568" y="3806550"/>
            <a:ext cx="727876" cy="788233"/>
            <a:chOff x="2157595" y="4101456"/>
            <a:chExt cx="724957" cy="790074"/>
          </a:xfrm>
        </p:grpSpPr>
        <p:sp>
          <p:nvSpPr>
            <p:cNvPr id="10" name="四角形: 1 つの角を切り取る 9">
              <a:extLst>
                <a:ext uri="{FF2B5EF4-FFF2-40B4-BE49-F238E27FC236}">
                  <a16:creationId xmlns:a16="http://schemas.microsoft.com/office/drawing/2014/main" id="{2ABDC34F-9A88-BC87-6A5F-F1A069FAB7B4}"/>
                </a:ext>
              </a:extLst>
            </p:cNvPr>
            <p:cNvSpPr/>
            <p:nvPr/>
          </p:nvSpPr>
          <p:spPr>
            <a:xfrm>
              <a:off x="2288514" y="4101456"/>
              <a:ext cx="594038" cy="790074"/>
            </a:xfrm>
            <a:prstGeom prst="snip1Rect">
              <a:avLst>
                <a:gd name="adj" fmla="val 3905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6" name="フローチャート: 処理 15">
              <a:extLst>
                <a:ext uri="{FF2B5EF4-FFF2-40B4-BE49-F238E27FC236}">
                  <a16:creationId xmlns:a16="http://schemas.microsoft.com/office/drawing/2014/main" id="{F18F7001-47B5-E375-C205-0EEC6FD482D9}"/>
                </a:ext>
              </a:extLst>
            </p:cNvPr>
            <p:cNvSpPr/>
            <p:nvPr/>
          </p:nvSpPr>
          <p:spPr>
            <a:xfrm>
              <a:off x="2157595" y="4423392"/>
              <a:ext cx="483284" cy="244141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>
                  <a:solidFill>
                    <a:schemeClr val="bg1"/>
                  </a:solidFill>
                </a:rPr>
                <a:t>CSV</a:t>
              </a:r>
              <a:endParaRPr kumimoji="1" lang="ja-JP" altLang="en-US" sz="1400" b="1">
                <a:solidFill>
                  <a:schemeClr val="bg1"/>
                </a:solidFill>
              </a:endParaRPr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8273CBE-0970-22D4-DFD9-139BF0ACAA5C}"/>
                </a:ext>
              </a:extLst>
            </p:cNvPr>
            <p:cNvCxnSpPr>
              <a:cxnSpLocks/>
            </p:cNvCxnSpPr>
            <p:nvPr/>
          </p:nvCxnSpPr>
          <p:spPr>
            <a:xfrm>
              <a:off x="2649238" y="4101456"/>
              <a:ext cx="0" cy="2362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66D517B2-945B-D446-03AE-E8C57469EE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0879" y="4337676"/>
              <a:ext cx="241673" cy="19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9119401F-4210-5F8E-1A82-53573CDD4477}"/>
              </a:ext>
            </a:extLst>
          </p:cNvPr>
          <p:cNvGrpSpPr/>
          <p:nvPr/>
        </p:nvGrpSpPr>
        <p:grpSpPr>
          <a:xfrm>
            <a:off x="5352820" y="3808391"/>
            <a:ext cx="692736" cy="788233"/>
            <a:chOff x="2157595" y="4101456"/>
            <a:chExt cx="724957" cy="790074"/>
          </a:xfrm>
        </p:grpSpPr>
        <p:sp>
          <p:nvSpPr>
            <p:cNvPr id="40" name="四角形: 1 つの角を切り取る 39">
              <a:extLst>
                <a:ext uri="{FF2B5EF4-FFF2-40B4-BE49-F238E27FC236}">
                  <a16:creationId xmlns:a16="http://schemas.microsoft.com/office/drawing/2014/main" id="{6330D0E9-589F-C39A-B4BE-6985B07D3F02}"/>
                </a:ext>
              </a:extLst>
            </p:cNvPr>
            <p:cNvSpPr/>
            <p:nvPr/>
          </p:nvSpPr>
          <p:spPr>
            <a:xfrm>
              <a:off x="2288514" y="4101456"/>
              <a:ext cx="594038" cy="790074"/>
            </a:xfrm>
            <a:prstGeom prst="snip1Rect">
              <a:avLst>
                <a:gd name="adj" fmla="val 3905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41" name="フローチャート: 処理 40">
              <a:extLst>
                <a:ext uri="{FF2B5EF4-FFF2-40B4-BE49-F238E27FC236}">
                  <a16:creationId xmlns:a16="http://schemas.microsoft.com/office/drawing/2014/main" id="{2B0A45AA-2499-4269-ED81-87694D0F9BE5}"/>
                </a:ext>
              </a:extLst>
            </p:cNvPr>
            <p:cNvSpPr/>
            <p:nvPr/>
          </p:nvSpPr>
          <p:spPr>
            <a:xfrm>
              <a:off x="2157595" y="4423392"/>
              <a:ext cx="483284" cy="244141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err="1">
                  <a:solidFill>
                    <a:schemeClr val="bg1"/>
                  </a:solidFill>
                </a:rPr>
                <a:t>df</a:t>
              </a:r>
              <a:endParaRPr kumimoji="1" lang="ja-JP" altLang="en-US" sz="1400" b="1">
                <a:solidFill>
                  <a:schemeClr val="bg1"/>
                </a:solidFill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B26B72D2-7544-51E5-3FEE-8FD309986D4D}"/>
                </a:ext>
              </a:extLst>
            </p:cNvPr>
            <p:cNvCxnSpPr>
              <a:cxnSpLocks/>
            </p:cNvCxnSpPr>
            <p:nvPr/>
          </p:nvCxnSpPr>
          <p:spPr>
            <a:xfrm>
              <a:off x="2649238" y="4101456"/>
              <a:ext cx="0" cy="2362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E08E9C2E-661E-C200-833E-DC69679A2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0879" y="4337676"/>
              <a:ext cx="241673" cy="19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AA4FD633-92F5-126B-E08B-A2CA2CE42343}"/>
              </a:ext>
            </a:extLst>
          </p:cNvPr>
          <p:cNvGrpSpPr/>
          <p:nvPr/>
        </p:nvGrpSpPr>
        <p:grpSpPr>
          <a:xfrm>
            <a:off x="3203510" y="3808391"/>
            <a:ext cx="724957" cy="790074"/>
            <a:chOff x="2157595" y="4101456"/>
            <a:chExt cx="724957" cy="790074"/>
          </a:xfrm>
        </p:grpSpPr>
        <p:sp>
          <p:nvSpPr>
            <p:cNvPr id="48" name="四角形: 1 つの角を切り取る 47">
              <a:extLst>
                <a:ext uri="{FF2B5EF4-FFF2-40B4-BE49-F238E27FC236}">
                  <a16:creationId xmlns:a16="http://schemas.microsoft.com/office/drawing/2014/main" id="{CB8CF4D3-6006-E325-F759-59C7E2A1BBE0}"/>
                </a:ext>
              </a:extLst>
            </p:cNvPr>
            <p:cNvSpPr/>
            <p:nvPr/>
          </p:nvSpPr>
          <p:spPr>
            <a:xfrm>
              <a:off x="2288514" y="4101456"/>
              <a:ext cx="594038" cy="790074"/>
            </a:xfrm>
            <a:prstGeom prst="snip1Rect">
              <a:avLst>
                <a:gd name="adj" fmla="val 3905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49" name="フローチャート: 処理 48">
              <a:extLst>
                <a:ext uri="{FF2B5EF4-FFF2-40B4-BE49-F238E27FC236}">
                  <a16:creationId xmlns:a16="http://schemas.microsoft.com/office/drawing/2014/main" id="{F94CAAD0-95B7-8B89-70F6-4FE843AD6369}"/>
                </a:ext>
              </a:extLst>
            </p:cNvPr>
            <p:cNvSpPr/>
            <p:nvPr/>
          </p:nvSpPr>
          <p:spPr>
            <a:xfrm>
              <a:off x="2157595" y="4423392"/>
              <a:ext cx="483284" cy="244141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>
                  <a:solidFill>
                    <a:schemeClr val="bg1"/>
                  </a:solidFill>
                </a:rPr>
                <a:t>履歴</a:t>
              </a:r>
            </a:p>
          </p:txBody>
        </p: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48CC974F-B42C-BFC0-7C14-5FADDCE5642C}"/>
                </a:ext>
              </a:extLst>
            </p:cNvPr>
            <p:cNvCxnSpPr>
              <a:cxnSpLocks/>
            </p:cNvCxnSpPr>
            <p:nvPr/>
          </p:nvCxnSpPr>
          <p:spPr>
            <a:xfrm>
              <a:off x="2649238" y="4101456"/>
              <a:ext cx="0" cy="2362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A7EA0A0A-C5AD-72A9-5D7E-D81D029B5E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0879" y="4337676"/>
              <a:ext cx="241673" cy="19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矢印: 左 54">
            <a:extLst>
              <a:ext uri="{FF2B5EF4-FFF2-40B4-BE49-F238E27FC236}">
                <a16:creationId xmlns:a16="http://schemas.microsoft.com/office/drawing/2014/main" id="{9125E888-E33A-5AD8-EAF9-17DD62ADDAB2}"/>
              </a:ext>
            </a:extLst>
          </p:cNvPr>
          <p:cNvSpPr/>
          <p:nvPr/>
        </p:nvSpPr>
        <p:spPr>
          <a:xfrm>
            <a:off x="4282520" y="4053762"/>
            <a:ext cx="617379" cy="352602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54939A2-C17E-4FA0-17A9-E78A1FF20C04}"/>
              </a:ext>
            </a:extLst>
          </p:cNvPr>
          <p:cNvSpPr txBox="1"/>
          <p:nvPr/>
        </p:nvSpPr>
        <p:spPr>
          <a:xfrm>
            <a:off x="3369626" y="4629546"/>
            <a:ext cx="912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err="1">
                <a:latin typeface="+mn-lt"/>
                <a:ea typeface="+mn-ea"/>
              </a:rPr>
              <a:t>gui</a:t>
            </a:r>
            <a:endParaRPr kumimoji="1" lang="ja-JP" altLang="en-US" baseline="0">
              <a:latin typeface="+mn-lt"/>
              <a:ea typeface="+mn-ea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D10D562-2EFC-D2C4-0B13-6634855778D8}"/>
              </a:ext>
            </a:extLst>
          </p:cNvPr>
          <p:cNvSpPr txBox="1"/>
          <p:nvPr/>
        </p:nvSpPr>
        <p:spPr>
          <a:xfrm>
            <a:off x="5456312" y="4629546"/>
            <a:ext cx="912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baseline="0">
                <a:latin typeface="+mn-lt"/>
                <a:ea typeface="+mn-ea"/>
              </a:rPr>
              <a:t>data</a:t>
            </a:r>
            <a:endParaRPr kumimoji="1" lang="ja-JP" altLang="en-US" baseline="0">
              <a:latin typeface="+mn-lt"/>
              <a:ea typeface="+mn-ea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4154F9A-0393-C584-FFD2-EA8285FFBA81}"/>
              </a:ext>
            </a:extLst>
          </p:cNvPr>
          <p:cNvSpPr txBox="1"/>
          <p:nvPr/>
        </p:nvSpPr>
        <p:spPr>
          <a:xfrm>
            <a:off x="7402014" y="4655526"/>
            <a:ext cx="912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aseline="0">
                <a:latin typeface="+mn-lt"/>
                <a:ea typeface="+mn-ea"/>
              </a:rPr>
              <a:t>外部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90FC8C4B-1A7A-1D2C-B86F-A189522C8089}"/>
              </a:ext>
            </a:extLst>
          </p:cNvPr>
          <p:cNvSpPr txBox="1"/>
          <p:nvPr/>
        </p:nvSpPr>
        <p:spPr>
          <a:xfrm>
            <a:off x="4033358" y="3665931"/>
            <a:ext cx="1566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aseline="0">
                <a:latin typeface="+mn-lt"/>
                <a:ea typeface="+mn-ea"/>
              </a:rPr>
              <a:t>整形して表示</a:t>
            </a:r>
          </a:p>
        </p:txBody>
      </p:sp>
      <p:sp>
        <p:nvSpPr>
          <p:cNvPr id="60" name="矢印: 左 59">
            <a:extLst>
              <a:ext uri="{FF2B5EF4-FFF2-40B4-BE49-F238E27FC236}">
                <a16:creationId xmlns:a16="http://schemas.microsoft.com/office/drawing/2014/main" id="{931A1B33-B249-81BD-6701-CCACCF7C5BB4}"/>
              </a:ext>
            </a:extLst>
          </p:cNvPr>
          <p:cNvSpPr/>
          <p:nvPr/>
        </p:nvSpPr>
        <p:spPr>
          <a:xfrm rot="10800000">
            <a:off x="6414832" y="4027127"/>
            <a:ext cx="617379" cy="352602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BFA0D6B1-BBB6-8881-6DED-98858D249483}"/>
              </a:ext>
            </a:extLst>
          </p:cNvPr>
          <p:cNvSpPr txBox="1"/>
          <p:nvPr/>
        </p:nvSpPr>
        <p:spPr>
          <a:xfrm>
            <a:off x="6432133" y="3665931"/>
            <a:ext cx="1566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aseline="0">
                <a:latin typeface="+mn-lt"/>
                <a:ea typeface="+mn-ea"/>
              </a:rPr>
              <a:t>保存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626308F4-52F6-DD57-7FCA-6C87D23E421D}"/>
              </a:ext>
            </a:extLst>
          </p:cNvPr>
          <p:cNvSpPr/>
          <p:nvPr/>
        </p:nvSpPr>
        <p:spPr>
          <a:xfrm>
            <a:off x="4897688" y="2493389"/>
            <a:ext cx="1566311" cy="479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検査結果</a:t>
            </a:r>
          </a:p>
        </p:txBody>
      </p:sp>
      <p:sp>
        <p:nvSpPr>
          <p:cNvPr id="63" name="矢印: 左 62">
            <a:extLst>
              <a:ext uri="{FF2B5EF4-FFF2-40B4-BE49-F238E27FC236}">
                <a16:creationId xmlns:a16="http://schemas.microsoft.com/office/drawing/2014/main" id="{82DEDEDD-4EFF-E2C1-9A84-753250C4C514}"/>
              </a:ext>
            </a:extLst>
          </p:cNvPr>
          <p:cNvSpPr/>
          <p:nvPr/>
        </p:nvSpPr>
        <p:spPr>
          <a:xfrm rot="16200000">
            <a:off x="5427768" y="3218857"/>
            <a:ext cx="617379" cy="352602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116448-56F7-D372-AFE1-ED1156673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11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4046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C0BBF-E8D7-07E1-97C6-A6CEBD43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CF5DD91-407B-744E-9F87-515F8430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ソフトの紹介（画像処理）</a:t>
            </a:r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80009CE-9BA8-26E0-9229-F0D92869EA95}"/>
              </a:ext>
            </a:extLst>
          </p:cNvPr>
          <p:cNvSpPr/>
          <p:nvPr/>
        </p:nvSpPr>
        <p:spPr>
          <a:xfrm>
            <a:off x="175591" y="714067"/>
            <a:ext cx="2001079" cy="47178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</a:rPr>
              <a:t>画像の結合</a:t>
            </a: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4C4B45B9-C0DF-3A0E-4287-89C339CF7369}"/>
              </a:ext>
            </a:extLst>
          </p:cNvPr>
          <p:cNvGrpSpPr/>
          <p:nvPr/>
        </p:nvGrpSpPr>
        <p:grpSpPr>
          <a:xfrm>
            <a:off x="622854" y="1354082"/>
            <a:ext cx="3107632" cy="1217668"/>
            <a:chOff x="629481" y="1491133"/>
            <a:chExt cx="3107632" cy="1217668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1F03E4F8-C7ED-B23F-6145-DA70C709567F}"/>
                </a:ext>
              </a:extLst>
            </p:cNvPr>
            <p:cNvGrpSpPr/>
            <p:nvPr/>
          </p:nvGrpSpPr>
          <p:grpSpPr>
            <a:xfrm>
              <a:off x="629481" y="1491133"/>
              <a:ext cx="887893" cy="1217668"/>
              <a:chOff x="2908855" y="1804656"/>
              <a:chExt cx="1437860" cy="1860138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E88782CE-4618-F59B-ED43-580F04B39185}"/>
                  </a:ext>
                </a:extLst>
              </p:cNvPr>
              <p:cNvSpPr/>
              <p:nvPr/>
            </p:nvSpPr>
            <p:spPr>
              <a:xfrm>
                <a:off x="3120889" y="2544987"/>
                <a:ext cx="1013791" cy="111980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3DF2801-0859-95EF-BF89-ADB24193130C}"/>
                  </a:ext>
                </a:extLst>
              </p:cNvPr>
              <p:cNvSpPr/>
              <p:nvPr/>
            </p:nvSpPr>
            <p:spPr>
              <a:xfrm>
                <a:off x="2908855" y="1804656"/>
                <a:ext cx="1437860" cy="1860138"/>
              </a:xfrm>
              <a:prstGeom prst="rect">
                <a:avLst/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矢印: 右 10">
              <a:extLst>
                <a:ext uri="{FF2B5EF4-FFF2-40B4-BE49-F238E27FC236}">
                  <a16:creationId xmlns:a16="http://schemas.microsoft.com/office/drawing/2014/main" id="{981595DD-D000-D5AC-78EF-DC7E7F530C5D}"/>
                </a:ext>
              </a:extLst>
            </p:cNvPr>
            <p:cNvSpPr/>
            <p:nvPr/>
          </p:nvSpPr>
          <p:spPr>
            <a:xfrm>
              <a:off x="1842052" y="1924838"/>
              <a:ext cx="808383" cy="417443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07CB4A1-0A19-944D-B15C-F1A7D798529E}"/>
                </a:ext>
              </a:extLst>
            </p:cNvPr>
            <p:cNvSpPr/>
            <p:nvPr/>
          </p:nvSpPr>
          <p:spPr>
            <a:xfrm>
              <a:off x="2980153" y="1975763"/>
              <a:ext cx="626026" cy="34083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F021529E-8B63-0BAB-F4FC-AB7120F6D9DA}"/>
                </a:ext>
              </a:extLst>
            </p:cNvPr>
            <p:cNvSpPr/>
            <p:nvPr/>
          </p:nvSpPr>
          <p:spPr>
            <a:xfrm>
              <a:off x="2849220" y="1899149"/>
              <a:ext cx="887893" cy="41744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5877166F-1DB9-893D-BCF2-7C38FD9DD0F6}"/>
                </a:ext>
              </a:extLst>
            </p:cNvPr>
            <p:cNvCxnSpPr/>
            <p:nvPr/>
          </p:nvCxnSpPr>
          <p:spPr>
            <a:xfrm flipH="1">
              <a:off x="629481" y="2316592"/>
              <a:ext cx="887893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41B2CFD0-0768-8F79-1991-213AFBA66B85}"/>
                </a:ext>
              </a:extLst>
            </p:cNvPr>
            <p:cNvCxnSpPr/>
            <p:nvPr/>
          </p:nvCxnSpPr>
          <p:spPr>
            <a:xfrm flipH="1">
              <a:off x="629481" y="1899149"/>
              <a:ext cx="887893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5A62803-CBFB-C0CA-BBDF-A8368F9EEF92}"/>
              </a:ext>
            </a:extLst>
          </p:cNvPr>
          <p:cNvGrpSpPr/>
          <p:nvPr/>
        </p:nvGrpSpPr>
        <p:grpSpPr>
          <a:xfrm>
            <a:off x="622854" y="2928883"/>
            <a:ext cx="3107632" cy="1217668"/>
            <a:chOff x="629481" y="1491133"/>
            <a:chExt cx="3107632" cy="1217668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428109D8-08AD-F206-4940-C36C3816D385}"/>
                </a:ext>
              </a:extLst>
            </p:cNvPr>
            <p:cNvGrpSpPr/>
            <p:nvPr/>
          </p:nvGrpSpPr>
          <p:grpSpPr>
            <a:xfrm>
              <a:off x="629481" y="1491133"/>
              <a:ext cx="887893" cy="1217668"/>
              <a:chOff x="2908855" y="1804656"/>
              <a:chExt cx="1437860" cy="1860138"/>
            </a:xfrm>
          </p:grpSpPr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42CA9E1F-23C0-5026-A520-23A1217D82BF}"/>
                  </a:ext>
                </a:extLst>
              </p:cNvPr>
              <p:cNvSpPr/>
              <p:nvPr/>
            </p:nvSpPr>
            <p:spPr>
              <a:xfrm>
                <a:off x="3120889" y="2122431"/>
                <a:ext cx="1013791" cy="135805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898558A3-1A5A-277C-D8E3-9539AED572CC}"/>
                  </a:ext>
                </a:extLst>
              </p:cNvPr>
              <p:cNvSpPr/>
              <p:nvPr/>
            </p:nvSpPr>
            <p:spPr>
              <a:xfrm>
                <a:off x="2908855" y="1804656"/>
                <a:ext cx="1437860" cy="1860138"/>
              </a:xfrm>
              <a:prstGeom prst="rect">
                <a:avLst/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矢印: 右 34">
              <a:extLst>
                <a:ext uri="{FF2B5EF4-FFF2-40B4-BE49-F238E27FC236}">
                  <a16:creationId xmlns:a16="http://schemas.microsoft.com/office/drawing/2014/main" id="{D65AC766-B2E9-231D-653B-61BA05199068}"/>
                </a:ext>
              </a:extLst>
            </p:cNvPr>
            <p:cNvSpPr/>
            <p:nvPr/>
          </p:nvSpPr>
          <p:spPr>
            <a:xfrm>
              <a:off x="1842052" y="1924838"/>
              <a:ext cx="808383" cy="417443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D0B5CA9A-A51B-94E4-6891-75DB684CF299}"/>
                </a:ext>
              </a:extLst>
            </p:cNvPr>
            <p:cNvSpPr/>
            <p:nvPr/>
          </p:nvSpPr>
          <p:spPr>
            <a:xfrm>
              <a:off x="2980153" y="1899148"/>
              <a:ext cx="626026" cy="41744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B3E90B9B-127F-C388-9869-3A2874FF6084}"/>
                </a:ext>
              </a:extLst>
            </p:cNvPr>
            <p:cNvSpPr/>
            <p:nvPr/>
          </p:nvSpPr>
          <p:spPr>
            <a:xfrm>
              <a:off x="2849220" y="1899149"/>
              <a:ext cx="887893" cy="41744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445F114C-FC0B-E839-B35D-8A38EBC29614}"/>
                </a:ext>
              </a:extLst>
            </p:cNvPr>
            <p:cNvCxnSpPr/>
            <p:nvPr/>
          </p:nvCxnSpPr>
          <p:spPr>
            <a:xfrm flipH="1">
              <a:off x="629481" y="2316592"/>
              <a:ext cx="887893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F17BDD82-9238-744E-B45A-F6D94967EB4B}"/>
                </a:ext>
              </a:extLst>
            </p:cNvPr>
            <p:cNvCxnSpPr/>
            <p:nvPr/>
          </p:nvCxnSpPr>
          <p:spPr>
            <a:xfrm flipH="1">
              <a:off x="629481" y="1899149"/>
              <a:ext cx="887893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F8F54EB-F562-D8F1-36FB-A0F56B9D5F79}"/>
              </a:ext>
            </a:extLst>
          </p:cNvPr>
          <p:cNvSpPr txBox="1"/>
          <p:nvPr/>
        </p:nvSpPr>
        <p:spPr>
          <a:xfrm rot="5400000">
            <a:off x="1799349" y="4273878"/>
            <a:ext cx="880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baseline="0">
                <a:latin typeface="+mn-lt"/>
                <a:ea typeface="+mn-ea"/>
              </a:rPr>
              <a:t>・・・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B7E6F90-A176-93FC-76B5-9FFE2CD1D4FD}"/>
              </a:ext>
            </a:extLst>
          </p:cNvPr>
          <p:cNvSpPr txBox="1"/>
          <p:nvPr/>
        </p:nvSpPr>
        <p:spPr>
          <a:xfrm>
            <a:off x="1634222" y="2938271"/>
            <a:ext cx="1500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上下クリップ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D51FA3C9-831D-41AB-440D-B361C92E506E}"/>
              </a:ext>
            </a:extLst>
          </p:cNvPr>
          <p:cNvSpPr txBox="1"/>
          <p:nvPr/>
        </p:nvSpPr>
        <p:spPr>
          <a:xfrm>
            <a:off x="1634222" y="1441888"/>
            <a:ext cx="1500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上下クリップ</a:t>
            </a:r>
          </a:p>
        </p:txBody>
      </p:sp>
      <p:sp>
        <p:nvSpPr>
          <p:cNvPr id="54" name="右中かっこ 53">
            <a:extLst>
              <a:ext uri="{FF2B5EF4-FFF2-40B4-BE49-F238E27FC236}">
                <a16:creationId xmlns:a16="http://schemas.microsoft.com/office/drawing/2014/main" id="{6C799B68-31D1-B486-CA4C-E55FEB35A703}"/>
              </a:ext>
            </a:extLst>
          </p:cNvPr>
          <p:cNvSpPr/>
          <p:nvPr/>
        </p:nvSpPr>
        <p:spPr>
          <a:xfrm>
            <a:off x="3647239" y="1112104"/>
            <a:ext cx="633531" cy="3863651"/>
          </a:xfrm>
          <a:prstGeom prst="rightBrace">
            <a:avLst>
              <a:gd name="adj1" fmla="val 8333"/>
              <a:gd name="adj2" fmla="val 12035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89590B7D-6EED-5865-A589-9C22B38F8D1B}"/>
              </a:ext>
            </a:extLst>
          </p:cNvPr>
          <p:cNvSpPr txBox="1"/>
          <p:nvPr/>
        </p:nvSpPr>
        <p:spPr>
          <a:xfrm>
            <a:off x="3592209" y="702214"/>
            <a:ext cx="688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結合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F5C0D740-BC9C-B1D3-E128-BD32A29F4C2F}"/>
              </a:ext>
            </a:extLst>
          </p:cNvPr>
          <p:cNvSpPr txBox="1"/>
          <p:nvPr/>
        </p:nvSpPr>
        <p:spPr>
          <a:xfrm>
            <a:off x="546512" y="2583666"/>
            <a:ext cx="1500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aseline="0">
                <a:latin typeface="+mn-lt"/>
                <a:ea typeface="+mn-ea"/>
              </a:rPr>
              <a:t>撮影画像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E0F3489C-F08F-116E-6D31-F07E1B1BE631}"/>
              </a:ext>
            </a:extLst>
          </p:cNvPr>
          <p:cNvSpPr txBox="1"/>
          <p:nvPr/>
        </p:nvSpPr>
        <p:spPr>
          <a:xfrm>
            <a:off x="546512" y="4146551"/>
            <a:ext cx="1500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aseline="0">
                <a:latin typeface="+mn-lt"/>
                <a:ea typeface="+mn-ea"/>
              </a:rPr>
              <a:t>撮影画像</a:t>
            </a:r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E686AA24-B114-F482-E8B2-45625D76FBFF}"/>
              </a:ext>
            </a:extLst>
          </p:cNvPr>
          <p:cNvGrpSpPr/>
          <p:nvPr/>
        </p:nvGrpSpPr>
        <p:grpSpPr>
          <a:xfrm>
            <a:off x="4550296" y="1000680"/>
            <a:ext cx="887893" cy="1251748"/>
            <a:chOff x="4644424" y="1024444"/>
            <a:chExt cx="887893" cy="1251748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FE77E431-7949-F1D8-22EF-8BF18243D63A}"/>
                </a:ext>
              </a:extLst>
            </p:cNvPr>
            <p:cNvSpPr/>
            <p:nvPr/>
          </p:nvSpPr>
          <p:spPr>
            <a:xfrm>
              <a:off x="4775357" y="1101058"/>
              <a:ext cx="626026" cy="34083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DCC81FAA-9379-62EB-AB52-CC07487555E8}"/>
                </a:ext>
              </a:extLst>
            </p:cNvPr>
            <p:cNvSpPr/>
            <p:nvPr/>
          </p:nvSpPr>
          <p:spPr>
            <a:xfrm>
              <a:off x="4644424" y="1024444"/>
              <a:ext cx="887893" cy="41744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69C902AE-0F92-1F13-36D0-0CC3B39916B6}"/>
                </a:ext>
              </a:extLst>
            </p:cNvPr>
            <p:cNvSpPr/>
            <p:nvPr/>
          </p:nvSpPr>
          <p:spPr>
            <a:xfrm>
              <a:off x="4775357" y="1440317"/>
              <a:ext cx="626026" cy="41744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E17F7633-19BB-3945-4908-3D80A96D14A1}"/>
                </a:ext>
              </a:extLst>
            </p:cNvPr>
            <p:cNvSpPr/>
            <p:nvPr/>
          </p:nvSpPr>
          <p:spPr>
            <a:xfrm>
              <a:off x="4644424" y="1440317"/>
              <a:ext cx="887893" cy="41744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1B0AE8DB-577F-BD0A-7AE0-D132787D27CE}"/>
                </a:ext>
              </a:extLst>
            </p:cNvPr>
            <p:cNvSpPr/>
            <p:nvPr/>
          </p:nvSpPr>
          <p:spPr>
            <a:xfrm>
              <a:off x="4775357" y="1864400"/>
              <a:ext cx="626026" cy="34083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C415D38A-BE34-B590-9615-6E08654E4165}"/>
                </a:ext>
              </a:extLst>
            </p:cNvPr>
            <p:cNvSpPr/>
            <p:nvPr/>
          </p:nvSpPr>
          <p:spPr>
            <a:xfrm>
              <a:off x="4644424" y="1858749"/>
              <a:ext cx="887893" cy="417443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34A7B65-7FF4-0ADD-2E5E-BAFFD307BD78}"/>
              </a:ext>
            </a:extLst>
          </p:cNvPr>
          <p:cNvSpPr txBox="1"/>
          <p:nvPr/>
        </p:nvSpPr>
        <p:spPr>
          <a:xfrm>
            <a:off x="4167220" y="3695216"/>
            <a:ext cx="45000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u="sng" baseline="0">
                <a:latin typeface="+mn-lt"/>
                <a:ea typeface="+mn-ea"/>
              </a:rPr>
              <a:t>結合することによるメリット</a:t>
            </a:r>
            <a:endParaRPr kumimoji="1" lang="en-US" altLang="ja-JP" b="1" u="sng" baseline="0">
              <a:latin typeface="+mn-lt"/>
              <a:ea typeface="+mn-ea"/>
            </a:endParaRPr>
          </a:p>
          <a:p>
            <a:pPr algn="l"/>
            <a:r>
              <a:rPr kumimoji="1" lang="ja-JP" altLang="en-US" b="1" baseline="0">
                <a:latin typeface="+mn-lt"/>
                <a:ea typeface="+mn-ea"/>
              </a:rPr>
              <a:t>　→</a:t>
            </a:r>
            <a:r>
              <a:rPr kumimoji="1" lang="en-US" altLang="ja-JP" b="1" baseline="0">
                <a:latin typeface="+mn-lt"/>
                <a:ea typeface="+mn-ea"/>
              </a:rPr>
              <a:t>1</a:t>
            </a:r>
            <a:r>
              <a:rPr kumimoji="1" lang="ja-JP" altLang="en-US" b="1" baseline="0">
                <a:latin typeface="+mn-lt"/>
                <a:ea typeface="+mn-ea"/>
              </a:rPr>
              <a:t>回分で全体を撮影するよりも</a:t>
            </a:r>
            <a:r>
              <a:rPr kumimoji="1" lang="ja-JP" altLang="en-US" b="1" baseline="0">
                <a:solidFill>
                  <a:srgbClr val="FF0000"/>
                </a:solidFill>
                <a:latin typeface="+mn-lt"/>
                <a:ea typeface="+mn-ea"/>
              </a:rPr>
              <a:t>画質がよい</a:t>
            </a:r>
            <a:endParaRPr kumimoji="1" lang="en-US" altLang="ja-JP" b="1" baseline="0">
              <a:solidFill>
                <a:srgbClr val="FF0000"/>
              </a:solidFill>
              <a:latin typeface="+mn-lt"/>
              <a:ea typeface="+mn-ea"/>
            </a:endParaRPr>
          </a:p>
          <a:p>
            <a:pPr algn="l"/>
            <a:r>
              <a:rPr lang="ja-JP" altLang="en-US" b="1">
                <a:solidFill>
                  <a:srgbClr val="FF0000"/>
                </a:solidFill>
                <a:latin typeface="+mn-lt"/>
                <a:ea typeface="+mn-ea"/>
              </a:rPr>
              <a:t>　　</a:t>
            </a:r>
            <a:r>
              <a:rPr lang="ja-JP" altLang="en-US" b="1">
                <a:latin typeface="+mn-lt"/>
                <a:ea typeface="+mn-ea"/>
              </a:rPr>
              <a:t>（約</a:t>
            </a:r>
            <a:r>
              <a:rPr lang="en-US" altLang="ja-JP" b="1">
                <a:latin typeface="+mn-lt"/>
                <a:ea typeface="+mn-ea"/>
              </a:rPr>
              <a:t>2300×720</a:t>
            </a:r>
            <a:r>
              <a:rPr lang="ja-JP" altLang="en-US" b="1">
                <a:latin typeface="+mn-lt"/>
                <a:ea typeface="+mn-ea"/>
              </a:rPr>
              <a:t>画素まで拡張可能）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lang="ja-JP" altLang="en-US" b="1">
                <a:latin typeface="+mn-lt"/>
                <a:ea typeface="+mn-ea"/>
              </a:rPr>
              <a:t>　→外光が当たる部分（画像上下部）を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 b="1">
                <a:latin typeface="+mn-lt"/>
                <a:ea typeface="+mn-ea"/>
              </a:rPr>
              <a:t>　　除去できる</a:t>
            </a:r>
            <a:endParaRPr kumimoji="1" lang="ja-JP" altLang="en-US" b="1" baseline="0">
              <a:latin typeface="+mn-lt"/>
              <a:ea typeface="+mn-ea"/>
            </a:endParaRPr>
          </a:p>
        </p:txBody>
      </p:sp>
      <p:pic>
        <p:nvPicPr>
          <p:cNvPr id="73" name="図 72">
            <a:extLst>
              <a:ext uri="{FF2B5EF4-FFF2-40B4-BE49-F238E27FC236}">
                <a16:creationId xmlns:a16="http://schemas.microsoft.com/office/drawing/2014/main" id="{35DD8208-AA5C-FD6A-F361-4E76215C1C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196" y="677746"/>
            <a:ext cx="2214627" cy="3003589"/>
          </a:xfrm>
          <a:prstGeom prst="rect">
            <a:avLst/>
          </a:prstGeom>
        </p:spPr>
      </p:pic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DFB770D5-1A05-CB2F-9997-F788CAD61A9A}"/>
              </a:ext>
            </a:extLst>
          </p:cNvPr>
          <p:cNvSpPr txBox="1"/>
          <p:nvPr/>
        </p:nvSpPr>
        <p:spPr>
          <a:xfrm>
            <a:off x="4371247" y="2967566"/>
            <a:ext cx="210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実際の結合画像 →</a:t>
            </a:r>
            <a:endParaRPr kumimoji="1" lang="en-US" altLang="ja-JP" b="1" baseline="0">
              <a:latin typeface="+mn-lt"/>
              <a:ea typeface="+mn-ea"/>
            </a:endParaRP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B2183D7-8A09-CE62-DA71-C9DE81B02C55}"/>
              </a:ext>
            </a:extLst>
          </p:cNvPr>
          <p:cNvCxnSpPr/>
          <p:nvPr/>
        </p:nvCxnSpPr>
        <p:spPr>
          <a:xfrm flipH="1">
            <a:off x="622854" y="1354082"/>
            <a:ext cx="887893" cy="4080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D319849-EA8E-6BCC-7F5A-214420002E36}"/>
              </a:ext>
            </a:extLst>
          </p:cNvPr>
          <p:cNvCxnSpPr>
            <a:cxnSpLocks/>
          </p:cNvCxnSpPr>
          <p:nvPr/>
        </p:nvCxnSpPr>
        <p:spPr>
          <a:xfrm flipH="1">
            <a:off x="622854" y="2205230"/>
            <a:ext cx="882853" cy="3570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3A37D818-B698-DD91-6040-5FFD3AFC9052}"/>
              </a:ext>
            </a:extLst>
          </p:cNvPr>
          <p:cNvCxnSpPr/>
          <p:nvPr/>
        </p:nvCxnSpPr>
        <p:spPr>
          <a:xfrm flipH="1">
            <a:off x="622854" y="2928842"/>
            <a:ext cx="887893" cy="4080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36AF5D2D-9763-2E54-C581-F6D29B4909BA}"/>
              </a:ext>
            </a:extLst>
          </p:cNvPr>
          <p:cNvCxnSpPr>
            <a:cxnSpLocks/>
          </p:cNvCxnSpPr>
          <p:nvPr/>
        </p:nvCxnSpPr>
        <p:spPr>
          <a:xfrm flipH="1">
            <a:off x="622854" y="3779990"/>
            <a:ext cx="882853" cy="3570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38F943EB-A99F-B689-3C98-F78694FC51D8}"/>
              </a:ext>
            </a:extLst>
          </p:cNvPr>
          <p:cNvCxnSpPr>
            <a:cxnSpLocks/>
          </p:cNvCxnSpPr>
          <p:nvPr/>
        </p:nvCxnSpPr>
        <p:spPr>
          <a:xfrm>
            <a:off x="627893" y="1363368"/>
            <a:ext cx="854412" cy="3770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EEF997EA-C365-118B-9BBF-7A3E73A4514D}"/>
              </a:ext>
            </a:extLst>
          </p:cNvPr>
          <p:cNvCxnSpPr>
            <a:cxnSpLocks/>
          </p:cNvCxnSpPr>
          <p:nvPr/>
        </p:nvCxnSpPr>
        <p:spPr>
          <a:xfrm>
            <a:off x="627893" y="2183290"/>
            <a:ext cx="854412" cy="3770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4ED5BB6F-5593-7B5E-38DD-9A64F1D57146}"/>
              </a:ext>
            </a:extLst>
          </p:cNvPr>
          <p:cNvCxnSpPr>
            <a:cxnSpLocks/>
          </p:cNvCxnSpPr>
          <p:nvPr/>
        </p:nvCxnSpPr>
        <p:spPr>
          <a:xfrm>
            <a:off x="627893" y="2937924"/>
            <a:ext cx="854412" cy="3770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485C56AA-9BB9-B1A9-C67F-5DBF0A90505D}"/>
              </a:ext>
            </a:extLst>
          </p:cNvPr>
          <p:cNvCxnSpPr>
            <a:cxnSpLocks/>
          </p:cNvCxnSpPr>
          <p:nvPr/>
        </p:nvCxnSpPr>
        <p:spPr>
          <a:xfrm>
            <a:off x="627893" y="3757846"/>
            <a:ext cx="854412" cy="3770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468B6CD-8A5D-416A-9BF3-2D928AB1E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12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74045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D1F5B-975B-C19D-76C5-943F7ADA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4FF0D021-FDC8-1669-5539-C9460FEF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ソフトの紹介（画像処理）</a:t>
            </a:r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3D34594-EBD9-AE0C-5B18-C4B89B95517B}"/>
              </a:ext>
            </a:extLst>
          </p:cNvPr>
          <p:cNvSpPr/>
          <p:nvPr/>
        </p:nvSpPr>
        <p:spPr>
          <a:xfrm>
            <a:off x="175591" y="714067"/>
            <a:ext cx="2001079" cy="47178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bg1"/>
                </a:solidFill>
              </a:rPr>
              <a:t>基板検査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7D897B-DF22-E56D-8D91-50DF8FB9F6C6}"/>
              </a:ext>
            </a:extLst>
          </p:cNvPr>
          <p:cNvSpPr txBox="1"/>
          <p:nvPr/>
        </p:nvSpPr>
        <p:spPr>
          <a:xfrm>
            <a:off x="175591" y="1289050"/>
            <a:ext cx="2901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１．撮影画像の明るさ補正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lang="ja-JP" altLang="en-US" b="1">
                <a:latin typeface="+mn-lt"/>
                <a:ea typeface="+mn-ea"/>
              </a:rPr>
              <a:t>２．</a:t>
            </a:r>
            <a:r>
              <a:rPr lang="en-US" altLang="ja-JP" b="1">
                <a:latin typeface="+mn-lt"/>
                <a:ea typeface="+mn-ea"/>
              </a:rPr>
              <a:t>Affine</a:t>
            </a:r>
            <a:r>
              <a:rPr lang="ja-JP" altLang="en-US" b="1">
                <a:latin typeface="+mn-lt"/>
                <a:ea typeface="+mn-ea"/>
              </a:rPr>
              <a:t>変換</a:t>
            </a:r>
            <a:endParaRPr kumimoji="1" lang="ja-JP" altLang="en-US" b="1" baseline="0">
              <a:latin typeface="+mn-lt"/>
              <a:ea typeface="+mn-ea"/>
            </a:endParaRPr>
          </a:p>
        </p:txBody>
      </p:sp>
      <p:pic>
        <p:nvPicPr>
          <p:cNvPr id="14" name="図 13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6FCD1E4B-708D-0755-1DD4-8EE1ED55DC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628" y="2062567"/>
            <a:ext cx="2027875" cy="2750306"/>
          </a:xfrm>
          <a:prstGeom prst="rect">
            <a:avLst/>
          </a:prstGeom>
        </p:spPr>
      </p:pic>
      <p:pic>
        <p:nvPicPr>
          <p:cNvPr id="16" name="図 15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B695867E-7C48-18FF-7E85-D04F59E6E6F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8062" y="2039951"/>
            <a:ext cx="2027876" cy="2750306"/>
          </a:xfrm>
          <a:prstGeom prst="rect">
            <a:avLst/>
          </a:prstGeom>
        </p:spPr>
      </p:pic>
      <p:sp>
        <p:nvSpPr>
          <p:cNvPr id="17" name="矢印: 右 16">
            <a:extLst>
              <a:ext uri="{FF2B5EF4-FFF2-40B4-BE49-F238E27FC236}">
                <a16:creationId xmlns:a16="http://schemas.microsoft.com/office/drawing/2014/main" id="{ED499AD8-BEC4-673E-AFF1-CE5B4E7BEA0C}"/>
              </a:ext>
            </a:extLst>
          </p:cNvPr>
          <p:cNvSpPr/>
          <p:nvPr/>
        </p:nvSpPr>
        <p:spPr>
          <a:xfrm>
            <a:off x="2951726" y="2931710"/>
            <a:ext cx="354181" cy="101202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8B5A4C77-C8AE-20E9-D4FB-0A46F428DC67}"/>
              </a:ext>
            </a:extLst>
          </p:cNvPr>
          <p:cNvSpPr/>
          <p:nvPr/>
        </p:nvSpPr>
        <p:spPr>
          <a:xfrm>
            <a:off x="5990791" y="2931710"/>
            <a:ext cx="354181" cy="101202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294643-C959-1FB4-3E02-9DCA81EF265D}"/>
              </a:ext>
            </a:extLst>
          </p:cNvPr>
          <p:cNvSpPr txBox="1"/>
          <p:nvPr/>
        </p:nvSpPr>
        <p:spPr>
          <a:xfrm>
            <a:off x="3828256" y="1693235"/>
            <a:ext cx="148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b="1" baseline="0">
                <a:latin typeface="+mn-lt"/>
                <a:ea typeface="+mn-ea"/>
              </a:rPr>
              <a:t>明るさ補正後</a:t>
            </a:r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05C7450-895C-CBEA-76DB-C082B82316B1}"/>
              </a:ext>
            </a:extLst>
          </p:cNvPr>
          <p:cNvSpPr txBox="1"/>
          <p:nvPr/>
        </p:nvSpPr>
        <p:spPr>
          <a:xfrm>
            <a:off x="6773691" y="1693235"/>
            <a:ext cx="148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baseline="0">
                <a:latin typeface="+mn-lt"/>
                <a:ea typeface="+mn-ea"/>
              </a:rPr>
              <a:t>Affine</a:t>
            </a:r>
            <a:r>
              <a:rPr kumimoji="1" lang="ja-JP" altLang="en-US" b="1" baseline="0">
                <a:latin typeface="+mn-lt"/>
                <a:ea typeface="+mn-ea"/>
              </a:rPr>
              <a:t>変換後</a:t>
            </a:r>
            <a:endParaRPr lang="ja-JP" altLang="en-US"/>
          </a:p>
        </p:txBody>
      </p:sp>
      <p:pic>
        <p:nvPicPr>
          <p:cNvPr id="28" name="図 27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73D80A42-1A55-686F-0EB6-7DEA332A04B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043" y="2039951"/>
            <a:ext cx="1757681" cy="282531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DEFB54-F903-A6DA-6BBF-F158B2879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13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8517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4823A-4671-FE30-6D0E-638EE916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F6D0F2AF-391E-CADE-CCF8-9411748ED5EC}"/>
              </a:ext>
            </a:extLst>
          </p:cNvPr>
          <p:cNvGrpSpPr/>
          <p:nvPr/>
        </p:nvGrpSpPr>
        <p:grpSpPr>
          <a:xfrm>
            <a:off x="69422" y="3202675"/>
            <a:ext cx="1289050" cy="1841500"/>
            <a:chOff x="531605" y="3202675"/>
            <a:chExt cx="1289050" cy="1841500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47D23FCC-6E04-7C9D-5FDC-7CC325F95E0E}"/>
                </a:ext>
              </a:extLst>
            </p:cNvPr>
            <p:cNvGrpSpPr/>
            <p:nvPr/>
          </p:nvGrpSpPr>
          <p:grpSpPr>
            <a:xfrm>
              <a:off x="531605" y="3202675"/>
              <a:ext cx="1289050" cy="1841500"/>
              <a:chOff x="476250" y="3146576"/>
              <a:chExt cx="1289050" cy="1841500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A0FEA218-16C9-32F1-9192-159B9E36B7C3}"/>
                  </a:ext>
                </a:extLst>
              </p:cNvPr>
              <p:cNvSpPr/>
              <p:nvPr/>
            </p:nvSpPr>
            <p:spPr>
              <a:xfrm>
                <a:off x="476250" y="3146576"/>
                <a:ext cx="1289050" cy="184150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65B7EE21-D7F5-E372-2E30-F80E6D96EF07}"/>
                  </a:ext>
                </a:extLst>
              </p:cNvPr>
              <p:cNvSpPr/>
              <p:nvPr/>
            </p:nvSpPr>
            <p:spPr>
              <a:xfrm>
                <a:off x="844550" y="4521200"/>
                <a:ext cx="203200" cy="211138"/>
              </a:xfrm>
              <a:prstGeom prst="ellips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楕円 8">
                <a:extLst>
                  <a:ext uri="{FF2B5EF4-FFF2-40B4-BE49-F238E27FC236}">
                    <a16:creationId xmlns:a16="http://schemas.microsoft.com/office/drawing/2014/main" id="{1B930955-8CAB-654E-56C5-B5DD3FD4D40A}"/>
                  </a:ext>
                </a:extLst>
              </p:cNvPr>
              <p:cNvSpPr/>
              <p:nvPr/>
            </p:nvSpPr>
            <p:spPr>
              <a:xfrm>
                <a:off x="1212850" y="4521200"/>
                <a:ext cx="203200" cy="211138"/>
              </a:xfrm>
              <a:prstGeom prst="ellips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楕円 9">
                <a:extLst>
                  <a:ext uri="{FF2B5EF4-FFF2-40B4-BE49-F238E27FC236}">
                    <a16:creationId xmlns:a16="http://schemas.microsoft.com/office/drawing/2014/main" id="{A7260231-3DF2-A1C0-5214-F8ED228B40AD}"/>
                  </a:ext>
                </a:extLst>
              </p:cNvPr>
              <p:cNvSpPr/>
              <p:nvPr/>
            </p:nvSpPr>
            <p:spPr>
              <a:xfrm>
                <a:off x="1212850" y="4159893"/>
                <a:ext cx="203200" cy="211138"/>
              </a:xfrm>
              <a:prstGeom prst="ellipse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4B8A85D-9B6D-5650-ABD1-7A3F142C05F1}"/>
                </a:ext>
              </a:extLst>
            </p:cNvPr>
            <p:cNvSpPr txBox="1"/>
            <p:nvPr/>
          </p:nvSpPr>
          <p:spPr>
            <a:xfrm>
              <a:off x="859657" y="3404632"/>
              <a:ext cx="6840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b="1" baseline="0">
                  <a:latin typeface="+mn-lt"/>
                  <a:ea typeface="+mn-ea"/>
                </a:rPr>
                <a:t>検査基板</a:t>
              </a:r>
            </a:p>
          </p:txBody>
        </p:sp>
      </p:grp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3B3105D6-0167-B373-83F4-6FFC2EBCA081}"/>
              </a:ext>
            </a:extLst>
          </p:cNvPr>
          <p:cNvSpPr/>
          <p:nvPr/>
        </p:nvSpPr>
        <p:spPr>
          <a:xfrm>
            <a:off x="2716725" y="3816243"/>
            <a:ext cx="2590539" cy="126125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9557B8B0-1854-8C47-3A56-BCDC1931A4A2}"/>
              </a:ext>
            </a:extLst>
          </p:cNvPr>
          <p:cNvSpPr/>
          <p:nvPr/>
        </p:nvSpPr>
        <p:spPr>
          <a:xfrm>
            <a:off x="2716725" y="2497894"/>
            <a:ext cx="2590539" cy="126125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EE50143-5133-CCB7-D7E3-7A0B54C2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ソフトの紹介（画像処理）</a:t>
            </a:r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C1B9E73-0FFA-19DE-BBB2-06FF18A6DD6E}"/>
              </a:ext>
            </a:extLst>
          </p:cNvPr>
          <p:cNvSpPr/>
          <p:nvPr/>
        </p:nvSpPr>
        <p:spPr>
          <a:xfrm>
            <a:off x="175591" y="714067"/>
            <a:ext cx="2001079" cy="47178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bg1"/>
                </a:solidFill>
              </a:rPr>
              <a:t>基板検査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5F9C49-BCD3-190E-3A6C-61D0284AC47F}"/>
              </a:ext>
            </a:extLst>
          </p:cNvPr>
          <p:cNvSpPr txBox="1"/>
          <p:nvPr/>
        </p:nvSpPr>
        <p:spPr>
          <a:xfrm>
            <a:off x="175590" y="1289050"/>
            <a:ext cx="8301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３．コンデンサの方向検出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kumimoji="1" lang="en-US" altLang="ja-JP" b="1" baseline="0">
                <a:latin typeface="+mn-lt"/>
                <a:ea typeface="+mn-ea"/>
              </a:rPr>
              <a:t>     (1) </a:t>
            </a:r>
            <a:r>
              <a:rPr kumimoji="1" lang="ja-JP" altLang="en-US" b="1" baseline="0">
                <a:latin typeface="+mn-lt"/>
                <a:ea typeface="+mn-ea"/>
              </a:rPr>
              <a:t>円形の抽出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lang="en-US" altLang="ja-JP" b="1">
                <a:latin typeface="+mn-lt"/>
                <a:ea typeface="+mn-ea"/>
              </a:rPr>
              <a:t>     (3) OK</a:t>
            </a:r>
            <a:r>
              <a:rPr lang="ja-JP" altLang="en-US" b="1">
                <a:latin typeface="+mn-lt"/>
                <a:ea typeface="+mn-ea"/>
              </a:rPr>
              <a:t>基盤と検査基盤を比較</a:t>
            </a:r>
            <a:endParaRPr lang="en-US" altLang="ja-JP" b="1">
              <a:latin typeface="+mn-lt"/>
              <a:ea typeface="+mn-ea"/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5A1B9E2-A010-6B3C-792F-D0B35F1B3AFC}"/>
              </a:ext>
            </a:extLst>
          </p:cNvPr>
          <p:cNvGrpSpPr/>
          <p:nvPr/>
        </p:nvGrpSpPr>
        <p:grpSpPr>
          <a:xfrm>
            <a:off x="1544197" y="3759147"/>
            <a:ext cx="682525" cy="667983"/>
            <a:chOff x="2537566" y="3264376"/>
            <a:chExt cx="682525" cy="667983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D2532857-5F48-A31C-8485-DCFE1774EFF3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9DBE1F4F-2C8E-5606-920F-DFF9DFDCA2CE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026226B-AC58-2850-CA5F-C3994E512EFA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1070839" y="4093139"/>
            <a:ext cx="473358" cy="211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8E83894-02BB-35D1-B0F8-0974E5F89212}"/>
              </a:ext>
            </a:extLst>
          </p:cNvPr>
          <p:cNvSpPr txBox="1"/>
          <p:nvPr/>
        </p:nvSpPr>
        <p:spPr>
          <a:xfrm>
            <a:off x="1278225" y="3423026"/>
            <a:ext cx="1539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="1" baseline="0">
                <a:latin typeface="+mn-lt"/>
                <a:ea typeface="+mn-ea"/>
              </a:rPr>
              <a:t>抽出した円形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5B2EC41-2925-9CE6-178D-FDC4A661E7FF}"/>
              </a:ext>
            </a:extLst>
          </p:cNvPr>
          <p:cNvSpPr txBox="1"/>
          <p:nvPr/>
        </p:nvSpPr>
        <p:spPr>
          <a:xfrm>
            <a:off x="3671888" y="1522208"/>
            <a:ext cx="5122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 </a:t>
            </a:r>
            <a:r>
              <a:rPr lang="en-US" altLang="ja-JP" b="1">
                <a:latin typeface="+mn-lt"/>
                <a:ea typeface="+mn-ea"/>
              </a:rPr>
              <a:t>(2)</a:t>
            </a:r>
            <a:r>
              <a:rPr lang="ja-JP" altLang="en-US" b="1">
                <a:latin typeface="+mn-lt"/>
                <a:ea typeface="+mn-ea"/>
              </a:rPr>
              <a:t> 抽出した円形を上下左右反転</a:t>
            </a:r>
            <a:br>
              <a:rPr lang="en-US" altLang="ja-JP" b="1">
                <a:latin typeface="+mn-lt"/>
                <a:ea typeface="+mn-ea"/>
              </a:rPr>
            </a:br>
            <a:r>
              <a:rPr lang="en-US" altLang="ja-JP" b="1">
                <a:latin typeface="+mn-lt"/>
                <a:ea typeface="+mn-ea"/>
              </a:rPr>
              <a:t> (4)</a:t>
            </a:r>
            <a:r>
              <a:rPr lang="ja-JP" altLang="en-US" b="1">
                <a:latin typeface="+mn-lt"/>
                <a:ea typeface="+mn-ea"/>
              </a:rPr>
              <a:t> 反転した方の差分が小さければ方向が異なる</a:t>
            </a:r>
            <a:endParaRPr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52951F8-55BD-69C8-C642-F1FDCF66906A}"/>
              </a:ext>
            </a:extLst>
          </p:cNvPr>
          <p:cNvSpPr txBox="1"/>
          <p:nvPr/>
        </p:nvSpPr>
        <p:spPr>
          <a:xfrm>
            <a:off x="3873202" y="2574827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baseline="0">
                <a:latin typeface="+mn-lt"/>
                <a:ea typeface="+mn-ea"/>
              </a:rPr>
              <a:t>OK</a:t>
            </a:r>
            <a:r>
              <a:rPr kumimoji="1" lang="ja-JP" altLang="en-US" sz="1400" b="1" baseline="0">
                <a:latin typeface="+mn-lt"/>
                <a:ea typeface="+mn-ea"/>
              </a:rPr>
              <a:t>基盤の円形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D1369B24-89A6-2630-2C50-252E0050EA8A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2225443" y="3258312"/>
            <a:ext cx="662687" cy="8348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4A4F419-A4BB-E737-8D66-3E826D8F80D2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2225443" y="4093139"/>
            <a:ext cx="661215" cy="5459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BBA494C-E461-E05D-8298-FD24EC4A1DC4}"/>
              </a:ext>
            </a:extLst>
          </p:cNvPr>
          <p:cNvGrpSpPr/>
          <p:nvPr/>
        </p:nvGrpSpPr>
        <p:grpSpPr>
          <a:xfrm>
            <a:off x="2888130" y="2924320"/>
            <a:ext cx="682525" cy="667983"/>
            <a:chOff x="2537566" y="3264376"/>
            <a:chExt cx="682525" cy="667983"/>
          </a:xfrm>
        </p:grpSpPr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FC959A61-D5B7-A698-1D46-9527B102EEC6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A49CE6B2-A59F-ED17-CD91-8CEABCD5DFEA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EEBC34FD-2E85-2717-BE15-109680FCF5D2}"/>
              </a:ext>
            </a:extLst>
          </p:cNvPr>
          <p:cNvGrpSpPr/>
          <p:nvPr/>
        </p:nvGrpSpPr>
        <p:grpSpPr>
          <a:xfrm flipH="1" flipV="1">
            <a:off x="2885376" y="4304243"/>
            <a:ext cx="684000" cy="669600"/>
            <a:chOff x="2537566" y="3264376"/>
            <a:chExt cx="682525" cy="667983"/>
          </a:xfrm>
        </p:grpSpPr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92D91557-8567-E291-3F3E-791A7D4D43AD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5401E448-3FAB-E354-BF4F-3DFE22E18E34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C056004-7612-3EB1-3772-096B54102B6D}"/>
              </a:ext>
            </a:extLst>
          </p:cNvPr>
          <p:cNvSpPr txBox="1"/>
          <p:nvPr/>
        </p:nvSpPr>
        <p:spPr>
          <a:xfrm>
            <a:off x="3873203" y="3938084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baseline="0">
                <a:latin typeface="+mn-lt"/>
                <a:ea typeface="+mn-ea"/>
              </a:rPr>
              <a:t>OK</a:t>
            </a:r>
            <a:r>
              <a:rPr kumimoji="1" lang="ja-JP" altLang="en-US" sz="1400" b="1" baseline="0">
                <a:latin typeface="+mn-lt"/>
                <a:ea typeface="+mn-ea"/>
              </a:rPr>
              <a:t>基盤の円形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5DCCD62-D825-2C68-F4E9-3950C64936C3}"/>
              </a:ext>
            </a:extLst>
          </p:cNvPr>
          <p:cNvSpPr txBox="1"/>
          <p:nvPr/>
        </p:nvSpPr>
        <p:spPr>
          <a:xfrm>
            <a:off x="2842650" y="2580177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そのまま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13E3F41-55FF-FFE5-D1ED-3E7578B01B68}"/>
              </a:ext>
            </a:extLst>
          </p:cNvPr>
          <p:cNvSpPr txBox="1"/>
          <p:nvPr/>
        </p:nvSpPr>
        <p:spPr>
          <a:xfrm>
            <a:off x="2685750" y="3918691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上下左右反転</a:t>
            </a:r>
          </a:p>
        </p:txBody>
      </p:sp>
      <p:sp>
        <p:nvSpPr>
          <p:cNvPr id="55" name="矢印: 右 54">
            <a:extLst>
              <a:ext uri="{FF2B5EF4-FFF2-40B4-BE49-F238E27FC236}">
                <a16:creationId xmlns:a16="http://schemas.microsoft.com/office/drawing/2014/main" id="{B0772D6E-0363-D3C4-1E38-ADD97BDDB935}"/>
              </a:ext>
            </a:extLst>
          </p:cNvPr>
          <p:cNvSpPr/>
          <p:nvPr/>
        </p:nvSpPr>
        <p:spPr>
          <a:xfrm>
            <a:off x="5307263" y="2820243"/>
            <a:ext cx="613191" cy="6067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56" name="矢印: 右 55">
            <a:extLst>
              <a:ext uri="{FF2B5EF4-FFF2-40B4-BE49-F238E27FC236}">
                <a16:creationId xmlns:a16="http://schemas.microsoft.com/office/drawing/2014/main" id="{1C0EFB93-F4F4-31AF-D2CF-4250008CE4DF}"/>
              </a:ext>
            </a:extLst>
          </p:cNvPr>
          <p:cNvSpPr/>
          <p:nvPr/>
        </p:nvSpPr>
        <p:spPr>
          <a:xfrm>
            <a:off x="5307263" y="4091972"/>
            <a:ext cx="613191" cy="6067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674A453-70AB-CFA1-C314-403908D0D958}"/>
              </a:ext>
            </a:extLst>
          </p:cNvPr>
          <p:cNvSpPr txBox="1"/>
          <p:nvPr/>
        </p:nvSpPr>
        <p:spPr>
          <a:xfrm>
            <a:off x="5263516" y="2293700"/>
            <a:ext cx="67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差分計算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04E7424-5DBC-911E-70F0-E032BAC235DF}"/>
              </a:ext>
            </a:extLst>
          </p:cNvPr>
          <p:cNvSpPr txBox="1"/>
          <p:nvPr/>
        </p:nvSpPr>
        <p:spPr>
          <a:xfrm>
            <a:off x="5263516" y="3577558"/>
            <a:ext cx="67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差分計算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2F6F858-E071-C28B-E3BA-14F2F69F3CF8}"/>
              </a:ext>
            </a:extLst>
          </p:cNvPr>
          <p:cNvSpPr txBox="1"/>
          <p:nvPr/>
        </p:nvSpPr>
        <p:spPr>
          <a:xfrm>
            <a:off x="5920454" y="2946565"/>
            <a:ext cx="670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差分</a:t>
            </a:r>
            <a:r>
              <a:rPr kumimoji="1" lang="en-US" altLang="ja-JP" sz="1400" b="1" baseline="0">
                <a:latin typeface="+mn-lt"/>
                <a:ea typeface="+mn-ea"/>
              </a:rPr>
              <a:t>A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721F532-2EA8-53D5-D14C-62A9635596C0}"/>
              </a:ext>
            </a:extLst>
          </p:cNvPr>
          <p:cNvSpPr txBox="1"/>
          <p:nvPr/>
        </p:nvSpPr>
        <p:spPr>
          <a:xfrm>
            <a:off x="5923215" y="4273241"/>
            <a:ext cx="66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差分</a:t>
            </a:r>
            <a:r>
              <a:rPr kumimoji="1" lang="en-US" altLang="ja-JP" sz="1400" b="1" baseline="0">
                <a:latin typeface="+mn-lt"/>
                <a:ea typeface="+mn-ea"/>
              </a:rPr>
              <a:t>B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28499C9-3291-13FB-AAD1-25E627337992}"/>
              </a:ext>
            </a:extLst>
          </p:cNvPr>
          <p:cNvGrpSpPr/>
          <p:nvPr/>
        </p:nvGrpSpPr>
        <p:grpSpPr>
          <a:xfrm flipH="1" flipV="1">
            <a:off x="4203187" y="4304243"/>
            <a:ext cx="684000" cy="669600"/>
            <a:chOff x="2537566" y="3264376"/>
            <a:chExt cx="682525" cy="667983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FF6EBA7F-1D0F-183A-FBE3-3E8D94E90C39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6AEE9EF0-13EA-E739-98A1-850E7A561DDA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73A95CF-F65F-2029-64B3-0B7ACA4DF9A5}"/>
              </a:ext>
            </a:extLst>
          </p:cNvPr>
          <p:cNvGrpSpPr/>
          <p:nvPr/>
        </p:nvGrpSpPr>
        <p:grpSpPr>
          <a:xfrm flipH="1" flipV="1">
            <a:off x="4211522" y="2922703"/>
            <a:ext cx="684000" cy="669600"/>
            <a:chOff x="2537566" y="3264376"/>
            <a:chExt cx="682525" cy="667983"/>
          </a:xfrm>
        </p:grpSpPr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C1858328-03D5-129B-7B4B-4A6459FED55B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E507BF8E-096D-E158-8FD1-52EB2F9686A7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33" name="右中かっこ 32">
            <a:extLst>
              <a:ext uri="{FF2B5EF4-FFF2-40B4-BE49-F238E27FC236}">
                <a16:creationId xmlns:a16="http://schemas.microsoft.com/office/drawing/2014/main" id="{AE1DFB3B-22A2-79E8-EE0E-E2901EE6FF02}"/>
              </a:ext>
            </a:extLst>
          </p:cNvPr>
          <p:cNvSpPr/>
          <p:nvPr/>
        </p:nvSpPr>
        <p:spPr>
          <a:xfrm>
            <a:off x="6378874" y="2601959"/>
            <a:ext cx="415529" cy="2371884"/>
          </a:xfrm>
          <a:prstGeom prst="rightBrace">
            <a:avLst>
              <a:gd name="adj1" fmla="val 49317"/>
              <a:gd name="adj2" fmla="val 46541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79C2885A-D69B-5030-F0CC-7952B56389E1}"/>
              </a:ext>
            </a:extLst>
          </p:cNvPr>
          <p:cNvGrpSpPr/>
          <p:nvPr/>
        </p:nvGrpSpPr>
        <p:grpSpPr>
          <a:xfrm>
            <a:off x="6818251" y="3920307"/>
            <a:ext cx="2209741" cy="707886"/>
            <a:chOff x="6818251" y="3920307"/>
            <a:chExt cx="2209741" cy="707886"/>
          </a:xfrm>
        </p:grpSpPr>
        <p:sp>
          <p:nvSpPr>
            <p:cNvPr id="6" name="矢印: 右 5">
              <a:extLst>
                <a:ext uri="{FF2B5EF4-FFF2-40B4-BE49-F238E27FC236}">
                  <a16:creationId xmlns:a16="http://schemas.microsoft.com/office/drawing/2014/main" id="{EECCFA8E-3059-B68D-517B-6C07ED4A98A2}"/>
                </a:ext>
              </a:extLst>
            </p:cNvPr>
            <p:cNvSpPr/>
            <p:nvPr/>
          </p:nvSpPr>
          <p:spPr>
            <a:xfrm>
              <a:off x="8309194" y="4056607"/>
              <a:ext cx="242987" cy="45401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rgbClr val="FF0000"/>
                </a:solidFill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59B0588-7CEC-B228-720B-1DA5606856BB}"/>
                </a:ext>
              </a:extLst>
            </p:cNvPr>
            <p:cNvSpPr txBox="1"/>
            <p:nvPr/>
          </p:nvSpPr>
          <p:spPr>
            <a:xfrm>
              <a:off x="8560095" y="3920307"/>
              <a:ext cx="4678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ja-JP" altLang="en-US" sz="2000" b="1">
                  <a:solidFill>
                    <a:srgbClr val="FF0000"/>
                  </a:solidFill>
                  <a:latin typeface="+mn-lt"/>
                  <a:ea typeface="+mn-ea"/>
                </a:rPr>
                <a:t>異</a:t>
              </a:r>
              <a:endParaRPr kumimoji="1" lang="en-US" altLang="ja-JP" sz="2000" b="1" baseline="0">
                <a:solidFill>
                  <a:srgbClr val="FF0000"/>
                </a:solidFill>
                <a:latin typeface="+mn-lt"/>
                <a:ea typeface="+mn-ea"/>
              </a:endParaRPr>
            </a:p>
            <a:p>
              <a:pPr algn="l"/>
              <a:r>
                <a:rPr kumimoji="1" lang="ja-JP" altLang="en-US" sz="2000" b="1" baseline="0">
                  <a:solidFill>
                    <a:srgbClr val="FF0000"/>
                  </a:solidFill>
                  <a:latin typeface="+mn-lt"/>
                  <a:ea typeface="+mn-ea"/>
                </a:rPr>
                <a:t>常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7E6665DE-9889-04A4-7503-3C83AB874718}"/>
                </a:ext>
              </a:extLst>
            </p:cNvPr>
            <p:cNvSpPr txBox="1"/>
            <p:nvPr/>
          </p:nvSpPr>
          <p:spPr>
            <a:xfrm>
              <a:off x="6818251" y="4064461"/>
              <a:ext cx="143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A</a:t>
              </a:r>
              <a:r>
                <a:rPr lang="ja-JP" altLang="en-US" sz="1400" b="1">
                  <a:latin typeface="+mn-lt"/>
                  <a:ea typeface="+mn-ea"/>
                </a:rPr>
                <a:t> </a:t>
              </a:r>
              <a:r>
                <a:rPr kumimoji="1" lang="ja-JP" altLang="en-US" sz="2000" b="1" baseline="0">
                  <a:solidFill>
                    <a:srgbClr val="FF0000"/>
                  </a:solidFill>
                  <a:latin typeface="+mn-lt"/>
                  <a:ea typeface="+mn-ea"/>
                </a:rPr>
                <a:t>＞</a:t>
              </a:r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B</a:t>
              </a:r>
              <a:endParaRPr kumimoji="1" lang="ja-JP" altLang="en-US" sz="1400" b="1" baseline="0">
                <a:latin typeface="+mn-lt"/>
                <a:ea typeface="+mn-ea"/>
              </a:endParaRPr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A8CD2413-2841-BF42-FB87-6EBEE8188F1C}"/>
              </a:ext>
            </a:extLst>
          </p:cNvPr>
          <p:cNvGrpSpPr/>
          <p:nvPr/>
        </p:nvGrpSpPr>
        <p:grpSpPr>
          <a:xfrm>
            <a:off x="6818251" y="2835155"/>
            <a:ext cx="2209741" cy="707886"/>
            <a:chOff x="6818251" y="3920307"/>
            <a:chExt cx="2209741" cy="707886"/>
          </a:xfrm>
        </p:grpSpPr>
        <p:sp>
          <p:nvSpPr>
            <p:cNvPr id="63" name="矢印: 右 62">
              <a:extLst>
                <a:ext uri="{FF2B5EF4-FFF2-40B4-BE49-F238E27FC236}">
                  <a16:creationId xmlns:a16="http://schemas.microsoft.com/office/drawing/2014/main" id="{CFAB973E-0B0E-A536-C3D6-FB855A36BF0E}"/>
                </a:ext>
              </a:extLst>
            </p:cNvPr>
            <p:cNvSpPr/>
            <p:nvPr/>
          </p:nvSpPr>
          <p:spPr>
            <a:xfrm>
              <a:off x="8309194" y="4056607"/>
              <a:ext cx="242987" cy="45401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rgbClr val="FF0000"/>
                </a:solidFill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93AFF05F-4A11-CC1D-C267-CBBD1F387B95}"/>
                </a:ext>
              </a:extLst>
            </p:cNvPr>
            <p:cNvSpPr txBox="1"/>
            <p:nvPr/>
          </p:nvSpPr>
          <p:spPr>
            <a:xfrm>
              <a:off x="8560095" y="3920307"/>
              <a:ext cx="4678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2000" b="1" baseline="0">
                  <a:solidFill>
                    <a:srgbClr val="0070C0"/>
                  </a:solidFill>
                  <a:latin typeface="+mn-lt"/>
                  <a:ea typeface="+mn-ea"/>
                </a:rPr>
                <a:t>正</a:t>
              </a:r>
              <a:endParaRPr kumimoji="1" lang="en-US" altLang="ja-JP" sz="2000" b="1" baseline="0">
                <a:solidFill>
                  <a:srgbClr val="0070C0"/>
                </a:solidFill>
                <a:latin typeface="+mn-lt"/>
                <a:ea typeface="+mn-ea"/>
              </a:endParaRPr>
            </a:p>
            <a:p>
              <a:pPr algn="l"/>
              <a:r>
                <a:rPr kumimoji="1" lang="ja-JP" altLang="en-US" sz="2000" b="1" baseline="0">
                  <a:solidFill>
                    <a:srgbClr val="0070C0"/>
                  </a:solidFill>
                  <a:latin typeface="+mn-lt"/>
                  <a:ea typeface="+mn-ea"/>
                </a:rPr>
                <a:t>常</a:t>
              </a: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540716E0-A14F-23F9-FEDA-50AF79DE2399}"/>
                </a:ext>
              </a:extLst>
            </p:cNvPr>
            <p:cNvSpPr txBox="1"/>
            <p:nvPr/>
          </p:nvSpPr>
          <p:spPr>
            <a:xfrm>
              <a:off x="6818251" y="4064461"/>
              <a:ext cx="143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A</a:t>
              </a:r>
              <a:r>
                <a:rPr lang="ja-JP" altLang="en-US" sz="2000" b="1">
                  <a:solidFill>
                    <a:srgbClr val="0070C0"/>
                  </a:solidFill>
                  <a:latin typeface="+mn-lt"/>
                  <a:ea typeface="+mn-ea"/>
                </a:rPr>
                <a:t>＜</a:t>
              </a:r>
              <a:r>
                <a:rPr lang="ja-JP" altLang="en-US" sz="2000" b="1">
                  <a:solidFill>
                    <a:srgbClr val="FF0000"/>
                  </a:solidFill>
                  <a:latin typeface="+mn-lt"/>
                  <a:ea typeface="+mn-ea"/>
                </a:rPr>
                <a:t> </a:t>
              </a:r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B</a:t>
              </a:r>
              <a:endParaRPr kumimoji="1" lang="ja-JP" altLang="en-US" sz="1400" b="1" baseline="0">
                <a:latin typeface="+mn-lt"/>
                <a:ea typeface="+mn-ea"/>
              </a:endParaRPr>
            </a:p>
          </p:txBody>
        </p:sp>
      </p:grp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E96045-7E00-6975-1599-84C7CEAEF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14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90234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D9CB4-DD7A-1000-E4F7-9B5EF7CF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1FD08D7-07BA-F3AA-4719-9710ADFC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ソフトの紹介（画像処理）</a:t>
            </a:r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DEF04EE-81C5-0022-4EBB-675EE0B69932}"/>
              </a:ext>
            </a:extLst>
          </p:cNvPr>
          <p:cNvSpPr/>
          <p:nvPr/>
        </p:nvSpPr>
        <p:spPr>
          <a:xfrm>
            <a:off x="175591" y="714067"/>
            <a:ext cx="2001079" cy="47178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bg1"/>
                </a:solidFill>
              </a:rPr>
              <a:t>基板検査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3EE8B3-E998-B320-9780-0F4F556375D6}"/>
              </a:ext>
            </a:extLst>
          </p:cNvPr>
          <p:cNvSpPr txBox="1"/>
          <p:nvPr/>
        </p:nvSpPr>
        <p:spPr>
          <a:xfrm>
            <a:off x="175590" y="1289050"/>
            <a:ext cx="8301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４</a:t>
            </a:r>
            <a:r>
              <a:rPr kumimoji="1" lang="ja-JP" altLang="en-US" b="1" baseline="0">
                <a:latin typeface="+mn-lt"/>
                <a:ea typeface="+mn-ea"/>
              </a:rPr>
              <a:t>．素子の欠損</a:t>
            </a:r>
            <a:r>
              <a:rPr lang="ja-JP" altLang="en-US" b="1">
                <a:latin typeface="+mn-lt"/>
                <a:ea typeface="+mn-ea"/>
              </a:rPr>
              <a:t>検出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kumimoji="1" lang="en-US" altLang="ja-JP" b="1" baseline="0">
                <a:latin typeface="+mn-lt"/>
                <a:ea typeface="+mn-ea"/>
              </a:rPr>
              <a:t>     (1) </a:t>
            </a:r>
            <a:r>
              <a:rPr kumimoji="1" lang="ja-JP" altLang="en-US" b="1" baseline="0">
                <a:latin typeface="+mn-lt"/>
                <a:ea typeface="+mn-ea"/>
              </a:rPr>
              <a:t>色の抽出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lang="en-US" altLang="ja-JP" b="1">
                <a:latin typeface="+mn-lt"/>
                <a:ea typeface="+mn-ea"/>
              </a:rPr>
              <a:t>     (3) </a:t>
            </a:r>
            <a:r>
              <a:rPr lang="ja-JP" altLang="en-US" b="1">
                <a:latin typeface="+mn-lt"/>
                <a:ea typeface="+mn-ea"/>
              </a:rPr>
              <a:t>認識した長方形の部分を差分処理</a:t>
            </a:r>
            <a:endParaRPr lang="en-US" altLang="ja-JP" b="1">
              <a:latin typeface="+mn-lt"/>
              <a:ea typeface="+mn-ea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D505B6B-EAC4-E6D1-3726-96517FA74333}"/>
              </a:ext>
            </a:extLst>
          </p:cNvPr>
          <p:cNvSpPr txBox="1"/>
          <p:nvPr/>
        </p:nvSpPr>
        <p:spPr>
          <a:xfrm>
            <a:off x="4069644" y="1522208"/>
            <a:ext cx="5074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 </a:t>
            </a:r>
            <a:r>
              <a:rPr lang="en-US" altLang="ja-JP" b="1">
                <a:latin typeface="+mn-lt"/>
                <a:ea typeface="+mn-ea"/>
              </a:rPr>
              <a:t>(2) </a:t>
            </a:r>
            <a:r>
              <a:rPr lang="ja-JP" altLang="en-US" b="1">
                <a:latin typeface="+mn-lt"/>
                <a:ea typeface="+mn-ea"/>
              </a:rPr>
              <a:t>抽出した色から長方形を認識</a:t>
            </a:r>
            <a:endParaRPr lang="en-US" altLang="ja-JP" b="1">
              <a:latin typeface="+mn-lt"/>
              <a:ea typeface="+mn-ea"/>
            </a:endParaRPr>
          </a:p>
          <a:p>
            <a:pPr algn="l"/>
            <a:r>
              <a:rPr lang="ja-JP" altLang="en-US" b="1">
                <a:latin typeface="+mn-lt"/>
                <a:ea typeface="+mn-ea"/>
              </a:rPr>
              <a:t> </a:t>
            </a:r>
            <a:r>
              <a:rPr lang="en-US" altLang="ja-JP" b="1">
                <a:latin typeface="+mn-lt"/>
                <a:ea typeface="+mn-ea"/>
              </a:rPr>
              <a:t>(4) </a:t>
            </a:r>
            <a:r>
              <a:rPr lang="ja-JP" altLang="en-US" b="1">
                <a:latin typeface="+mn-lt"/>
                <a:ea typeface="+mn-ea"/>
              </a:rPr>
              <a:t>差分が閾値を超えると素子が欠損している</a:t>
            </a:r>
            <a:endParaRPr lang="ja-JP" altLang="en-US"/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ED431711-4FF0-B7AC-E4D7-BC6A510F79F0}"/>
              </a:ext>
            </a:extLst>
          </p:cNvPr>
          <p:cNvSpPr/>
          <p:nvPr/>
        </p:nvSpPr>
        <p:spPr>
          <a:xfrm>
            <a:off x="2185097" y="2515359"/>
            <a:ext cx="3968035" cy="2501139"/>
          </a:xfrm>
          <a:prstGeom prst="roundRect">
            <a:avLst>
              <a:gd name="adj" fmla="val 9152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77" name="矢印: 右 76">
            <a:extLst>
              <a:ext uri="{FF2B5EF4-FFF2-40B4-BE49-F238E27FC236}">
                <a16:creationId xmlns:a16="http://schemas.microsoft.com/office/drawing/2014/main" id="{0B03CD57-8377-9E8A-F59C-854BEC598536}"/>
              </a:ext>
            </a:extLst>
          </p:cNvPr>
          <p:cNvSpPr/>
          <p:nvPr/>
        </p:nvSpPr>
        <p:spPr>
          <a:xfrm>
            <a:off x="6153132" y="3462550"/>
            <a:ext cx="613191" cy="6067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05FABAE1-04A7-3A8D-7599-D29F5C43EE58}"/>
              </a:ext>
            </a:extLst>
          </p:cNvPr>
          <p:cNvSpPr txBox="1"/>
          <p:nvPr/>
        </p:nvSpPr>
        <p:spPr>
          <a:xfrm>
            <a:off x="6128401" y="2849702"/>
            <a:ext cx="67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差分計算</a:t>
            </a: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F818DF7-86B5-8ECF-BECD-10FA9A29A1DB}"/>
              </a:ext>
            </a:extLst>
          </p:cNvPr>
          <p:cNvGrpSpPr/>
          <p:nvPr/>
        </p:nvGrpSpPr>
        <p:grpSpPr>
          <a:xfrm>
            <a:off x="326150" y="3021302"/>
            <a:ext cx="2830993" cy="1841500"/>
            <a:chOff x="175590" y="2587933"/>
            <a:chExt cx="2830993" cy="1841500"/>
          </a:xfrm>
        </p:grpSpPr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7CC4F291-2056-083B-CDCC-F055C3419A82}"/>
                </a:ext>
              </a:extLst>
            </p:cNvPr>
            <p:cNvGrpSpPr/>
            <p:nvPr/>
          </p:nvGrpSpPr>
          <p:grpSpPr>
            <a:xfrm>
              <a:off x="175590" y="2587933"/>
              <a:ext cx="2830993" cy="1841500"/>
              <a:chOff x="531605" y="3202675"/>
              <a:chExt cx="2830993" cy="1841500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3891E22B-82C3-39F8-E62B-2A67BB95CBCE}"/>
                  </a:ext>
                </a:extLst>
              </p:cNvPr>
              <p:cNvSpPr/>
              <p:nvPr/>
            </p:nvSpPr>
            <p:spPr>
              <a:xfrm>
                <a:off x="531605" y="3202675"/>
                <a:ext cx="1289050" cy="184150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747FC5F6-7497-5E0C-607E-E10AE2F736A9}"/>
                  </a:ext>
                </a:extLst>
              </p:cNvPr>
              <p:cNvSpPr txBox="1"/>
              <p:nvPr/>
            </p:nvSpPr>
            <p:spPr>
              <a:xfrm>
                <a:off x="859657" y="3404632"/>
                <a:ext cx="684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ja-JP" altLang="en-US" b="1" baseline="0">
                    <a:ln>
                      <a:solidFill>
                        <a:schemeClr val="bg1"/>
                      </a:solidFill>
                    </a:ln>
                    <a:solidFill>
                      <a:srgbClr val="FF0000"/>
                    </a:solidFill>
                    <a:latin typeface="+mn-lt"/>
                    <a:ea typeface="+mn-ea"/>
                  </a:rPr>
                  <a:t>登録</a:t>
                </a:r>
                <a:r>
                  <a:rPr kumimoji="1" lang="ja-JP" altLang="en-US" b="1" baseline="0">
                    <a:latin typeface="+mn-lt"/>
                    <a:ea typeface="+mn-ea"/>
                  </a:rPr>
                  <a:t>基板</a:t>
                </a:r>
              </a:p>
            </p:txBody>
          </p:sp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CD773045-ADBB-402F-6A27-3D1CF7F869B6}"/>
                  </a:ext>
                </a:extLst>
              </p:cNvPr>
              <p:cNvSpPr txBox="1"/>
              <p:nvPr/>
            </p:nvSpPr>
            <p:spPr>
              <a:xfrm>
                <a:off x="2678593" y="3404632"/>
                <a:ext cx="684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ja-JP" altLang="en-US" b="1" baseline="0">
                    <a:latin typeface="+mn-lt"/>
                    <a:ea typeface="+mn-ea"/>
                  </a:rPr>
                  <a:t>登録基板</a:t>
                </a:r>
              </a:p>
            </p:txBody>
          </p:sp>
        </p:grp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BD81BC5-4944-52D4-E238-C84C627D192D}"/>
                </a:ext>
              </a:extLst>
            </p:cNvPr>
            <p:cNvSpPr/>
            <p:nvPr/>
          </p:nvSpPr>
          <p:spPr>
            <a:xfrm>
              <a:off x="1187647" y="3508683"/>
              <a:ext cx="172664" cy="244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0ABE6E1-0D71-603B-9181-5AD452771AF3}"/>
                </a:ext>
              </a:extLst>
            </p:cNvPr>
            <p:cNvSpPr/>
            <p:nvPr/>
          </p:nvSpPr>
          <p:spPr>
            <a:xfrm>
              <a:off x="1187647" y="3846621"/>
              <a:ext cx="172664" cy="244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444F5F6-332E-B3A0-66AC-A5C5A1AF505F}"/>
                </a:ext>
              </a:extLst>
            </p:cNvPr>
            <p:cNvSpPr/>
            <p:nvPr/>
          </p:nvSpPr>
          <p:spPr>
            <a:xfrm rot="5400000">
              <a:off x="1044104" y="4140509"/>
              <a:ext cx="172664" cy="244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4354460-3A22-F2BC-A30D-14FBF619099D}"/>
                </a:ext>
              </a:extLst>
            </p:cNvPr>
            <p:cNvSpPr/>
            <p:nvPr/>
          </p:nvSpPr>
          <p:spPr>
            <a:xfrm rot="16200000">
              <a:off x="422038" y="4144081"/>
              <a:ext cx="172664" cy="244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5D54924-0F99-E7FC-F10C-939D8A3592F6}"/>
                </a:ext>
              </a:extLst>
            </p:cNvPr>
            <p:cNvSpPr/>
            <p:nvPr/>
          </p:nvSpPr>
          <p:spPr>
            <a:xfrm rot="5400000">
              <a:off x="724974" y="4140510"/>
              <a:ext cx="172664" cy="24487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5F44ED6-9C13-8E62-B955-D1901A68E974}"/>
              </a:ext>
            </a:extLst>
          </p:cNvPr>
          <p:cNvGrpSpPr/>
          <p:nvPr/>
        </p:nvGrpSpPr>
        <p:grpSpPr>
          <a:xfrm>
            <a:off x="2522976" y="3004493"/>
            <a:ext cx="1289050" cy="1841500"/>
            <a:chOff x="175590" y="2587933"/>
            <a:chExt cx="1289050" cy="1841500"/>
          </a:xfrm>
        </p:grpSpPr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AE68A96C-1C1E-A526-7C46-2994808CED4D}"/>
                </a:ext>
              </a:extLst>
            </p:cNvPr>
            <p:cNvGrpSpPr/>
            <p:nvPr/>
          </p:nvGrpSpPr>
          <p:grpSpPr>
            <a:xfrm>
              <a:off x="175590" y="2587933"/>
              <a:ext cx="1289050" cy="1841500"/>
              <a:chOff x="531605" y="3202675"/>
              <a:chExt cx="1289050" cy="1841500"/>
            </a:xfrm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FDCAA15C-412E-D07B-47EF-AF777377C1EF}"/>
                  </a:ext>
                </a:extLst>
              </p:cNvPr>
              <p:cNvSpPr/>
              <p:nvPr/>
            </p:nvSpPr>
            <p:spPr>
              <a:xfrm>
                <a:off x="531605" y="3202675"/>
                <a:ext cx="1289050" cy="18415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51A8EA78-DB32-CDEA-BD1E-CCCB799E7111}"/>
                  </a:ext>
                </a:extLst>
              </p:cNvPr>
              <p:cNvSpPr txBox="1"/>
              <p:nvPr/>
            </p:nvSpPr>
            <p:spPr>
              <a:xfrm>
                <a:off x="859657" y="3404632"/>
                <a:ext cx="684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ja-JP" altLang="en-US" b="1">
                    <a:solidFill>
                      <a:schemeClr val="bg1"/>
                    </a:solidFill>
                    <a:latin typeface="+mn-lt"/>
                    <a:ea typeface="+mn-ea"/>
                  </a:rPr>
                  <a:t>登録</a:t>
                </a:r>
                <a:r>
                  <a:rPr kumimoji="1" lang="ja-JP" altLang="en-US" b="1" baseline="0">
                    <a:solidFill>
                      <a:schemeClr val="bg1"/>
                    </a:solidFill>
                    <a:latin typeface="+mn-lt"/>
                    <a:ea typeface="+mn-ea"/>
                  </a:rPr>
                  <a:t>基板</a:t>
                </a:r>
              </a:p>
            </p:txBody>
          </p:sp>
        </p:grp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42664462-AFAC-9891-D1B7-748589C82A3B}"/>
                </a:ext>
              </a:extLst>
            </p:cNvPr>
            <p:cNvSpPr/>
            <p:nvPr/>
          </p:nvSpPr>
          <p:spPr>
            <a:xfrm>
              <a:off x="1187647" y="3846621"/>
              <a:ext cx="172664" cy="244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9AA8D81-3F0E-E87D-EC87-E6EEAD355E6F}"/>
                </a:ext>
              </a:extLst>
            </p:cNvPr>
            <p:cNvSpPr/>
            <p:nvPr/>
          </p:nvSpPr>
          <p:spPr>
            <a:xfrm rot="16200000">
              <a:off x="392403" y="4144081"/>
              <a:ext cx="172664" cy="244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64" name="矢印: 右 63">
            <a:extLst>
              <a:ext uri="{FF2B5EF4-FFF2-40B4-BE49-F238E27FC236}">
                <a16:creationId xmlns:a16="http://schemas.microsoft.com/office/drawing/2014/main" id="{C8D29BEF-970E-34EE-AD98-EE21600CEFE9}"/>
              </a:ext>
            </a:extLst>
          </p:cNvPr>
          <p:cNvSpPr/>
          <p:nvPr/>
        </p:nvSpPr>
        <p:spPr>
          <a:xfrm>
            <a:off x="1785575" y="3729994"/>
            <a:ext cx="616287" cy="33388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97177604-D59B-DA00-01D5-133107C96A76}"/>
              </a:ext>
            </a:extLst>
          </p:cNvPr>
          <p:cNvSpPr txBox="1"/>
          <p:nvPr/>
        </p:nvSpPr>
        <p:spPr>
          <a:xfrm>
            <a:off x="2467523" y="2609423"/>
            <a:ext cx="153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抽出した素子</a:t>
            </a: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31432998-6E45-F8A7-F47C-BA24F7B84E89}"/>
              </a:ext>
            </a:extLst>
          </p:cNvPr>
          <p:cNvGrpSpPr/>
          <p:nvPr/>
        </p:nvGrpSpPr>
        <p:grpSpPr>
          <a:xfrm>
            <a:off x="4669787" y="3004493"/>
            <a:ext cx="1289050" cy="1841500"/>
            <a:chOff x="175590" y="2587933"/>
            <a:chExt cx="1289050" cy="1841500"/>
          </a:xfrm>
        </p:grpSpPr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00A74F61-BC14-30AD-363D-05402B29CABE}"/>
                </a:ext>
              </a:extLst>
            </p:cNvPr>
            <p:cNvGrpSpPr/>
            <p:nvPr/>
          </p:nvGrpSpPr>
          <p:grpSpPr>
            <a:xfrm>
              <a:off x="175590" y="2587933"/>
              <a:ext cx="1289050" cy="1841500"/>
              <a:chOff x="531605" y="3202675"/>
              <a:chExt cx="1289050" cy="1841500"/>
            </a:xfrm>
          </p:grpSpPr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7C522AA9-C656-FE2A-1C09-6B241B5CFD0B}"/>
                  </a:ext>
                </a:extLst>
              </p:cNvPr>
              <p:cNvSpPr/>
              <p:nvPr/>
            </p:nvSpPr>
            <p:spPr>
              <a:xfrm>
                <a:off x="531605" y="3202675"/>
                <a:ext cx="1289050" cy="184150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585927DB-D9BB-A3BA-2844-6092AB4776C7}"/>
                  </a:ext>
                </a:extLst>
              </p:cNvPr>
              <p:cNvSpPr txBox="1"/>
              <p:nvPr/>
            </p:nvSpPr>
            <p:spPr>
              <a:xfrm>
                <a:off x="859657" y="3404632"/>
                <a:ext cx="684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ja-JP" altLang="en-US" b="1" baseline="0">
                    <a:ln>
                      <a:solidFill>
                        <a:schemeClr val="bg1"/>
                      </a:solidFill>
                    </a:ln>
                    <a:solidFill>
                      <a:srgbClr val="FF0000"/>
                    </a:solidFill>
                    <a:latin typeface="+mn-lt"/>
                    <a:ea typeface="+mn-ea"/>
                  </a:rPr>
                  <a:t>検査</a:t>
                </a:r>
                <a:r>
                  <a:rPr kumimoji="1" lang="ja-JP" altLang="en-US" b="1" baseline="0">
                    <a:latin typeface="+mn-lt"/>
                    <a:ea typeface="+mn-ea"/>
                  </a:rPr>
                  <a:t>基板</a:t>
                </a:r>
              </a:p>
            </p:txBody>
          </p:sp>
        </p:grp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8CEB4C2D-1C38-4342-3F4F-FF31DB94CB9C}"/>
                </a:ext>
              </a:extLst>
            </p:cNvPr>
            <p:cNvSpPr/>
            <p:nvPr/>
          </p:nvSpPr>
          <p:spPr>
            <a:xfrm>
              <a:off x="1187647" y="3508683"/>
              <a:ext cx="172664" cy="244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71F59BAA-9BE2-D8B2-D86F-7DA8204BD17C}"/>
                </a:ext>
              </a:extLst>
            </p:cNvPr>
            <p:cNvSpPr/>
            <p:nvPr/>
          </p:nvSpPr>
          <p:spPr>
            <a:xfrm>
              <a:off x="1187647" y="3846621"/>
              <a:ext cx="172664" cy="2448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F3B56253-7948-BA88-BED8-68290F9E4519}"/>
                </a:ext>
              </a:extLst>
            </p:cNvPr>
            <p:cNvSpPr/>
            <p:nvPr/>
          </p:nvSpPr>
          <p:spPr>
            <a:xfrm rot="5400000">
              <a:off x="1044104" y="4140509"/>
              <a:ext cx="172664" cy="2448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57CEC918-DE23-7C75-4078-D8B53F90F50A}"/>
                </a:ext>
              </a:extLst>
            </p:cNvPr>
            <p:cNvSpPr/>
            <p:nvPr/>
          </p:nvSpPr>
          <p:spPr>
            <a:xfrm rot="16200000">
              <a:off x="401343" y="4139007"/>
              <a:ext cx="172664" cy="244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9DE06BC5-630B-9982-22E3-2228D504F2E4}"/>
                </a:ext>
              </a:extLst>
            </p:cNvPr>
            <p:cNvSpPr/>
            <p:nvPr/>
          </p:nvSpPr>
          <p:spPr>
            <a:xfrm rot="5400000">
              <a:off x="722599" y="4140509"/>
              <a:ext cx="172664" cy="24487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030570F7-C42F-6550-2E9E-A5EA17C55850}"/>
              </a:ext>
            </a:extLst>
          </p:cNvPr>
          <p:cNvGrpSpPr/>
          <p:nvPr/>
        </p:nvGrpSpPr>
        <p:grpSpPr>
          <a:xfrm>
            <a:off x="6908875" y="3004493"/>
            <a:ext cx="1289050" cy="1841500"/>
            <a:chOff x="175590" y="2587933"/>
            <a:chExt cx="1289050" cy="1841500"/>
          </a:xfrm>
        </p:grpSpPr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7F902411-40FE-E1DE-3A15-AD5ECA438EAF}"/>
                </a:ext>
              </a:extLst>
            </p:cNvPr>
            <p:cNvGrpSpPr/>
            <p:nvPr/>
          </p:nvGrpSpPr>
          <p:grpSpPr>
            <a:xfrm>
              <a:off x="175590" y="2587933"/>
              <a:ext cx="1289050" cy="1841500"/>
              <a:chOff x="531605" y="3202675"/>
              <a:chExt cx="1289050" cy="1841500"/>
            </a:xfrm>
          </p:grpSpPr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8208B8B6-FEC3-8053-5E8B-3213DABB1533}"/>
                  </a:ext>
                </a:extLst>
              </p:cNvPr>
              <p:cNvSpPr/>
              <p:nvPr/>
            </p:nvSpPr>
            <p:spPr>
              <a:xfrm>
                <a:off x="531605" y="3202675"/>
                <a:ext cx="1289050" cy="184150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48A83F83-2F6F-5114-9062-FC0EDF963AE5}"/>
                  </a:ext>
                </a:extLst>
              </p:cNvPr>
              <p:cNvSpPr txBox="1"/>
              <p:nvPr/>
            </p:nvSpPr>
            <p:spPr>
              <a:xfrm>
                <a:off x="859657" y="3404632"/>
                <a:ext cx="684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ja-JP" altLang="en-US" b="1" baseline="0">
                    <a:ln>
                      <a:solidFill>
                        <a:schemeClr val="bg1"/>
                      </a:solidFill>
                    </a:ln>
                    <a:solidFill>
                      <a:srgbClr val="FF0000"/>
                    </a:solidFill>
                    <a:latin typeface="+mn-lt"/>
                    <a:ea typeface="+mn-ea"/>
                  </a:rPr>
                  <a:t>検査</a:t>
                </a:r>
                <a:r>
                  <a:rPr kumimoji="1" lang="ja-JP" altLang="en-US" b="1" baseline="0">
                    <a:latin typeface="+mn-lt"/>
                    <a:ea typeface="+mn-ea"/>
                  </a:rPr>
                  <a:t>基板</a:t>
                </a:r>
              </a:p>
            </p:txBody>
          </p:sp>
        </p:grp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DA098EEB-8E84-E7EE-FA00-294E46B201F2}"/>
                </a:ext>
              </a:extLst>
            </p:cNvPr>
            <p:cNvSpPr/>
            <p:nvPr/>
          </p:nvSpPr>
          <p:spPr>
            <a:xfrm>
              <a:off x="1187647" y="3846621"/>
              <a:ext cx="172664" cy="244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D29BAAB5-E311-5F27-01E7-AB2CD0794A47}"/>
                </a:ext>
              </a:extLst>
            </p:cNvPr>
            <p:cNvSpPr/>
            <p:nvPr/>
          </p:nvSpPr>
          <p:spPr>
            <a:xfrm rot="16200000">
              <a:off x="722601" y="4144081"/>
              <a:ext cx="172664" cy="2448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35DB6A8E-313F-0FE5-3D0E-99A6D10F1033}"/>
              </a:ext>
            </a:extLst>
          </p:cNvPr>
          <p:cNvSpPr txBox="1"/>
          <p:nvPr/>
        </p:nvSpPr>
        <p:spPr>
          <a:xfrm>
            <a:off x="8184979" y="4093229"/>
            <a:ext cx="79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="1" baseline="0">
                <a:solidFill>
                  <a:srgbClr val="FF0000"/>
                </a:solidFill>
                <a:latin typeface="+mn-lt"/>
                <a:ea typeface="+mn-ea"/>
              </a:rPr>
              <a:t>異常を</a:t>
            </a:r>
            <a:br>
              <a:rPr kumimoji="1" lang="en-US" altLang="ja-JP" sz="1600" b="1" baseline="0">
                <a:solidFill>
                  <a:srgbClr val="FF0000"/>
                </a:solidFill>
                <a:latin typeface="+mn-lt"/>
                <a:ea typeface="+mn-ea"/>
              </a:rPr>
            </a:br>
            <a:r>
              <a:rPr kumimoji="1" lang="ja-JP" altLang="en-US" sz="1600" b="1" baseline="0">
                <a:solidFill>
                  <a:srgbClr val="FF0000"/>
                </a:solidFill>
                <a:latin typeface="+mn-lt"/>
                <a:ea typeface="+mn-ea"/>
              </a:rPr>
              <a:t>検知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0E0F1D-CF1E-E520-3EA1-6F981E3D358E}"/>
              </a:ext>
            </a:extLst>
          </p:cNvPr>
          <p:cNvSpPr txBox="1"/>
          <p:nvPr/>
        </p:nvSpPr>
        <p:spPr>
          <a:xfrm>
            <a:off x="4533598" y="2615773"/>
            <a:ext cx="1539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600" b="1" baseline="0">
                <a:latin typeface="+mn-lt"/>
                <a:ea typeface="+mn-ea"/>
              </a:rPr>
              <a:t>欠陥のある基盤</a:t>
            </a:r>
          </a:p>
        </p:txBody>
      </p:sp>
      <p:sp>
        <p:nvSpPr>
          <p:cNvPr id="8" name="円弧 7">
            <a:extLst>
              <a:ext uri="{FF2B5EF4-FFF2-40B4-BE49-F238E27FC236}">
                <a16:creationId xmlns:a16="http://schemas.microsoft.com/office/drawing/2014/main" id="{A58DCB43-2A82-4871-92F6-70C78027BDEB}"/>
              </a:ext>
            </a:extLst>
          </p:cNvPr>
          <p:cNvSpPr/>
          <p:nvPr/>
        </p:nvSpPr>
        <p:spPr>
          <a:xfrm>
            <a:off x="3644897" y="4079872"/>
            <a:ext cx="2097935" cy="936626"/>
          </a:xfrm>
          <a:prstGeom prst="arc">
            <a:avLst>
              <a:gd name="adj1" fmla="val 11571544"/>
              <a:gd name="adj2" fmla="val 20811102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弧 8">
            <a:extLst>
              <a:ext uri="{FF2B5EF4-FFF2-40B4-BE49-F238E27FC236}">
                <a16:creationId xmlns:a16="http://schemas.microsoft.com/office/drawing/2014/main" id="{5333F1D8-8A64-8E88-A377-6172C3865922}"/>
              </a:ext>
            </a:extLst>
          </p:cNvPr>
          <p:cNvSpPr/>
          <p:nvPr/>
        </p:nvSpPr>
        <p:spPr>
          <a:xfrm>
            <a:off x="2870989" y="4427846"/>
            <a:ext cx="2097935" cy="936626"/>
          </a:xfrm>
          <a:prstGeom prst="arc">
            <a:avLst>
              <a:gd name="adj1" fmla="val 11571544"/>
              <a:gd name="adj2" fmla="val 20811102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4DE7A-5472-379B-8C60-62F830C95897}"/>
              </a:ext>
            </a:extLst>
          </p:cNvPr>
          <p:cNvSpPr txBox="1"/>
          <p:nvPr/>
        </p:nvSpPr>
        <p:spPr>
          <a:xfrm>
            <a:off x="4171783" y="3792194"/>
            <a:ext cx="646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400" b="1" baseline="0">
                <a:solidFill>
                  <a:srgbClr val="FF0000"/>
                </a:solidFill>
                <a:latin typeface="+mn-lt"/>
                <a:ea typeface="+mn-ea"/>
              </a:rPr>
              <a:t>異常</a:t>
            </a:r>
            <a:endParaRPr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9758D6-297C-8C01-7390-6D932A8BE55E}"/>
              </a:ext>
            </a:extLst>
          </p:cNvPr>
          <p:cNvSpPr txBox="1"/>
          <p:nvPr/>
        </p:nvSpPr>
        <p:spPr>
          <a:xfrm>
            <a:off x="3761295" y="4437782"/>
            <a:ext cx="646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400" b="1" baseline="0">
                <a:solidFill>
                  <a:srgbClr val="FF0000"/>
                </a:solidFill>
                <a:latin typeface="+mn-lt"/>
                <a:ea typeface="+mn-ea"/>
              </a:rPr>
              <a:t>正常</a:t>
            </a:r>
            <a:endParaRPr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B03FFBD-CFE6-D1D3-1340-6A7EB7B08538}"/>
              </a:ext>
            </a:extLst>
          </p:cNvPr>
          <p:cNvSpPr txBox="1"/>
          <p:nvPr/>
        </p:nvSpPr>
        <p:spPr>
          <a:xfrm>
            <a:off x="1755786" y="3058854"/>
            <a:ext cx="664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="1" baseline="0">
                <a:latin typeface="+mn-lt"/>
                <a:ea typeface="+mn-ea"/>
              </a:rPr>
              <a:t>素子</a:t>
            </a:r>
            <a:endParaRPr kumimoji="1" lang="en-US" altLang="ja-JP" b="1" baseline="0">
              <a:latin typeface="+mn-lt"/>
              <a:ea typeface="+mn-ea"/>
            </a:endParaRPr>
          </a:p>
          <a:p>
            <a:pPr algn="l"/>
            <a:r>
              <a:rPr kumimoji="1" lang="ja-JP" altLang="en-US" b="1" baseline="0">
                <a:latin typeface="+mn-lt"/>
                <a:ea typeface="+mn-ea"/>
              </a:rPr>
              <a:t>抽出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E5A07-BDB0-9676-F3C9-13773BFD2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15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50189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0F2E9-4EE3-9762-1874-78302AB4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4998185-14DC-068E-DA18-E13FD7CF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ソフトの紹介（画像処理）</a:t>
            </a:r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14AE66C-1EAE-E595-CFDA-18CE48EB2F67}"/>
              </a:ext>
            </a:extLst>
          </p:cNvPr>
          <p:cNvSpPr/>
          <p:nvPr/>
        </p:nvSpPr>
        <p:spPr>
          <a:xfrm>
            <a:off x="175591" y="714067"/>
            <a:ext cx="2001079" cy="47178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bg1"/>
                </a:solidFill>
              </a:rPr>
              <a:t>基板検査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0835EC-DFD3-739A-48E5-779189BC68D7}"/>
              </a:ext>
            </a:extLst>
          </p:cNvPr>
          <p:cNvSpPr txBox="1"/>
          <p:nvPr/>
        </p:nvSpPr>
        <p:spPr>
          <a:xfrm>
            <a:off x="1050711" y="1289050"/>
            <a:ext cx="267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baseline="0">
                <a:latin typeface="+mn-lt"/>
                <a:ea typeface="+mn-ea"/>
              </a:rPr>
              <a:t>３．コンデンサの方向検出</a:t>
            </a:r>
            <a:endParaRPr kumimoji="1" lang="en-US" altLang="ja-JP" b="1" baseline="0">
              <a:latin typeface="+mn-lt"/>
              <a:ea typeface="+mn-ea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EDD5719-3CFE-546F-22A2-CBCC8933EBBF}"/>
              </a:ext>
            </a:extLst>
          </p:cNvPr>
          <p:cNvSpPr txBox="1"/>
          <p:nvPr/>
        </p:nvSpPr>
        <p:spPr>
          <a:xfrm>
            <a:off x="5603755" y="1289050"/>
            <a:ext cx="2265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４</a:t>
            </a:r>
            <a:r>
              <a:rPr kumimoji="1" lang="ja-JP" altLang="en-US" b="1" baseline="0">
                <a:latin typeface="+mn-lt"/>
                <a:ea typeface="+mn-ea"/>
              </a:rPr>
              <a:t>．素子の欠損</a:t>
            </a:r>
            <a:r>
              <a:rPr lang="ja-JP" altLang="en-US" b="1">
                <a:latin typeface="+mn-lt"/>
                <a:ea typeface="+mn-ea"/>
              </a:rPr>
              <a:t>検出</a:t>
            </a:r>
            <a:endParaRPr kumimoji="1" lang="en-US" altLang="ja-JP" b="1" baseline="0">
              <a:latin typeface="+mn-lt"/>
              <a:ea typeface="+mn-ea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511B914-E220-AF4E-5289-C62458B418A3}"/>
              </a:ext>
            </a:extLst>
          </p:cNvPr>
          <p:cNvSpPr txBox="1"/>
          <p:nvPr/>
        </p:nvSpPr>
        <p:spPr>
          <a:xfrm>
            <a:off x="716465" y="1833123"/>
            <a:ext cx="1237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baseline="0">
                <a:latin typeface="+mn-lt"/>
                <a:ea typeface="+mn-ea"/>
              </a:rPr>
              <a:t>抽出した円形</a:t>
            </a:r>
            <a:endParaRPr kumimoji="1" lang="en-US" altLang="ja-JP" sz="1400" b="1" baseline="0">
              <a:latin typeface="+mn-lt"/>
              <a:ea typeface="+mn-ea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E037C1-56A9-1BA5-776F-ECE3E35FB6C7}"/>
              </a:ext>
            </a:extLst>
          </p:cNvPr>
          <p:cNvSpPr txBox="1"/>
          <p:nvPr/>
        </p:nvSpPr>
        <p:spPr>
          <a:xfrm>
            <a:off x="2609795" y="1833122"/>
            <a:ext cx="1634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latin typeface="+mn-lt"/>
                <a:ea typeface="+mn-ea"/>
              </a:rPr>
              <a:t>方向の異常を検知</a:t>
            </a:r>
            <a:endParaRPr kumimoji="1" lang="en-US" altLang="ja-JP" sz="1400" b="1" baseline="0">
              <a:latin typeface="+mn-lt"/>
              <a:ea typeface="+mn-ea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854BC5D-A01F-8540-ED49-FAC427383F6E}"/>
              </a:ext>
            </a:extLst>
          </p:cNvPr>
          <p:cNvSpPr txBox="1"/>
          <p:nvPr/>
        </p:nvSpPr>
        <p:spPr>
          <a:xfrm>
            <a:off x="4910734" y="1833122"/>
            <a:ext cx="1571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baseline="0">
                <a:latin typeface="+mn-lt"/>
                <a:ea typeface="+mn-ea"/>
              </a:rPr>
              <a:t>白色の素子を抽出</a:t>
            </a:r>
            <a:endParaRPr kumimoji="1" lang="en-US" altLang="ja-JP" sz="1400" b="1" baseline="0">
              <a:latin typeface="+mn-lt"/>
              <a:ea typeface="+mn-ea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42011DE-6E9E-7AEA-5D2A-FF9DDA145F49}"/>
              </a:ext>
            </a:extLst>
          </p:cNvPr>
          <p:cNvSpPr txBox="1"/>
          <p:nvPr/>
        </p:nvSpPr>
        <p:spPr>
          <a:xfrm>
            <a:off x="7008015" y="1833121"/>
            <a:ext cx="1579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baseline="0">
                <a:latin typeface="+mn-lt"/>
                <a:ea typeface="+mn-ea"/>
              </a:rPr>
              <a:t>素子の欠損を検知</a:t>
            </a:r>
            <a:endParaRPr kumimoji="1" lang="en-US" altLang="ja-JP" sz="1400" b="1" baseline="0">
              <a:latin typeface="+mn-lt"/>
              <a:ea typeface="+mn-ea"/>
            </a:endParaRPr>
          </a:p>
        </p:txBody>
      </p:sp>
      <p:pic>
        <p:nvPicPr>
          <p:cNvPr id="6" name="図 5" descr="回路, 電子機器 が含まれている画像&#10;&#10;自動的に生成された説明">
            <a:extLst>
              <a:ext uri="{FF2B5EF4-FFF2-40B4-BE49-F238E27FC236}">
                <a16:creationId xmlns:a16="http://schemas.microsoft.com/office/drawing/2014/main" id="{A5C1F21D-4096-2194-D0DF-DDF9BF25A3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186" y="2140898"/>
            <a:ext cx="1791705" cy="2880000"/>
          </a:xfrm>
          <a:prstGeom prst="rect">
            <a:avLst/>
          </a:prstGeom>
        </p:spPr>
      </p:pic>
      <p:pic>
        <p:nvPicPr>
          <p:cNvPr id="9" name="図 8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DB40D3AD-05C6-3723-DBF1-1FDA8E419F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7827" y="2154898"/>
            <a:ext cx="1791705" cy="2880000"/>
          </a:xfrm>
          <a:prstGeom prst="rect">
            <a:avLst/>
          </a:prstGeom>
        </p:spPr>
      </p:pic>
      <p:pic>
        <p:nvPicPr>
          <p:cNvPr id="11" name="図 10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5A52101C-2974-D917-B8A9-D7F4B082D38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3796" y="2120687"/>
            <a:ext cx="1791705" cy="2880000"/>
          </a:xfrm>
          <a:prstGeom prst="rect">
            <a:avLst/>
          </a:prstGeom>
        </p:spPr>
      </p:pic>
      <p:pic>
        <p:nvPicPr>
          <p:cNvPr id="19" name="図 18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D0508EB4-876C-7C98-D68F-CB6C824375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2109" y="2120687"/>
            <a:ext cx="1791705" cy="288000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C5E446-CD06-DCEE-16F2-38A4A1A82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16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8695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D807B-15E9-E570-BA6F-16B30889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Appendix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79AB7E-E05B-0739-12BD-15385C198C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193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6BAB40-B594-BDFC-1AA2-B16D77C8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1407D018-DE90-8AC2-B8F7-B3523BEDB6AD}"/>
              </a:ext>
            </a:extLst>
          </p:cNvPr>
          <p:cNvSpPr/>
          <p:nvPr/>
        </p:nvSpPr>
        <p:spPr>
          <a:xfrm>
            <a:off x="4702865" y="834206"/>
            <a:ext cx="4056821" cy="41353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06F01EFC-F174-F012-D6F3-1BB590A94F34}"/>
              </a:ext>
            </a:extLst>
          </p:cNvPr>
          <p:cNvSpPr/>
          <p:nvPr/>
        </p:nvSpPr>
        <p:spPr>
          <a:xfrm>
            <a:off x="384314" y="3171017"/>
            <a:ext cx="4045370" cy="16432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E9AFF7-FE66-6E21-7DFD-6BD15658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システムの紹介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FBC403C-2B7C-55CC-6A91-6795AE9202FB}"/>
              </a:ext>
            </a:extLst>
          </p:cNvPr>
          <p:cNvSpPr/>
          <p:nvPr/>
        </p:nvSpPr>
        <p:spPr>
          <a:xfrm>
            <a:off x="5072550" y="1310794"/>
            <a:ext cx="1141579" cy="111034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2000" b="1">
                <a:solidFill>
                  <a:sysClr val="windowText" lastClr="000000"/>
                </a:solidFill>
              </a:rPr>
              <a:t>GUI</a:t>
            </a:r>
            <a:endParaRPr kumimoji="1" lang="ja-JP" altLang="en-US" sz="2000" b="1">
              <a:solidFill>
                <a:sysClr val="windowText" lastClr="000000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DD6222EA-97DF-71DF-1095-0BA46522BF9E}"/>
              </a:ext>
            </a:extLst>
          </p:cNvPr>
          <p:cNvSpPr/>
          <p:nvPr/>
        </p:nvSpPr>
        <p:spPr>
          <a:xfrm>
            <a:off x="2936307" y="3437481"/>
            <a:ext cx="1141579" cy="111034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800" b="1">
              <a:solidFill>
                <a:schemeClr val="bg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DE248E2F-7150-1E6B-4ECB-2AAA1467FF5C}"/>
              </a:ext>
            </a:extLst>
          </p:cNvPr>
          <p:cNvSpPr/>
          <p:nvPr/>
        </p:nvSpPr>
        <p:spPr>
          <a:xfrm>
            <a:off x="5072550" y="3437480"/>
            <a:ext cx="1141579" cy="111034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solidFill>
                <a:schemeClr val="bg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9CB67B2-EEDA-16D8-AAD0-243B6AB2F244}"/>
              </a:ext>
            </a:extLst>
          </p:cNvPr>
          <p:cNvCxnSpPr>
            <a:cxnSpLocks/>
            <a:stCxn id="22" idx="0"/>
            <a:endCxn id="20" idx="4"/>
          </p:cNvCxnSpPr>
          <p:nvPr/>
        </p:nvCxnSpPr>
        <p:spPr>
          <a:xfrm flipV="1">
            <a:off x="5643340" y="2421138"/>
            <a:ext cx="0" cy="1016342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CA3B6291-005A-44AD-9394-F73D8CD9EE37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4084319" y="3992652"/>
            <a:ext cx="988231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A483E8C-A7EA-2E4D-54DA-549F592C34C7}"/>
              </a:ext>
            </a:extLst>
          </p:cNvPr>
          <p:cNvSpPr txBox="1"/>
          <p:nvPr/>
        </p:nvSpPr>
        <p:spPr>
          <a:xfrm>
            <a:off x="4935250" y="3807986"/>
            <a:ext cx="1403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800" b="1">
                <a:solidFill>
                  <a:sysClr val="windowText" lastClr="000000"/>
                </a:solidFill>
              </a:rPr>
              <a:t>IMAGE</a:t>
            </a:r>
            <a:endParaRPr kumimoji="1" lang="ja-JP" altLang="en-US" sz="1800" b="1">
              <a:solidFill>
                <a:sysClr val="windowText" lastClr="000000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AEBBCA9-7E58-08FA-3103-57F553CF5BF7}"/>
              </a:ext>
            </a:extLst>
          </p:cNvPr>
          <p:cNvSpPr txBox="1"/>
          <p:nvPr/>
        </p:nvSpPr>
        <p:spPr>
          <a:xfrm>
            <a:off x="2805440" y="3807987"/>
            <a:ext cx="1403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800" b="1">
                <a:solidFill>
                  <a:sysClr val="windowText" lastClr="000000"/>
                </a:solidFill>
              </a:rPr>
              <a:t>MOTOR</a:t>
            </a:r>
            <a:endParaRPr kumimoji="1" lang="ja-JP" altLang="en-US" sz="1800" b="1">
              <a:solidFill>
                <a:sysClr val="windowText" lastClr="000000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D0404EC-1716-34B1-38DD-9DBF17E7C98E}"/>
              </a:ext>
            </a:extLst>
          </p:cNvPr>
          <p:cNvSpPr txBox="1"/>
          <p:nvPr/>
        </p:nvSpPr>
        <p:spPr>
          <a:xfrm>
            <a:off x="157285" y="834206"/>
            <a:ext cx="2592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ja-JP" b="1">
                <a:solidFill>
                  <a:sysClr val="windowText" lastClr="000000"/>
                </a:solidFill>
                <a:latin typeface="+mn-lt"/>
                <a:ea typeface="+mn-ea"/>
              </a:rPr>
              <a:t>4</a:t>
            </a:r>
            <a:r>
              <a:rPr lang="ja-JP" altLang="en-US" b="1">
                <a:solidFill>
                  <a:sysClr val="windowText" lastClr="000000"/>
                </a:solidFill>
                <a:latin typeface="+mn-lt"/>
                <a:ea typeface="+mn-ea"/>
              </a:rPr>
              <a:t>つのモジュールで構成</a:t>
            </a:r>
            <a:endParaRPr lang="en-US" altLang="ja-JP" b="1">
              <a:solidFill>
                <a:sysClr val="windowText" lastClr="000000"/>
              </a:solidFill>
              <a:latin typeface="+mn-lt"/>
              <a:ea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ja-JP" altLang="en-US" b="1" baseline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3D934DF-A48B-659C-1567-70ADB17A8E48}"/>
              </a:ext>
            </a:extLst>
          </p:cNvPr>
          <p:cNvSpPr txBox="1"/>
          <p:nvPr/>
        </p:nvSpPr>
        <p:spPr>
          <a:xfrm>
            <a:off x="4935250" y="951387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kumimoji="1" lang="ja-JP" altLang="en-US" baseline="0">
                <a:solidFill>
                  <a:sysClr val="windowText" lastClr="000000"/>
                </a:solidFill>
                <a:latin typeface="+mn-lt"/>
                <a:ea typeface="+mn-ea"/>
              </a:rPr>
              <a:t>検査結果の表示</a:t>
            </a:r>
            <a:endParaRPr kumimoji="1" lang="en-US" altLang="ja-JP" baseline="0">
              <a:solidFill>
                <a:sysClr val="windowText" lastClr="000000"/>
              </a:solidFill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endParaRPr lang="en-US" altLang="ja-JP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725F244-ADDE-8A3D-8015-DB746A334C03}"/>
              </a:ext>
            </a:extLst>
          </p:cNvPr>
          <p:cNvSpPr txBox="1"/>
          <p:nvPr/>
        </p:nvSpPr>
        <p:spPr>
          <a:xfrm>
            <a:off x="6244411" y="4203969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ja-JP" altLang="en-US">
                <a:solidFill>
                  <a:sysClr val="windowText" lastClr="000000"/>
                </a:solidFill>
                <a:latin typeface="+mn-lt"/>
                <a:ea typeface="+mn-ea"/>
              </a:rPr>
              <a:t>正解基盤の登録</a:t>
            </a:r>
            <a:endParaRPr lang="en-US" altLang="ja-JP">
              <a:solidFill>
                <a:sysClr val="windowText" lastClr="000000"/>
              </a:solidFill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kumimoji="1" lang="ja-JP" altLang="en-US" baseline="0">
                <a:solidFill>
                  <a:sysClr val="windowText" lastClr="000000"/>
                </a:solidFill>
                <a:latin typeface="+mn-lt"/>
                <a:ea typeface="+mn-ea"/>
              </a:rPr>
              <a:t>基板の検査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1A4C01-8F25-634A-E7DD-F1E2CB366E9B}"/>
              </a:ext>
            </a:extLst>
          </p:cNvPr>
          <p:cNvSpPr txBox="1"/>
          <p:nvPr/>
        </p:nvSpPr>
        <p:spPr>
          <a:xfrm>
            <a:off x="520840" y="3807987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kumimoji="1" lang="ja-JP" altLang="en-US" baseline="0">
                <a:solidFill>
                  <a:sysClr val="windowText" lastClr="000000"/>
                </a:solidFill>
                <a:latin typeface="+mn-lt"/>
                <a:ea typeface="+mn-ea"/>
              </a:rPr>
              <a:t>モータの動作を指示</a:t>
            </a:r>
            <a:endParaRPr lang="en-US" altLang="ja-JP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ED2CE10-E561-2F1F-A4FA-54DF8DEBFD77}"/>
              </a:ext>
            </a:extLst>
          </p:cNvPr>
          <p:cNvSpPr txBox="1"/>
          <p:nvPr/>
        </p:nvSpPr>
        <p:spPr>
          <a:xfrm>
            <a:off x="462161" y="313162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800" b="1">
                <a:solidFill>
                  <a:schemeClr val="bg1"/>
                </a:solidFill>
                <a:latin typeface="+mn-lt"/>
                <a:ea typeface="+mn-ea"/>
              </a:rPr>
              <a:t>RaspberryPi</a:t>
            </a:r>
            <a:endParaRPr kumimoji="1" lang="ja-JP" altLang="en-US" sz="2800" b="1" baseline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30D17E2-728D-F54A-D849-AC9A144117D7}"/>
              </a:ext>
            </a:extLst>
          </p:cNvPr>
          <p:cNvSpPr txBox="1"/>
          <p:nvPr/>
        </p:nvSpPr>
        <p:spPr>
          <a:xfrm>
            <a:off x="7780123" y="787574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800" b="1">
                <a:solidFill>
                  <a:schemeClr val="bg1"/>
                </a:solidFill>
                <a:latin typeface="+mn-lt"/>
                <a:ea typeface="+mn-ea"/>
              </a:rPr>
              <a:t>PC</a:t>
            </a:r>
            <a:endParaRPr kumimoji="1" lang="ja-JP" altLang="en-US" sz="2800" b="1" baseline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2F55391F-B182-59AE-F287-70B82F6CF1C4}"/>
              </a:ext>
            </a:extLst>
          </p:cNvPr>
          <p:cNvSpPr/>
          <p:nvPr/>
        </p:nvSpPr>
        <p:spPr>
          <a:xfrm>
            <a:off x="7115532" y="2136692"/>
            <a:ext cx="1141579" cy="111034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en-US" altLang="ja-JP" sz="1600" b="1">
                <a:solidFill>
                  <a:sysClr val="windowText" lastClr="000000"/>
                </a:solidFill>
              </a:rPr>
              <a:t>DATA</a:t>
            </a:r>
            <a:endParaRPr kumimoji="1" lang="ja-JP" altLang="en-US" sz="1600" b="1">
              <a:solidFill>
                <a:sysClr val="windowText" lastClr="000000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7751327-B456-301A-4D94-9B60F8DC3084}"/>
              </a:ext>
            </a:extLst>
          </p:cNvPr>
          <p:cNvCxnSpPr>
            <a:cxnSpLocks/>
          </p:cNvCxnSpPr>
          <p:nvPr/>
        </p:nvCxnSpPr>
        <p:spPr>
          <a:xfrm flipH="1" flipV="1">
            <a:off x="6214129" y="1967976"/>
            <a:ext cx="901403" cy="64273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92F8CE-A489-8884-A9FB-F69615E55035}"/>
              </a:ext>
            </a:extLst>
          </p:cNvPr>
          <p:cNvSpPr txBox="1"/>
          <p:nvPr/>
        </p:nvSpPr>
        <p:spPr>
          <a:xfrm>
            <a:off x="6720356" y="335617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kumimoji="1" lang="ja-JP" altLang="en-US" baseline="0">
                <a:solidFill>
                  <a:sysClr val="windowText" lastClr="000000"/>
                </a:solidFill>
                <a:latin typeface="+mn-lt"/>
                <a:ea typeface="+mn-ea"/>
              </a:rPr>
              <a:t>検査履歴の保存</a:t>
            </a:r>
            <a:endParaRPr lang="en-US" altLang="ja-JP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E33A82-3CB0-3CE8-1FF1-DCD250B3B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18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7537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6BAB40-B594-BDFC-1AA2-B16D77C86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E9AFF7-FE66-6E21-7DFD-6BD15658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購入物品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30D17E2-728D-F54A-D849-AC9A144117D7}"/>
              </a:ext>
            </a:extLst>
          </p:cNvPr>
          <p:cNvSpPr txBox="1"/>
          <p:nvPr/>
        </p:nvSpPr>
        <p:spPr>
          <a:xfrm>
            <a:off x="7780123" y="787574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800" b="1">
                <a:solidFill>
                  <a:schemeClr val="bg1"/>
                </a:solidFill>
                <a:latin typeface="+mn-lt"/>
                <a:ea typeface="+mn-ea"/>
              </a:rPr>
              <a:t>PC</a:t>
            </a:r>
            <a:endParaRPr kumimoji="1" lang="ja-JP" altLang="en-US" sz="2800" b="1" baseline="0">
              <a:solidFill>
                <a:schemeClr val="bg1"/>
              </a:solidFill>
              <a:latin typeface="+mn-lt"/>
              <a:ea typeface="+mn-ea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FCB5F1D4-53DA-41AF-90A5-6038A73B0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088719"/>
              </p:ext>
            </p:extLst>
          </p:nvPr>
        </p:nvGraphicFramePr>
        <p:xfrm>
          <a:off x="252247" y="1049183"/>
          <a:ext cx="8224347" cy="324954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659410">
                  <a:extLst>
                    <a:ext uri="{9D8B030D-6E8A-4147-A177-3AD203B41FA5}">
                      <a16:colId xmlns:a16="http://schemas.microsoft.com/office/drawing/2014/main" val="1913903672"/>
                    </a:ext>
                  </a:extLst>
                </a:gridCol>
                <a:gridCol w="777755">
                  <a:extLst>
                    <a:ext uri="{9D8B030D-6E8A-4147-A177-3AD203B41FA5}">
                      <a16:colId xmlns:a16="http://schemas.microsoft.com/office/drawing/2014/main" val="3090549238"/>
                    </a:ext>
                  </a:extLst>
                </a:gridCol>
                <a:gridCol w="893591">
                  <a:extLst>
                    <a:ext uri="{9D8B030D-6E8A-4147-A177-3AD203B41FA5}">
                      <a16:colId xmlns:a16="http://schemas.microsoft.com/office/drawing/2014/main" val="1624581458"/>
                    </a:ext>
                  </a:extLst>
                </a:gridCol>
                <a:gridCol w="893591">
                  <a:extLst>
                    <a:ext uri="{9D8B030D-6E8A-4147-A177-3AD203B41FA5}">
                      <a16:colId xmlns:a16="http://schemas.microsoft.com/office/drawing/2014/main" val="2337348167"/>
                    </a:ext>
                  </a:extLst>
                </a:gridCol>
              </a:tblGrid>
              <a:tr h="360267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>
                          <a:effectLst/>
                        </a:rPr>
                        <a:t>品名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>
                          <a:effectLst/>
                        </a:rPr>
                        <a:t> 金額 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>
                          <a:effectLst/>
                        </a:rPr>
                        <a:t>個数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u="none" strike="noStrike">
                          <a:effectLst/>
                        </a:rPr>
                        <a:t> 合計金額 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01971846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バイポーラー ステッピングモーター </a:t>
                      </a:r>
                      <a:r>
                        <a:rPr lang="en-US" altLang="ja-JP" sz="1400" b="1" u="none" strike="noStrike">
                          <a:effectLst/>
                        </a:rPr>
                        <a:t>ST-42BYH1004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¥ 2,850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2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5,700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433321725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b="1" u="none" strike="noStrike">
                          <a:effectLst/>
                        </a:rPr>
                        <a:t>DRV8835</a:t>
                      </a:r>
                      <a:r>
                        <a:rPr lang="ja-JP" altLang="en-US" sz="1400" b="1" u="none" strike="noStrike">
                          <a:effectLst/>
                        </a:rPr>
                        <a:t>使用ステッピング</a:t>
                      </a:r>
                      <a:r>
                        <a:rPr lang="en-US" altLang="ja-JP" sz="1400" b="1" u="none" strike="noStrike">
                          <a:effectLst/>
                        </a:rPr>
                        <a:t>&amp;DC</a:t>
                      </a:r>
                      <a:r>
                        <a:rPr lang="ja-JP" altLang="en-US" sz="1400" b="1" u="none" strike="noStrike">
                          <a:effectLst/>
                        </a:rPr>
                        <a:t>モータードライバーモジュール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550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2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1,100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54227240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アクリル板</a:t>
                      </a:r>
                      <a:r>
                        <a:rPr lang="en-US" altLang="ja-JP" sz="1400" b="1" u="none" strike="noStrike">
                          <a:effectLst/>
                        </a:rPr>
                        <a:t>(</a:t>
                      </a:r>
                      <a:r>
                        <a:rPr lang="ja-JP" altLang="en-US" sz="1400" b="1" u="none" strike="noStrike">
                          <a:effectLst/>
                        </a:rPr>
                        <a:t>黒</a:t>
                      </a:r>
                      <a:r>
                        <a:rPr lang="en-US" altLang="ja-JP" sz="1400" b="1" u="none" strike="noStrike">
                          <a:effectLst/>
                        </a:rPr>
                        <a:t>) </a:t>
                      </a:r>
                      <a:r>
                        <a:rPr lang="ja-JP" altLang="en-US" sz="1400" b="1" u="none" strike="noStrike">
                          <a:effectLst/>
                        </a:rPr>
                        <a:t>厚さ</a:t>
                      </a:r>
                      <a:r>
                        <a:rPr lang="en-US" altLang="ja-JP" sz="1400" b="1" u="none" strike="noStrike">
                          <a:effectLst/>
                        </a:rPr>
                        <a:t>2(mm) </a:t>
                      </a:r>
                      <a:r>
                        <a:rPr lang="ja-JP" altLang="en-US" sz="1400" b="1" u="none" strike="noStrike">
                          <a:effectLst/>
                        </a:rPr>
                        <a:t>幅</a:t>
                      </a:r>
                      <a:r>
                        <a:rPr lang="en-US" altLang="ja-JP" sz="1400" b="1" u="none" strike="noStrike">
                          <a:effectLst/>
                        </a:rPr>
                        <a:t>545(mm) </a:t>
                      </a:r>
                      <a:r>
                        <a:rPr lang="ja-JP" altLang="en-US" sz="1400" b="1" u="none" strike="noStrike">
                          <a:effectLst/>
                        </a:rPr>
                        <a:t>長さ</a:t>
                      </a:r>
                      <a:r>
                        <a:rPr lang="en-US" altLang="ja-JP" sz="1400" b="1" u="none" strike="noStrike">
                          <a:effectLst/>
                        </a:rPr>
                        <a:t>650(mm)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¥ 2,998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1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2,998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1405876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ステッピングモーター用ブラケット </a:t>
                      </a:r>
                      <a:r>
                        <a:rPr lang="en-US" altLang="ja-JP" sz="1400" b="1" u="none" strike="noStrike">
                          <a:effectLst/>
                        </a:rPr>
                        <a:t>B4201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450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6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2,700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9206532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後入れロックナット </a:t>
                      </a:r>
                      <a:r>
                        <a:rPr lang="en-US" altLang="ja-JP" sz="1400" b="1" u="none" strike="noStrike">
                          <a:effectLst/>
                        </a:rPr>
                        <a:t>S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  79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16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1,264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97824342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テクニック キャタピラ ホイール </a:t>
                      </a:r>
                      <a:r>
                        <a:rPr lang="en-US" altLang="ja-JP" sz="1400" b="1" u="none" strike="noStrike">
                          <a:effectLst/>
                        </a:rPr>
                        <a:t>40.4</a:t>
                      </a:r>
                      <a:r>
                        <a:rPr lang="ja-JP" altLang="en-US" sz="1400" b="1" u="none" strike="noStrike">
                          <a:effectLst/>
                        </a:rPr>
                        <a:t>：</a:t>
                      </a:r>
                      <a:r>
                        <a:rPr lang="en-US" altLang="ja-JP" sz="1400" b="1" u="none" strike="noStrike">
                          <a:effectLst/>
                        </a:rPr>
                        <a:t>[Yellow / </a:t>
                      </a:r>
                      <a:r>
                        <a:rPr lang="ja-JP" altLang="en-US" sz="1400" b="1" u="none" strike="noStrike">
                          <a:effectLst/>
                        </a:rPr>
                        <a:t>イエロー</a:t>
                      </a:r>
                      <a:r>
                        <a:rPr lang="en-US" altLang="ja-JP" sz="1400" b="1" u="none" strike="noStrike">
                          <a:effectLst/>
                        </a:rPr>
                        <a:t>]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208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1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  208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02086565"/>
                  </a:ext>
                </a:extLst>
              </a:tr>
              <a:tr h="360267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テクニック </a:t>
                      </a:r>
                      <a:r>
                        <a:rPr lang="en-US" altLang="ja-JP" sz="1400" b="1" u="none" strike="noStrike">
                          <a:effectLst/>
                        </a:rPr>
                        <a:t>32L </a:t>
                      </a:r>
                      <a:r>
                        <a:rPr lang="ja-JP" altLang="en-US" sz="1400" b="1" u="none" strike="noStrike">
                          <a:effectLst/>
                        </a:rPr>
                        <a:t>十字軸 </a:t>
                      </a:r>
                      <a:r>
                        <a:rPr lang="en-US" altLang="ja-JP" sz="1400" b="1" u="none" strike="noStrike">
                          <a:effectLst/>
                        </a:rPr>
                        <a:t>256mm</a:t>
                      </a:r>
                      <a:r>
                        <a:rPr lang="ja-JP" altLang="en-US" sz="1400" b="1" u="none" strike="noStrike">
                          <a:effectLst/>
                        </a:rPr>
                        <a:t>：</a:t>
                      </a:r>
                      <a:r>
                        <a:rPr lang="en-US" altLang="ja-JP" sz="1400" b="1" u="none" strike="noStrike">
                          <a:effectLst/>
                        </a:rPr>
                        <a:t>[Green / </a:t>
                      </a:r>
                      <a:r>
                        <a:rPr lang="ja-JP" altLang="en-US" sz="1400" b="1" u="none" strike="noStrike">
                          <a:effectLst/>
                        </a:rPr>
                        <a:t>グリーン</a:t>
                      </a:r>
                      <a:r>
                        <a:rPr lang="en-US" altLang="ja-JP" sz="1400" b="1" u="none" strike="noStrike">
                          <a:effectLst/>
                        </a:rPr>
                        <a:t>]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248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b="1" u="none" strike="noStrike">
                          <a:effectLst/>
                        </a:rPr>
                        <a:t>2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     496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93209560"/>
                  </a:ext>
                </a:extLst>
              </a:tr>
              <a:tr h="36741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　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　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400" b="1" u="none" strike="noStrike">
                          <a:effectLst/>
                        </a:rPr>
                        <a:t>計</a:t>
                      </a:r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1" u="none" strike="noStrike">
                          <a:effectLst/>
                        </a:rPr>
                        <a:t> </a:t>
                      </a:r>
                      <a:r>
                        <a:rPr lang="en-US" altLang="ja-JP" sz="1400" b="1" u="none" strike="noStrike">
                          <a:effectLst/>
                        </a:rPr>
                        <a:t>¥ 14,466 </a:t>
                      </a:r>
                      <a:endParaRPr lang="en-US" altLang="ja-JP" sz="1400" b="1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22447680"/>
                  </a:ext>
                </a:extLst>
              </a:tr>
            </a:tbl>
          </a:graphicData>
        </a:graphic>
      </p:graphicFrame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E9455-E253-C2F7-B613-90F9F84BA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19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9417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A92B57-0C90-68E1-5498-475348A8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667B43B0-EB70-841C-26E6-5031CA7D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システムのフローチャート</a:t>
            </a:r>
            <a:r>
              <a:rPr kumimoji="1" lang="ja-JP" altLang="en-US" sz="1800">
                <a:solidFill>
                  <a:srgbClr val="FF0000"/>
                </a:solidFill>
              </a:rPr>
              <a:t>（時間足りない＆重要じゃないので一瞬だけ見せる感じ）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7" name="フローチャート: 端子 6">
            <a:extLst>
              <a:ext uri="{FF2B5EF4-FFF2-40B4-BE49-F238E27FC236}">
                <a16:creationId xmlns:a16="http://schemas.microsoft.com/office/drawing/2014/main" id="{A713E00D-6219-24E6-E9D3-F789AEC942BD}"/>
              </a:ext>
            </a:extLst>
          </p:cNvPr>
          <p:cNvSpPr/>
          <p:nvPr/>
        </p:nvSpPr>
        <p:spPr>
          <a:xfrm>
            <a:off x="2161762" y="1169789"/>
            <a:ext cx="813352" cy="349024"/>
          </a:xfrm>
          <a:prstGeom prst="flowChartTerminator">
            <a:avLst/>
          </a:prstGeom>
          <a:noFill/>
          <a:ln>
            <a:solidFill>
              <a:srgbClr val="0041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solidFill>
                  <a:srgbClr val="0041C0"/>
                </a:solidFill>
              </a:rPr>
              <a:t>開始</a:t>
            </a:r>
          </a:p>
        </p:txBody>
      </p:sp>
      <p:sp>
        <p:nvSpPr>
          <p:cNvPr id="8" name="フローチャート: 端子 7">
            <a:extLst>
              <a:ext uri="{FF2B5EF4-FFF2-40B4-BE49-F238E27FC236}">
                <a16:creationId xmlns:a16="http://schemas.microsoft.com/office/drawing/2014/main" id="{311B3E97-3AC8-CC4D-CE3A-7DDFADCA3F15}"/>
              </a:ext>
            </a:extLst>
          </p:cNvPr>
          <p:cNvSpPr/>
          <p:nvPr/>
        </p:nvSpPr>
        <p:spPr>
          <a:xfrm>
            <a:off x="2157619" y="3836303"/>
            <a:ext cx="813352" cy="352846"/>
          </a:xfrm>
          <a:prstGeom prst="flowChartTerminator">
            <a:avLst/>
          </a:prstGeom>
          <a:noFill/>
          <a:ln>
            <a:solidFill>
              <a:srgbClr val="0041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0041C0"/>
                </a:solidFill>
              </a:rPr>
              <a:t>終了</a:t>
            </a:r>
            <a:endParaRPr kumimoji="1" lang="ja-JP" altLang="en-US" sz="1400" b="1">
              <a:solidFill>
                <a:srgbClr val="0041C0"/>
              </a:solidFill>
            </a:endParaRPr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053C165D-74C4-F14E-7EB0-8DC2F5C6C8E4}"/>
              </a:ext>
            </a:extLst>
          </p:cNvPr>
          <p:cNvSpPr/>
          <p:nvPr/>
        </p:nvSpPr>
        <p:spPr>
          <a:xfrm>
            <a:off x="1788845" y="1763305"/>
            <a:ext cx="1550903" cy="315818"/>
          </a:xfrm>
          <a:prstGeom prst="flowChartProcess">
            <a:avLst/>
          </a:prstGeom>
          <a:noFill/>
          <a:ln>
            <a:solidFill>
              <a:srgbClr val="0041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solidFill>
                  <a:srgbClr val="0041C0"/>
                </a:solidFill>
              </a:rPr>
              <a:t>メインメニュー表示</a:t>
            </a:r>
          </a:p>
        </p:txBody>
      </p:sp>
      <p:sp>
        <p:nvSpPr>
          <p:cNvPr id="13" name="フローチャート: 判断 12">
            <a:extLst>
              <a:ext uri="{FF2B5EF4-FFF2-40B4-BE49-F238E27FC236}">
                <a16:creationId xmlns:a16="http://schemas.microsoft.com/office/drawing/2014/main" id="{B5C16366-FE7B-70B3-1DED-B38C6DD11D59}"/>
              </a:ext>
            </a:extLst>
          </p:cNvPr>
          <p:cNvSpPr/>
          <p:nvPr/>
        </p:nvSpPr>
        <p:spPr>
          <a:xfrm>
            <a:off x="1547192" y="2333179"/>
            <a:ext cx="2034209" cy="412148"/>
          </a:xfrm>
          <a:prstGeom prst="flowChartDecision">
            <a:avLst/>
          </a:prstGeom>
          <a:noFill/>
          <a:ln>
            <a:solidFill>
              <a:srgbClr val="0041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solidFill>
                  <a:srgbClr val="0041C0"/>
                </a:solidFill>
              </a:rPr>
              <a:t>ボタン選択</a:t>
            </a:r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E5C8A322-F436-040B-E1F8-75131B188EC1}"/>
              </a:ext>
            </a:extLst>
          </p:cNvPr>
          <p:cNvSpPr/>
          <p:nvPr/>
        </p:nvSpPr>
        <p:spPr>
          <a:xfrm>
            <a:off x="428838" y="2959626"/>
            <a:ext cx="1333700" cy="412148"/>
          </a:xfrm>
          <a:prstGeom prst="flowChartProcess">
            <a:avLst/>
          </a:prstGeom>
          <a:noFill/>
          <a:ln>
            <a:solidFill>
              <a:srgbClr val="0041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solidFill>
                  <a:srgbClr val="0041C0"/>
                </a:solidFill>
              </a:rPr>
              <a:t>検査画面表示</a:t>
            </a:r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9351A86C-A151-4164-2917-B14491785964}"/>
              </a:ext>
            </a:extLst>
          </p:cNvPr>
          <p:cNvSpPr/>
          <p:nvPr/>
        </p:nvSpPr>
        <p:spPr>
          <a:xfrm>
            <a:off x="1834147" y="2959625"/>
            <a:ext cx="1460297" cy="412148"/>
          </a:xfrm>
          <a:prstGeom prst="flowChartProcess">
            <a:avLst/>
          </a:prstGeom>
          <a:noFill/>
          <a:ln>
            <a:solidFill>
              <a:srgbClr val="0041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0041C0"/>
                </a:solidFill>
              </a:rPr>
              <a:t>登録・閲覧</a:t>
            </a:r>
            <a:r>
              <a:rPr kumimoji="1" lang="ja-JP" altLang="en-US" sz="1400" b="1">
                <a:solidFill>
                  <a:srgbClr val="0041C0"/>
                </a:solidFill>
              </a:rPr>
              <a:t>画面表示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FA415C8-4EF9-C93E-C015-BA93313BAC0B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2564297" y="1518813"/>
            <a:ext cx="4141" cy="244492"/>
          </a:xfrm>
          <a:prstGeom prst="straightConnector1">
            <a:avLst/>
          </a:prstGeom>
          <a:ln w="19050">
            <a:solidFill>
              <a:srgbClr val="0041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381D4700-969A-9B86-2CE7-53C3822B839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2564297" y="2079123"/>
            <a:ext cx="0" cy="254056"/>
          </a:xfrm>
          <a:prstGeom prst="straightConnector1">
            <a:avLst/>
          </a:prstGeom>
          <a:ln w="19050">
            <a:solidFill>
              <a:srgbClr val="0041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A42EA49C-6EDF-9BC9-F023-8FFCD2196F21}"/>
              </a:ext>
            </a:extLst>
          </p:cNvPr>
          <p:cNvCxnSpPr>
            <a:cxnSpLocks/>
            <a:stCxn id="13" idx="1"/>
            <a:endCxn id="14" idx="0"/>
          </p:cNvCxnSpPr>
          <p:nvPr/>
        </p:nvCxnSpPr>
        <p:spPr>
          <a:xfrm rot="10800000" flipV="1">
            <a:off x="1095688" y="2539252"/>
            <a:ext cx="451504" cy="420373"/>
          </a:xfrm>
          <a:prstGeom prst="bentConnector2">
            <a:avLst/>
          </a:prstGeom>
          <a:ln w="19050">
            <a:solidFill>
              <a:srgbClr val="0041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5681D27-7062-A292-C207-788BB859D9D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2564296" y="2745327"/>
            <a:ext cx="1" cy="214298"/>
          </a:xfrm>
          <a:prstGeom prst="straightConnector1">
            <a:avLst/>
          </a:prstGeom>
          <a:ln w="19050">
            <a:solidFill>
              <a:srgbClr val="0041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E418BF7F-8ADF-8038-AC95-DA4A9AB0653C}"/>
              </a:ext>
            </a:extLst>
          </p:cNvPr>
          <p:cNvCxnSpPr>
            <a:stCxn id="14" idx="2"/>
          </p:cNvCxnSpPr>
          <p:nvPr/>
        </p:nvCxnSpPr>
        <p:spPr>
          <a:xfrm flipH="1">
            <a:off x="1095687" y="3371774"/>
            <a:ext cx="1" cy="166556"/>
          </a:xfrm>
          <a:prstGeom prst="line">
            <a:avLst/>
          </a:prstGeom>
          <a:ln w="19050">
            <a:solidFill>
              <a:srgbClr val="0041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41BBB64-7376-FF80-1762-F55E750B7EA2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564295" y="3371773"/>
            <a:ext cx="1" cy="166557"/>
          </a:xfrm>
          <a:prstGeom prst="line">
            <a:avLst/>
          </a:prstGeom>
          <a:ln w="19050">
            <a:solidFill>
              <a:srgbClr val="0041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A228F636-5B1A-EA1C-2D44-29A9CE433B1A}"/>
              </a:ext>
            </a:extLst>
          </p:cNvPr>
          <p:cNvCxnSpPr/>
          <p:nvPr/>
        </p:nvCxnSpPr>
        <p:spPr>
          <a:xfrm flipH="1">
            <a:off x="213360" y="3538330"/>
            <a:ext cx="2350935" cy="0"/>
          </a:xfrm>
          <a:prstGeom prst="line">
            <a:avLst/>
          </a:prstGeom>
          <a:ln w="19050">
            <a:solidFill>
              <a:srgbClr val="0041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コネクタ: カギ線 55">
            <a:extLst>
              <a:ext uri="{FF2B5EF4-FFF2-40B4-BE49-F238E27FC236}">
                <a16:creationId xmlns:a16="http://schemas.microsoft.com/office/drawing/2014/main" id="{5B2E7A9F-738F-7D6B-AB63-EA5B845590D9}"/>
              </a:ext>
            </a:extLst>
          </p:cNvPr>
          <p:cNvCxnSpPr>
            <a:cxnSpLocks/>
          </p:cNvCxnSpPr>
          <p:nvPr/>
        </p:nvCxnSpPr>
        <p:spPr>
          <a:xfrm flipV="1">
            <a:off x="213359" y="1641059"/>
            <a:ext cx="2350937" cy="1897271"/>
          </a:xfrm>
          <a:prstGeom prst="bentConnector3">
            <a:avLst>
              <a:gd name="adj1" fmla="val 474"/>
            </a:avLst>
          </a:prstGeom>
          <a:ln w="19050">
            <a:solidFill>
              <a:srgbClr val="0041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D6C21FC9-FAF0-8A0D-1FD4-C2D8711AB95F}"/>
              </a:ext>
            </a:extLst>
          </p:cNvPr>
          <p:cNvCxnSpPr>
            <a:stCxn id="13" idx="3"/>
          </p:cNvCxnSpPr>
          <p:nvPr/>
        </p:nvCxnSpPr>
        <p:spPr>
          <a:xfrm>
            <a:off x="3581401" y="2539253"/>
            <a:ext cx="161543" cy="1173211"/>
          </a:xfrm>
          <a:prstGeom prst="bentConnector2">
            <a:avLst/>
          </a:prstGeom>
          <a:ln w="19050">
            <a:solidFill>
              <a:srgbClr val="0041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065ACB99-36DA-BB9F-A026-5C1E75D169DB}"/>
              </a:ext>
            </a:extLst>
          </p:cNvPr>
          <p:cNvCxnSpPr>
            <a:endCxn id="8" idx="0"/>
          </p:cNvCxnSpPr>
          <p:nvPr/>
        </p:nvCxnSpPr>
        <p:spPr>
          <a:xfrm rot="10800000" flipV="1">
            <a:off x="2564296" y="3712463"/>
            <a:ext cx="1178649" cy="123839"/>
          </a:xfrm>
          <a:prstGeom prst="bentConnector2">
            <a:avLst/>
          </a:prstGeom>
          <a:ln w="19050">
            <a:solidFill>
              <a:srgbClr val="0041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D896C9A-44AF-65C3-F1D6-8D906E9D3A19}"/>
              </a:ext>
            </a:extLst>
          </p:cNvPr>
          <p:cNvSpPr txBox="1"/>
          <p:nvPr/>
        </p:nvSpPr>
        <p:spPr>
          <a:xfrm>
            <a:off x="428838" y="723900"/>
            <a:ext cx="117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b="1" baseline="0">
                <a:latin typeface="+mn-lt"/>
                <a:ea typeface="+mn-ea"/>
              </a:rPr>
              <a:t>GUI</a:t>
            </a:r>
            <a:endParaRPr kumimoji="1" lang="ja-JP" altLang="en-US" b="1" baseline="0">
              <a:latin typeface="+mn-lt"/>
              <a:ea typeface="+mn-ea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82C8760-1DA1-7977-66E2-31027B7604F6}"/>
              </a:ext>
            </a:extLst>
          </p:cNvPr>
          <p:cNvSpPr txBox="1"/>
          <p:nvPr/>
        </p:nvSpPr>
        <p:spPr>
          <a:xfrm>
            <a:off x="4571999" y="723900"/>
            <a:ext cx="117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b="1" baseline="0">
                <a:latin typeface="+mn-lt"/>
                <a:ea typeface="+mn-ea"/>
              </a:rPr>
              <a:t>IMAGE</a:t>
            </a:r>
            <a:endParaRPr kumimoji="1" lang="ja-JP" altLang="en-US" b="1" baseline="0">
              <a:latin typeface="+mn-lt"/>
              <a:ea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8E879AA-A366-E3F3-53C3-D5023F6E7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20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50550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AE59F2-500E-54A2-E016-8ECC0250C5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有用性</a:t>
            </a:r>
            <a:endParaRPr lang="en-US" altLang="ja-JP"/>
          </a:p>
          <a:p>
            <a:pPr lvl="1"/>
            <a:r>
              <a:rPr kumimoji="1" lang="ja-JP" altLang="en-US"/>
              <a:t>小型化することでスペースをくわない</a:t>
            </a:r>
            <a:endParaRPr kumimoji="1" lang="en-US" altLang="ja-JP"/>
          </a:p>
          <a:p>
            <a:pPr lvl="1"/>
            <a:r>
              <a:rPr kumimoji="1" lang="ja-JP" altLang="en-US"/>
              <a:t>高画質撮影を行うことで，小さい素子も欠陥検出可能</a:t>
            </a:r>
            <a:endParaRPr kumimoji="1" lang="en-US" altLang="ja-JP"/>
          </a:p>
          <a:p>
            <a:pPr lvl="1"/>
            <a:r>
              <a:rPr lang="ja-JP" altLang="en-US"/>
              <a:t>アクリル板を使用することでハードの耐久性が高い</a:t>
            </a:r>
            <a:br>
              <a:rPr kumimoji="1" lang="en-US" altLang="ja-JP"/>
            </a:br>
            <a:endParaRPr lang="en-US" altLang="ja-JP"/>
          </a:p>
          <a:p>
            <a:r>
              <a:rPr kumimoji="1" lang="ja-JP" altLang="en-US"/>
              <a:t>有効性</a:t>
            </a:r>
            <a:endParaRPr kumimoji="1" lang="en-US" altLang="ja-JP"/>
          </a:p>
          <a:p>
            <a:pPr lvl="1"/>
            <a:r>
              <a:rPr lang="ja-JP" altLang="en-US"/>
              <a:t>検出率〇〇％</a:t>
            </a:r>
            <a:endParaRPr lang="en-US" altLang="ja-JP"/>
          </a:p>
          <a:p>
            <a:pPr lvl="1"/>
            <a:r>
              <a:rPr lang="en-US" altLang="ja-JP"/>
              <a:t>100</a:t>
            </a:r>
            <a:r>
              <a:rPr lang="ja-JP" altLang="en-US"/>
              <a:t>回程度は動かしたが壊れなかった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利便性</a:t>
            </a:r>
            <a:endParaRPr kumimoji="1" lang="en-US" altLang="ja-JP"/>
          </a:p>
          <a:p>
            <a:pPr lvl="1"/>
            <a:r>
              <a:rPr lang="ja-JP" altLang="en-US"/>
              <a:t>小型化により持ち運び可能</a:t>
            </a:r>
            <a:endParaRPr lang="en-US" altLang="ja-JP"/>
          </a:p>
          <a:p>
            <a:pPr lvl="1"/>
            <a:r>
              <a:rPr lang="en-US" altLang="ja-JP"/>
              <a:t>GUI</a:t>
            </a:r>
            <a:r>
              <a:rPr lang="ja-JP" altLang="en-US"/>
              <a:t>を用いたアプリケーションを作成使用</a:t>
            </a:r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44F376A-39AF-42AB-A9C3-8CCAF40A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開発品の有用性・有効性・利便性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3B08F3-789C-1183-FAE4-61F4B68A6033}"/>
              </a:ext>
            </a:extLst>
          </p:cNvPr>
          <p:cNvSpPr txBox="1"/>
          <p:nvPr/>
        </p:nvSpPr>
        <p:spPr>
          <a:xfrm>
            <a:off x="4286250" y="2388997"/>
            <a:ext cx="4549643" cy="523220"/>
          </a:xfrm>
          <a:prstGeom prst="rect">
            <a:avLst/>
          </a:prstGeom>
          <a:noFill/>
          <a:ln>
            <a:solidFill>
              <a:srgbClr val="D6273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 baseline="0">
                <a:solidFill>
                  <a:srgbClr val="FF0000"/>
                </a:solidFill>
                <a:latin typeface="+mn-lt"/>
                <a:ea typeface="+mn-ea"/>
              </a:rPr>
              <a:t>ここはアニメスライドのときに話す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F80633-5960-6A37-A82C-0EBD54872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21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30666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0ED3D3C-8E08-4D14-10A7-BFDBE05E4EB8}"/>
              </a:ext>
            </a:extLst>
          </p:cNvPr>
          <p:cNvGrpSpPr/>
          <p:nvPr/>
        </p:nvGrpSpPr>
        <p:grpSpPr>
          <a:xfrm>
            <a:off x="2329623" y="1155509"/>
            <a:ext cx="4484751" cy="1534885"/>
            <a:chOff x="1719943" y="1155509"/>
            <a:chExt cx="4484751" cy="1534885"/>
          </a:xfrm>
          <a:solidFill>
            <a:schemeClr val="bg1">
              <a:lumMod val="75000"/>
            </a:schemeClr>
          </a:solidFill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5183CCA-F333-0828-662E-A23DFD3BE5E0}"/>
                </a:ext>
              </a:extLst>
            </p:cNvPr>
            <p:cNvSpPr/>
            <p:nvPr/>
          </p:nvSpPr>
          <p:spPr>
            <a:xfrm rot="5400000">
              <a:off x="4339236" y="824937"/>
              <a:ext cx="1534885" cy="2196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E0829BD-F279-5086-6B77-2C6470002838}"/>
                </a:ext>
              </a:extLst>
            </p:cNvPr>
            <p:cNvSpPr/>
            <p:nvPr/>
          </p:nvSpPr>
          <p:spPr>
            <a:xfrm rot="5400000">
              <a:off x="2050515" y="824937"/>
              <a:ext cx="1534885" cy="21960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22C5FFA0-6EC0-FF52-2AFD-E4F93CD4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順転と逆転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00CD1DE-41B0-1132-64C9-C18BAC036AB3}"/>
              </a:ext>
            </a:extLst>
          </p:cNvPr>
          <p:cNvSpPr/>
          <p:nvPr/>
        </p:nvSpPr>
        <p:spPr>
          <a:xfrm>
            <a:off x="3804558" y="2776020"/>
            <a:ext cx="1534885" cy="21960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7706A6-BD3D-C0B3-C3AC-D1E07F348A34}"/>
              </a:ext>
            </a:extLst>
          </p:cNvPr>
          <p:cNvSpPr/>
          <p:nvPr/>
        </p:nvSpPr>
        <p:spPr>
          <a:xfrm>
            <a:off x="4083049" y="3617396"/>
            <a:ext cx="977901" cy="12808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52E003-47B2-7AB4-A388-9CD1AA9443EE}"/>
              </a:ext>
            </a:extLst>
          </p:cNvPr>
          <p:cNvSpPr txBox="1"/>
          <p:nvPr/>
        </p:nvSpPr>
        <p:spPr>
          <a:xfrm>
            <a:off x="7684939" y="159978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3600" baseline="0">
                <a:latin typeface="+mn-lt"/>
                <a:ea typeface="+mn-ea"/>
              </a:rPr>
              <a:t>良品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9CB665-A6EC-C22B-58A0-993ABB9B4173}"/>
              </a:ext>
            </a:extLst>
          </p:cNvPr>
          <p:cNvSpPr txBox="1"/>
          <p:nvPr/>
        </p:nvSpPr>
        <p:spPr>
          <a:xfrm>
            <a:off x="124562" y="159978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3600" baseline="0">
                <a:latin typeface="+mn-lt"/>
                <a:ea typeface="+mn-ea"/>
              </a:rPr>
              <a:t>不良品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EE93004C-D3C7-73E3-5424-E1D27708A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22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0570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-0.4540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7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45401 L 0.26007 -0.4540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45401 L -0.2401 -0.4524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14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2BC1D-C689-25F0-A186-1BDEDA32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矢印: 上 10">
            <a:extLst>
              <a:ext uri="{FF2B5EF4-FFF2-40B4-BE49-F238E27FC236}">
                <a16:creationId xmlns:a16="http://schemas.microsoft.com/office/drawing/2014/main" id="{BE7D3BBA-870E-F324-45C5-34F207740B7A}"/>
              </a:ext>
            </a:extLst>
          </p:cNvPr>
          <p:cNvSpPr/>
          <p:nvPr/>
        </p:nvSpPr>
        <p:spPr>
          <a:xfrm rot="18965429">
            <a:off x="7980728" y="2492249"/>
            <a:ext cx="330586" cy="493384"/>
          </a:xfrm>
          <a:prstGeom prst="upArrow">
            <a:avLst>
              <a:gd name="adj1" fmla="val 24825"/>
              <a:gd name="adj2" fmla="val 835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E6E17E-579E-22BA-175D-B449D6C317D4}"/>
              </a:ext>
            </a:extLst>
          </p:cNvPr>
          <p:cNvSpPr txBox="1"/>
          <p:nvPr/>
        </p:nvSpPr>
        <p:spPr>
          <a:xfrm>
            <a:off x="6729407" y="2188473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ja-JP" altLang="en-US" b="1">
                <a:latin typeface="+mn-lt"/>
                <a:ea typeface="+mn-ea"/>
              </a:rPr>
              <a:t>登録開始</a:t>
            </a:r>
            <a:endParaRPr kumimoji="1" lang="ja-JP" altLang="en-US" b="1" baseline="0">
              <a:latin typeface="+mn-lt"/>
              <a:ea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2332B0-42D3-FA78-D05F-E7E7BEB1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基板登録のフロー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93F518B-4CC2-9376-8D21-F5166E7AECA6}"/>
              </a:ext>
            </a:extLst>
          </p:cNvPr>
          <p:cNvSpPr/>
          <p:nvPr/>
        </p:nvSpPr>
        <p:spPr>
          <a:xfrm>
            <a:off x="3911599" y="3081867"/>
            <a:ext cx="1320800" cy="1845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613FA39-A4CF-3C94-F0E6-A32D6A855C3A}"/>
              </a:ext>
            </a:extLst>
          </p:cNvPr>
          <p:cNvSpPr/>
          <p:nvPr/>
        </p:nvSpPr>
        <p:spPr>
          <a:xfrm>
            <a:off x="524328" y="4402667"/>
            <a:ext cx="3293533" cy="1439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810C6C7-C2FD-9157-743B-EEB2CE356C3F}"/>
              </a:ext>
            </a:extLst>
          </p:cNvPr>
          <p:cNvSpPr/>
          <p:nvPr/>
        </p:nvSpPr>
        <p:spPr>
          <a:xfrm>
            <a:off x="276768" y="4582159"/>
            <a:ext cx="8590462" cy="345441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7" name="台形 26">
            <a:extLst>
              <a:ext uri="{FF2B5EF4-FFF2-40B4-BE49-F238E27FC236}">
                <a16:creationId xmlns:a16="http://schemas.microsoft.com/office/drawing/2014/main" id="{7CBC970C-76B1-6A5F-AA23-F73EEF7AD98C}"/>
              </a:ext>
            </a:extLst>
          </p:cNvPr>
          <p:cNvSpPr/>
          <p:nvPr/>
        </p:nvSpPr>
        <p:spPr>
          <a:xfrm>
            <a:off x="4025446" y="3081867"/>
            <a:ext cx="1093106" cy="1464732"/>
          </a:xfrm>
          <a:prstGeom prst="trapezoid">
            <a:avLst>
              <a:gd name="adj" fmla="val 37234"/>
            </a:avLst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8" name="フローチャート: 代替処理 27">
            <a:extLst>
              <a:ext uri="{FF2B5EF4-FFF2-40B4-BE49-F238E27FC236}">
                <a16:creationId xmlns:a16="http://schemas.microsoft.com/office/drawing/2014/main" id="{7E1C9623-295F-4DAC-DDCA-818A59795965}"/>
              </a:ext>
            </a:extLst>
          </p:cNvPr>
          <p:cNvSpPr/>
          <p:nvPr/>
        </p:nvSpPr>
        <p:spPr>
          <a:xfrm>
            <a:off x="4407201" y="2937935"/>
            <a:ext cx="329596" cy="143932"/>
          </a:xfrm>
          <a:prstGeom prst="flowChartAlternateProces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58EC7A3-34B7-0B5A-4A0F-2C2BA2106857}"/>
              </a:ext>
            </a:extLst>
          </p:cNvPr>
          <p:cNvSpPr/>
          <p:nvPr/>
        </p:nvSpPr>
        <p:spPr>
          <a:xfrm>
            <a:off x="5806531" y="888699"/>
            <a:ext cx="2953748" cy="29485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F3F295D-D574-85AE-72FD-0A99018E53A8}"/>
              </a:ext>
            </a:extLst>
          </p:cNvPr>
          <p:cNvSpPr/>
          <p:nvPr/>
        </p:nvSpPr>
        <p:spPr>
          <a:xfrm>
            <a:off x="6109452" y="1054268"/>
            <a:ext cx="2359478" cy="88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DCE0794-44C5-E413-3B35-0ECFDE2E9D49}"/>
              </a:ext>
            </a:extLst>
          </p:cNvPr>
          <p:cNvSpPr/>
          <p:nvPr/>
        </p:nvSpPr>
        <p:spPr>
          <a:xfrm>
            <a:off x="6107766" y="1928527"/>
            <a:ext cx="2359478" cy="88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128C295-E5BE-11E4-CE98-DC5A630ACA52}"/>
              </a:ext>
            </a:extLst>
          </p:cNvPr>
          <p:cNvSpPr/>
          <p:nvPr/>
        </p:nvSpPr>
        <p:spPr>
          <a:xfrm>
            <a:off x="6103666" y="2790205"/>
            <a:ext cx="2359478" cy="8817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5C2899-044D-28EF-6ECD-C2DC83F1078E}"/>
              </a:ext>
            </a:extLst>
          </p:cNvPr>
          <p:cNvSpPr txBox="1"/>
          <p:nvPr/>
        </p:nvSpPr>
        <p:spPr>
          <a:xfrm>
            <a:off x="157285" y="1126800"/>
            <a:ext cx="35654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スタート位置に検査基板をセット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GUI</a:t>
            </a: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を操作し，登録開始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ja-JP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OK</a:t>
            </a: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基板を複数回に分けて撮像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ja-JP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OK</a:t>
            </a: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基板の画像を登録</a:t>
            </a:r>
          </a:p>
          <a:p>
            <a:pPr marL="342900" indent="-342900" algn="l">
              <a:buFont typeface="+mj-lt"/>
              <a:buAutoNum type="arabicPeriod"/>
            </a:pPr>
            <a:r>
              <a:rPr kumimoji="1" lang="ja-JP" altLang="en-US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rPr>
              <a:t>逆転して基盤を取り出し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C9C193D-5EC9-37C9-3715-FF627997ED76}"/>
              </a:ext>
            </a:extLst>
          </p:cNvPr>
          <p:cNvSpPr txBox="1"/>
          <p:nvPr/>
        </p:nvSpPr>
        <p:spPr>
          <a:xfrm>
            <a:off x="6960238" y="3841219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b="1" baseline="0">
                <a:latin typeface="+mn-lt"/>
                <a:ea typeface="+mn-ea"/>
              </a:rPr>
              <a:t>GUI</a:t>
            </a:r>
            <a:endParaRPr kumimoji="1" lang="ja-JP" altLang="en-US" sz="2400" b="1" baseline="0">
              <a:latin typeface="+mn-lt"/>
              <a:ea typeface="+mn-ea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81C01561-0DE3-85AB-3383-B6B9482E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286" y="1214393"/>
            <a:ext cx="2217836" cy="2234896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D16F3E-433D-5791-9F98-ABBAA21668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23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49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08642E-6 L 0.13316 -3.08642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16 -3.08642E-6 L 0.26267 -3.08642E-6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0"/>
                            </p:stCondLst>
                            <p:childTnLst>
                              <p:par>
                                <p:cTn id="58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0"/>
                            </p:stCondLst>
                            <p:childTnLst>
                              <p:par>
                                <p:cTn id="66" presetID="22" presetClass="exit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67 -3.08642E-6 L 0.41354 -3.08642E-6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0"/>
                            </p:stCondLst>
                            <p:childTnLst>
                              <p:par>
                                <p:cTn id="81" presetID="22" presetClass="exit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35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354 -3.08642E-6 L 8.33333E-7 4.19753E-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94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22" grpId="0" animBg="1"/>
      <p:bldP spid="22" grpId="1" animBg="1"/>
      <p:bldP spid="22" grpId="2" animBg="1"/>
      <p:bldP spid="22" grpId="3" animBg="1"/>
      <p:bldP spid="22" grpId="4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3178EF2-A4D0-A2D3-C46F-EE4767E4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ハードの紹介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7E4E90-336B-C563-463A-2C1931345F78}"/>
              </a:ext>
            </a:extLst>
          </p:cNvPr>
          <p:cNvSpPr txBox="1"/>
          <p:nvPr/>
        </p:nvSpPr>
        <p:spPr>
          <a:xfrm>
            <a:off x="2087760" y="956741"/>
            <a:ext cx="4789290" cy="400110"/>
          </a:xfrm>
          <a:prstGeom prst="rect">
            <a:avLst/>
          </a:prstGeom>
          <a:noFill/>
          <a:ln w="19050">
            <a:solidFill>
              <a:srgbClr val="D2263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latin typeface="+mn-lt"/>
                <a:ea typeface="+mn-ea"/>
              </a:rPr>
              <a:t>ハードウェア完成</a:t>
            </a:r>
            <a:endParaRPr kumimoji="1" lang="ja-JP" altLang="en-US" sz="2000" b="1" baseline="0">
              <a:latin typeface="+mn-lt"/>
              <a:ea typeface="+mn-ea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4475A31-B3BB-A2C9-AA9B-60306011D0F3}"/>
              </a:ext>
            </a:extLst>
          </p:cNvPr>
          <p:cNvSpPr txBox="1"/>
          <p:nvPr/>
        </p:nvSpPr>
        <p:spPr>
          <a:xfrm>
            <a:off x="2011885" y="673191"/>
            <a:ext cx="1411127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latin typeface="+mn-lt"/>
                <a:ea typeface="+mn-ea"/>
              </a:rPr>
              <a:t>目標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D49FC006-5839-66FF-21AC-7E38E8BDB4F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5562706" y="276550"/>
            <a:ext cx="578859" cy="2739460"/>
          </a:xfrm>
          <a:prstGeom prst="bentConnector3">
            <a:avLst>
              <a:gd name="adj1" fmla="val 33372"/>
            </a:avLst>
          </a:prstGeom>
          <a:ln w="28575">
            <a:solidFill>
              <a:srgbClr val="1010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ED390B-04B6-D50B-1022-B6D90DE956A8}"/>
              </a:ext>
            </a:extLst>
          </p:cNvPr>
          <p:cNvSpPr txBox="1"/>
          <p:nvPr/>
        </p:nvSpPr>
        <p:spPr>
          <a:xfrm>
            <a:off x="6000628" y="1935710"/>
            <a:ext cx="2442473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latin typeface="+mn-lt"/>
                <a:ea typeface="+mn-ea"/>
              </a:rPr>
              <a:t>コンベア部分の作成</a:t>
            </a:r>
            <a:endParaRPr kumimoji="1" lang="ja-JP" altLang="en-US" sz="2000" b="1" baseline="0">
              <a:latin typeface="+mn-lt"/>
              <a:ea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3F8C8C7-A3D3-21F4-65B9-BF1E755CDF56}"/>
              </a:ext>
            </a:extLst>
          </p:cNvPr>
          <p:cNvSpPr txBox="1"/>
          <p:nvPr/>
        </p:nvSpPr>
        <p:spPr>
          <a:xfrm>
            <a:off x="2613740" y="1934873"/>
            <a:ext cx="3240000" cy="40011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latin typeface="+mn-lt"/>
                <a:ea typeface="+mn-ea"/>
              </a:rPr>
              <a:t>アルミフレームでの外枠作成</a:t>
            </a:r>
            <a:endParaRPr kumimoji="1" lang="ja-JP" altLang="en-US" sz="2000" b="1" baseline="0">
              <a:latin typeface="+mn-lt"/>
              <a:ea typeface="+mn-ea"/>
            </a:endParaRP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4351D2A1-E6C6-FADF-0A3E-12FF9761D1AA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2481395" y="-61803"/>
            <a:ext cx="582356" cy="3419664"/>
          </a:xfrm>
          <a:prstGeom prst="bentConnector3">
            <a:avLst>
              <a:gd name="adj1" fmla="val 33472"/>
            </a:avLst>
          </a:prstGeom>
          <a:ln w="28575">
            <a:solidFill>
              <a:srgbClr val="1010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2A2EDBE-70AB-EF3F-80EF-F738B15AE174}"/>
              </a:ext>
            </a:extLst>
          </p:cNvPr>
          <p:cNvSpPr txBox="1"/>
          <p:nvPr/>
        </p:nvSpPr>
        <p:spPr>
          <a:xfrm>
            <a:off x="3291258" y="1616640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latin typeface="+mn-lt"/>
                <a:ea typeface="+mn-ea"/>
              </a:rPr>
              <a:t>タスク</a:t>
            </a:r>
            <a:r>
              <a:rPr lang="en-US" altLang="ja-JP" sz="1400" b="1">
                <a:latin typeface="+mn-lt"/>
                <a:ea typeface="+mn-ea"/>
              </a:rPr>
              <a:t>2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A059AE8-79AA-AC25-31C3-A44551A1F38B}"/>
              </a:ext>
            </a:extLst>
          </p:cNvPr>
          <p:cNvSpPr txBox="1"/>
          <p:nvPr/>
        </p:nvSpPr>
        <p:spPr>
          <a:xfrm>
            <a:off x="6318944" y="1629103"/>
            <a:ext cx="902921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 b="1">
                <a:latin typeface="+mn-lt"/>
                <a:ea typeface="+mn-ea"/>
              </a:rPr>
              <a:t>タスク</a:t>
            </a:r>
            <a:r>
              <a:rPr lang="en-US" altLang="ja-JP" sz="1400" b="1">
                <a:latin typeface="+mn-lt"/>
                <a:ea typeface="+mn-ea"/>
              </a:rPr>
              <a:t>3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664A332A-E1C5-BD38-2C96-B9D8B891D859}"/>
              </a:ext>
            </a:extLst>
          </p:cNvPr>
          <p:cNvGrpSpPr/>
          <p:nvPr/>
        </p:nvGrpSpPr>
        <p:grpSpPr>
          <a:xfrm>
            <a:off x="80698" y="1629103"/>
            <a:ext cx="3612479" cy="3421214"/>
            <a:chOff x="80698" y="1629103"/>
            <a:chExt cx="3612479" cy="3421214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68A88D7-1476-85D0-42A9-A24B14BA4096}"/>
                </a:ext>
              </a:extLst>
            </p:cNvPr>
            <p:cNvSpPr txBox="1"/>
            <p:nvPr/>
          </p:nvSpPr>
          <p:spPr>
            <a:xfrm>
              <a:off x="80698" y="1939207"/>
              <a:ext cx="1964085" cy="40011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ja-JP" altLang="en-US" sz="2000" b="1">
                  <a:latin typeface="+mn-lt"/>
                  <a:ea typeface="+mn-ea"/>
                </a:rPr>
                <a:t>暗箱の作成</a:t>
              </a:r>
              <a:endParaRPr kumimoji="1" lang="ja-JP" altLang="en-US" sz="2000" b="1" baseline="0">
                <a:latin typeface="+mn-lt"/>
                <a:ea typeface="+mn-ea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A2C2735-A93F-B23C-39D3-EC652573AE9E}"/>
                </a:ext>
              </a:extLst>
            </p:cNvPr>
            <p:cNvSpPr txBox="1"/>
            <p:nvPr/>
          </p:nvSpPr>
          <p:spPr>
            <a:xfrm>
              <a:off x="84764" y="1629103"/>
              <a:ext cx="9029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ja-JP" altLang="en-US" sz="1400" b="1">
                  <a:latin typeface="+mn-lt"/>
                  <a:ea typeface="+mn-ea"/>
                </a:rPr>
                <a:t>タスク</a:t>
              </a:r>
              <a:r>
                <a:rPr lang="en-US" altLang="ja-JP" sz="1400" b="1">
                  <a:latin typeface="+mn-lt"/>
                  <a:ea typeface="+mn-ea"/>
                </a:rPr>
                <a:t>1</a:t>
              </a:r>
              <a:endParaRPr kumimoji="1" lang="ja-JP" altLang="en-US" sz="1400" b="1" baseline="0">
                <a:latin typeface="+mn-lt"/>
                <a:ea typeface="+mn-ea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7FBFD7F3-0164-398C-8A32-D9E1F8CE9278}"/>
                </a:ext>
              </a:extLst>
            </p:cNvPr>
            <p:cNvSpPr txBox="1"/>
            <p:nvPr/>
          </p:nvSpPr>
          <p:spPr>
            <a:xfrm>
              <a:off x="1348445" y="2500854"/>
              <a:ext cx="13181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kumimoji="1" lang="ja-JP" altLang="en-US" sz="1600" baseline="0">
                  <a:latin typeface="+mn-lt"/>
                  <a:ea typeface="+mn-ea"/>
                </a:rPr>
                <a:t>採寸を</a:t>
              </a:r>
              <a:r>
                <a:rPr kumimoji="1" lang="ja-JP" altLang="en-US" sz="1600" b="1" baseline="0">
                  <a:solidFill>
                    <a:srgbClr val="F96B06"/>
                  </a:solidFill>
                  <a:latin typeface="+mn-lt"/>
                  <a:ea typeface="+mn-ea"/>
                </a:rPr>
                <a:t>設計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CF9C2DA-9E83-6EED-E142-561BF330C504}"/>
                </a:ext>
              </a:extLst>
            </p:cNvPr>
            <p:cNvSpPr txBox="1"/>
            <p:nvPr/>
          </p:nvSpPr>
          <p:spPr>
            <a:xfrm>
              <a:off x="1348447" y="3001679"/>
              <a:ext cx="13960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kumimoji="1" lang="ja-JP" altLang="en-US" sz="1600" baseline="0">
                  <a:latin typeface="+mn-lt"/>
                  <a:ea typeface="+mn-ea"/>
                </a:rPr>
                <a:t>プラダンで試作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CD802DE9-57F8-DB44-779B-DBD7940DFC6E}"/>
                </a:ext>
              </a:extLst>
            </p:cNvPr>
            <p:cNvSpPr txBox="1"/>
            <p:nvPr/>
          </p:nvSpPr>
          <p:spPr>
            <a:xfrm>
              <a:off x="1348446" y="3590292"/>
              <a:ext cx="2066308" cy="33855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kumimoji="1" lang="ja-JP" altLang="en-US" sz="1600" baseline="0">
                  <a:latin typeface="+mn-lt"/>
                  <a:ea typeface="+mn-ea"/>
                </a:rPr>
                <a:t>レーザー加工機で加工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C204B18-1CA0-CC76-02C6-416D5265C072}"/>
                </a:ext>
              </a:extLst>
            </p:cNvPr>
            <p:cNvSpPr txBox="1"/>
            <p:nvPr/>
          </p:nvSpPr>
          <p:spPr>
            <a:xfrm>
              <a:off x="1348446" y="4156959"/>
              <a:ext cx="13181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ja-JP" altLang="en-US" sz="1600">
                  <a:latin typeface="+mn-lt"/>
                  <a:ea typeface="+mn-ea"/>
                </a:rPr>
                <a:t>組み立て</a:t>
              </a:r>
              <a:endParaRPr kumimoji="1" lang="ja-JP" altLang="en-US" sz="1600" baseline="0">
                <a:latin typeface="+mn-lt"/>
                <a:ea typeface="+mn-ea"/>
              </a:endParaRPr>
            </a:p>
          </p:txBody>
        </p:sp>
        <p:cxnSp>
          <p:nvCxnSpPr>
            <p:cNvPr id="25" name="コネクタ: カギ線 24">
              <a:extLst>
                <a:ext uri="{FF2B5EF4-FFF2-40B4-BE49-F238E27FC236}">
                  <a16:creationId xmlns:a16="http://schemas.microsoft.com/office/drawing/2014/main" id="{61717538-5D23-E8B7-322E-63B56DB5DC58}"/>
                </a:ext>
              </a:extLst>
            </p:cNvPr>
            <p:cNvCxnSpPr>
              <a:cxnSpLocks/>
              <a:stCxn id="6" idx="2"/>
              <a:endCxn id="9" idx="1"/>
            </p:cNvCxnSpPr>
            <p:nvPr/>
          </p:nvCxnSpPr>
          <p:spPr>
            <a:xfrm rot="16200000" flipH="1">
              <a:off x="1040186" y="2361872"/>
              <a:ext cx="330814" cy="285704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コネクタ: カギ線 25">
              <a:extLst>
                <a:ext uri="{FF2B5EF4-FFF2-40B4-BE49-F238E27FC236}">
                  <a16:creationId xmlns:a16="http://schemas.microsoft.com/office/drawing/2014/main" id="{DB49D2FE-AF08-9D7C-48A8-2D61CEB1713A}"/>
                </a:ext>
              </a:extLst>
            </p:cNvPr>
            <p:cNvCxnSpPr>
              <a:cxnSpLocks/>
              <a:stCxn id="6" idx="2"/>
              <a:endCxn id="10" idx="1"/>
            </p:cNvCxnSpPr>
            <p:nvPr/>
          </p:nvCxnSpPr>
          <p:spPr>
            <a:xfrm rot="16200000" flipH="1">
              <a:off x="789775" y="2612283"/>
              <a:ext cx="831639" cy="285706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8A4BF10A-5BBB-6C19-19AF-5448956D245D}"/>
                </a:ext>
              </a:extLst>
            </p:cNvPr>
            <p:cNvCxnSpPr>
              <a:cxnSpLocks/>
              <a:stCxn id="6" idx="2"/>
              <a:endCxn id="12" idx="1"/>
            </p:cNvCxnSpPr>
            <p:nvPr/>
          </p:nvCxnSpPr>
          <p:spPr>
            <a:xfrm rot="16200000" flipH="1">
              <a:off x="212134" y="3189923"/>
              <a:ext cx="1986919" cy="285705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B1FB4707-F738-9203-ADDF-09000DFE1EAB}"/>
                </a:ext>
              </a:extLst>
            </p:cNvPr>
            <p:cNvCxnSpPr>
              <a:cxnSpLocks/>
              <a:stCxn id="6" idx="2"/>
              <a:endCxn id="11" idx="1"/>
            </p:cNvCxnSpPr>
            <p:nvPr/>
          </p:nvCxnSpPr>
          <p:spPr>
            <a:xfrm rot="16200000" flipH="1">
              <a:off x="495467" y="2906590"/>
              <a:ext cx="1420252" cy="285705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A4D741D6-E27D-B059-AC04-FF27B3C10E70}"/>
                </a:ext>
              </a:extLst>
            </p:cNvPr>
            <p:cNvSpPr txBox="1"/>
            <p:nvPr/>
          </p:nvSpPr>
          <p:spPr>
            <a:xfrm>
              <a:off x="1347065" y="4711763"/>
              <a:ext cx="23461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kumimoji="1" lang="ja-JP" altLang="en-US" sz="1600" baseline="0">
                  <a:latin typeface="+mn-lt"/>
                  <a:ea typeface="+mn-ea"/>
                </a:rPr>
                <a:t>配線や光源の取り付け</a:t>
              </a:r>
            </a:p>
          </p:txBody>
        </p:sp>
        <p:cxnSp>
          <p:nvCxnSpPr>
            <p:cNvPr id="37" name="コネクタ: カギ線 36">
              <a:extLst>
                <a:ext uri="{FF2B5EF4-FFF2-40B4-BE49-F238E27FC236}">
                  <a16:creationId xmlns:a16="http://schemas.microsoft.com/office/drawing/2014/main" id="{34A2A1AF-A14B-4324-1322-ECD91C0EBD67}"/>
                </a:ext>
              </a:extLst>
            </p:cNvPr>
            <p:cNvCxnSpPr>
              <a:cxnSpLocks/>
              <a:stCxn id="6" idx="2"/>
              <a:endCxn id="36" idx="1"/>
            </p:cNvCxnSpPr>
            <p:nvPr/>
          </p:nvCxnSpPr>
          <p:spPr>
            <a:xfrm rot="16200000" flipH="1">
              <a:off x="-65958" y="3468016"/>
              <a:ext cx="2541723" cy="284324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BDDC2FB8-E078-9690-EC19-035AD8173081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5400000">
            <a:off x="4069062" y="1521530"/>
            <a:ext cx="578022" cy="248665"/>
          </a:xfrm>
          <a:prstGeom prst="bentConnector3">
            <a:avLst>
              <a:gd name="adj1" fmla="val 33639"/>
            </a:avLst>
          </a:prstGeom>
          <a:ln w="28575">
            <a:solidFill>
              <a:srgbClr val="1010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596555-0E84-8A59-5518-462AAB3A6897}"/>
              </a:ext>
            </a:extLst>
          </p:cNvPr>
          <p:cNvSpPr txBox="1"/>
          <p:nvPr/>
        </p:nvSpPr>
        <p:spPr>
          <a:xfrm>
            <a:off x="4440551" y="2491503"/>
            <a:ext cx="2142822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暗箱と合体できるようにサイズを</a:t>
            </a:r>
            <a:r>
              <a:rPr lang="ja-JP" altLang="en-US" sz="1600" b="1">
                <a:solidFill>
                  <a:srgbClr val="F96B06"/>
                </a:solidFill>
                <a:latin typeface="+mn-lt"/>
                <a:ea typeface="+mn-ea"/>
              </a:rPr>
              <a:t>設計</a:t>
            </a:r>
            <a:endParaRPr kumimoji="1" lang="ja-JP" altLang="en-US" sz="1600" b="1" baseline="0">
              <a:solidFill>
                <a:srgbClr val="F96B06"/>
              </a:solidFill>
              <a:latin typeface="+mn-lt"/>
              <a:ea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AC37D7-4679-F5DA-FFBC-3E0C2A10EFD3}"/>
              </a:ext>
            </a:extLst>
          </p:cNvPr>
          <p:cNvSpPr txBox="1"/>
          <p:nvPr/>
        </p:nvSpPr>
        <p:spPr>
          <a:xfrm>
            <a:off x="4442757" y="3170956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アルミフレームの切り出し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A279D7-06B4-F675-59E3-6FB6F7840AAC}"/>
              </a:ext>
            </a:extLst>
          </p:cNvPr>
          <p:cNvSpPr txBox="1"/>
          <p:nvPr/>
        </p:nvSpPr>
        <p:spPr>
          <a:xfrm>
            <a:off x="4442757" y="3686042"/>
            <a:ext cx="1318139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8DF0950A-86A2-9E8A-D6FA-01041EF72850}"/>
              </a:ext>
            </a:extLst>
          </p:cNvPr>
          <p:cNvCxnSpPr>
            <a:cxnSpLocks/>
            <a:stCxn id="18" idx="2"/>
            <a:endCxn id="13" idx="1"/>
          </p:cNvCxnSpPr>
          <p:nvPr/>
        </p:nvCxnSpPr>
        <p:spPr>
          <a:xfrm rot="16200000" flipH="1">
            <a:off x="3835623" y="2733099"/>
            <a:ext cx="1005250" cy="20901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AB5B7C57-9E28-4932-9F06-94F5A28349C4}"/>
              </a:ext>
            </a:extLst>
          </p:cNvPr>
          <p:cNvCxnSpPr>
            <a:cxnSpLocks/>
            <a:stCxn id="18" idx="2"/>
            <a:endCxn id="14" idx="1"/>
          </p:cNvCxnSpPr>
          <p:nvPr/>
        </p:nvCxnSpPr>
        <p:spPr>
          <a:xfrm rot="16200000" flipH="1">
            <a:off x="3578080" y="2990642"/>
            <a:ext cx="1520336" cy="20901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BD885D90-9A4F-FC06-438E-635A61CC3D64}"/>
              </a:ext>
            </a:extLst>
          </p:cNvPr>
          <p:cNvCxnSpPr>
            <a:cxnSpLocks/>
            <a:stCxn id="18" idx="2"/>
            <a:endCxn id="7" idx="1"/>
          </p:cNvCxnSpPr>
          <p:nvPr/>
        </p:nvCxnSpPr>
        <p:spPr>
          <a:xfrm rot="16200000" flipH="1">
            <a:off x="4112691" y="2456031"/>
            <a:ext cx="448908" cy="206811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5EFBA5C-A16D-3DBB-A449-A9951CC2872A}"/>
              </a:ext>
            </a:extLst>
          </p:cNvPr>
          <p:cNvSpPr txBox="1"/>
          <p:nvPr/>
        </p:nvSpPr>
        <p:spPr>
          <a:xfrm>
            <a:off x="4442757" y="4105680"/>
            <a:ext cx="1747971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全体の補強パーツ作成・組み立て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1DF133D3-A13E-7CC3-54DC-39273945DB89}"/>
              </a:ext>
            </a:extLst>
          </p:cNvPr>
          <p:cNvCxnSpPr>
            <a:cxnSpLocks/>
            <a:stCxn id="18" idx="2"/>
            <a:endCxn id="39" idx="1"/>
          </p:cNvCxnSpPr>
          <p:nvPr/>
        </p:nvCxnSpPr>
        <p:spPr>
          <a:xfrm rot="16200000" flipH="1">
            <a:off x="3306706" y="3262016"/>
            <a:ext cx="2063085" cy="20901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FF9C9A2-3B21-69A5-D2F2-69AD4079EFD8}"/>
              </a:ext>
            </a:extLst>
          </p:cNvPr>
          <p:cNvSpPr txBox="1"/>
          <p:nvPr/>
        </p:nvSpPr>
        <p:spPr>
          <a:xfrm>
            <a:off x="4442757" y="4744587"/>
            <a:ext cx="2193964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>
                <a:latin typeface="+mn-lt"/>
                <a:ea typeface="+mn-ea"/>
              </a:rPr>
              <a:t>3D</a:t>
            </a:r>
            <a:r>
              <a:rPr lang="ja-JP" altLang="en-US" sz="1600">
                <a:latin typeface="+mn-lt"/>
                <a:ea typeface="+mn-ea"/>
              </a:rPr>
              <a:t>プリンターパーツ作成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7888456-491D-5E55-3544-662EC95B4DB9}"/>
              </a:ext>
            </a:extLst>
          </p:cNvPr>
          <p:cNvSpPr txBox="1"/>
          <p:nvPr/>
        </p:nvSpPr>
        <p:spPr>
          <a:xfrm>
            <a:off x="7396028" y="2492035"/>
            <a:ext cx="1469572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>
                <a:latin typeface="+mn-lt"/>
                <a:ea typeface="+mn-ea"/>
              </a:rPr>
              <a:t>LEGO</a:t>
            </a:r>
            <a:r>
              <a:rPr lang="ja-JP" altLang="en-US" sz="1600">
                <a:latin typeface="+mn-lt"/>
                <a:ea typeface="+mn-ea"/>
              </a:rPr>
              <a:t>組み立て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311274E-C4D2-7B88-FC2A-27A813B34604}"/>
              </a:ext>
            </a:extLst>
          </p:cNvPr>
          <p:cNvSpPr txBox="1"/>
          <p:nvPr/>
        </p:nvSpPr>
        <p:spPr>
          <a:xfrm>
            <a:off x="7396029" y="3637977"/>
            <a:ext cx="1747971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latin typeface="+mn-lt"/>
                <a:ea typeface="+mn-ea"/>
              </a:rPr>
              <a:t>モータ・ブラケットと接続</a:t>
            </a:r>
            <a:endParaRPr kumimoji="1" lang="ja-JP" altLang="en-US" sz="1600" baseline="0">
              <a:latin typeface="+mn-lt"/>
              <a:ea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2CC648D-13CE-01BE-A514-92C4279096DE}"/>
              </a:ext>
            </a:extLst>
          </p:cNvPr>
          <p:cNvSpPr txBox="1"/>
          <p:nvPr/>
        </p:nvSpPr>
        <p:spPr>
          <a:xfrm>
            <a:off x="7396027" y="2985280"/>
            <a:ext cx="1642059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aseline="0">
                <a:latin typeface="+mn-lt"/>
                <a:ea typeface="+mn-ea"/>
              </a:rPr>
              <a:t>ブラケットパーツの加工</a:t>
            </a: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B7D00F2F-D650-1556-5EB1-DCA58BDCE5DD}"/>
              </a:ext>
            </a:extLst>
          </p:cNvPr>
          <p:cNvCxnSpPr>
            <a:cxnSpLocks/>
            <a:stCxn id="8" idx="2"/>
            <a:endCxn id="15" idx="1"/>
          </p:cNvCxnSpPr>
          <p:nvPr/>
        </p:nvCxnSpPr>
        <p:spPr>
          <a:xfrm rot="16200000" flipH="1">
            <a:off x="7146200" y="2411484"/>
            <a:ext cx="325492" cy="174163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ED298B16-4076-4E62-33A2-2B5361EE5CAD}"/>
              </a:ext>
            </a:extLst>
          </p:cNvPr>
          <p:cNvCxnSpPr>
            <a:cxnSpLocks/>
            <a:stCxn id="8" idx="2"/>
            <a:endCxn id="17" idx="1"/>
          </p:cNvCxnSpPr>
          <p:nvPr/>
        </p:nvCxnSpPr>
        <p:spPr>
          <a:xfrm rot="16200000" flipH="1">
            <a:off x="6838022" y="2719663"/>
            <a:ext cx="941848" cy="174162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CB1237B5-78A2-CB9F-975C-E814348CB7B9}"/>
              </a:ext>
            </a:extLst>
          </p:cNvPr>
          <p:cNvCxnSpPr>
            <a:cxnSpLocks/>
            <a:stCxn id="8" idx="2"/>
            <a:endCxn id="16" idx="1"/>
          </p:cNvCxnSpPr>
          <p:nvPr/>
        </p:nvCxnSpPr>
        <p:spPr>
          <a:xfrm rot="16200000" flipH="1">
            <a:off x="6511675" y="3046010"/>
            <a:ext cx="1594545" cy="174164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0751168-B3E1-4D76-10C8-0190ABECFDCA}"/>
              </a:ext>
            </a:extLst>
          </p:cNvPr>
          <p:cNvSpPr txBox="1"/>
          <p:nvPr/>
        </p:nvSpPr>
        <p:spPr>
          <a:xfrm>
            <a:off x="7396029" y="4403180"/>
            <a:ext cx="1747971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b="1" baseline="0">
                <a:solidFill>
                  <a:srgbClr val="F96B06"/>
                </a:solidFill>
                <a:latin typeface="+mn-lt"/>
                <a:ea typeface="+mn-ea"/>
              </a:rPr>
              <a:t>モータ制御</a:t>
            </a:r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89FF6CEB-1A1A-FBC7-E893-CB5C86B91683}"/>
              </a:ext>
            </a:extLst>
          </p:cNvPr>
          <p:cNvCxnSpPr>
            <a:cxnSpLocks/>
            <a:stCxn id="8" idx="2"/>
            <a:endCxn id="41" idx="1"/>
          </p:cNvCxnSpPr>
          <p:nvPr/>
        </p:nvCxnSpPr>
        <p:spPr>
          <a:xfrm rot="16200000" flipH="1">
            <a:off x="6190629" y="3367056"/>
            <a:ext cx="2236637" cy="174164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コネクタ: カギ線 2">
            <a:extLst>
              <a:ext uri="{FF2B5EF4-FFF2-40B4-BE49-F238E27FC236}">
                <a16:creationId xmlns:a16="http://schemas.microsoft.com/office/drawing/2014/main" id="{9E169B59-3FEC-5CBF-3734-58D5A49FB63C}"/>
              </a:ext>
            </a:extLst>
          </p:cNvPr>
          <p:cNvCxnSpPr>
            <a:cxnSpLocks/>
            <a:stCxn id="18" idx="2"/>
            <a:endCxn id="51" idx="1"/>
          </p:cNvCxnSpPr>
          <p:nvPr/>
        </p:nvCxnSpPr>
        <p:spPr>
          <a:xfrm rot="16200000" flipH="1">
            <a:off x="3048808" y="3519914"/>
            <a:ext cx="2578881" cy="20901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スライド番号プレースホルダー 42">
            <a:extLst>
              <a:ext uri="{FF2B5EF4-FFF2-40B4-BE49-F238E27FC236}">
                <a16:creationId xmlns:a16="http://schemas.microsoft.com/office/drawing/2014/main" id="{86E8F5CA-1FB1-A666-EC38-58F6B849B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24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45815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1A7EE5-64CB-F4A8-7F87-ADE457B1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画像処理の詳細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D535A6-8F0F-D8BC-167D-52233C718692}"/>
              </a:ext>
            </a:extLst>
          </p:cNvPr>
          <p:cNvSpPr txBox="1"/>
          <p:nvPr/>
        </p:nvSpPr>
        <p:spPr>
          <a:xfrm>
            <a:off x="1" y="664633"/>
            <a:ext cx="46085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画像の明るさ補正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色温度の調整</a:t>
            </a:r>
            <a:br>
              <a:rPr lang="en-US" altLang="ja-JP">
                <a:latin typeface="+mn-lt"/>
                <a:ea typeface="+mn-ea"/>
              </a:rPr>
            </a:br>
            <a:r>
              <a:rPr lang="en-US" altLang="ja-JP">
                <a:latin typeface="+mn-lt"/>
                <a:ea typeface="+mn-ea"/>
              </a:rPr>
              <a:t>LED</a:t>
            </a:r>
            <a:r>
              <a:rPr lang="ja-JP" altLang="en-US">
                <a:latin typeface="+mn-lt"/>
                <a:ea typeface="+mn-ea"/>
              </a:rPr>
              <a:t>ライトが暖色系の色をしているため，全体的にオレンジっぽい色をしている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→全体的な色を寒色系に補正している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明るさの調整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画像が暗いため，全体的に明るくしている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ハイライトの調整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明るい部分と暗い部分の差を小さくしている</a:t>
            </a:r>
            <a:endParaRPr lang="en-US" altLang="ja-JP">
              <a:latin typeface="+mn-lt"/>
              <a:ea typeface="+mn-ea"/>
            </a:endParaRPr>
          </a:p>
        </p:txBody>
      </p:sp>
      <p:pic>
        <p:nvPicPr>
          <p:cNvPr id="5" name="図 4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759B660B-52DB-C2FF-AF8C-579AFDBE24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2732" y="2107931"/>
            <a:ext cx="2179301" cy="2955677"/>
          </a:xfrm>
          <a:prstGeom prst="rect">
            <a:avLst/>
          </a:prstGeom>
        </p:spPr>
      </p:pic>
      <p:pic>
        <p:nvPicPr>
          <p:cNvPr id="9" name="図 8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E884069B-01FF-0CB0-E207-891428AF02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8513" y="664634"/>
            <a:ext cx="2235183" cy="3031468"/>
          </a:xfrm>
          <a:prstGeom prst="rect">
            <a:avLst/>
          </a:prstGeom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846123-C058-8508-8690-15945D01C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25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39039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7960CE-9698-4334-6D24-D4ED74AE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72817-CF92-8120-9D3B-327A0D68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画像処理の詳細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A8C91D-C8D2-16F7-A747-98E540DE4CBB}"/>
              </a:ext>
            </a:extLst>
          </p:cNvPr>
          <p:cNvSpPr txBox="1"/>
          <p:nvPr/>
        </p:nvSpPr>
        <p:spPr>
          <a:xfrm>
            <a:off x="1" y="664633"/>
            <a:ext cx="46085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b="1">
                <a:latin typeface="+mn-lt"/>
                <a:ea typeface="+mn-ea"/>
              </a:rPr>
              <a:t>2.   Affine</a:t>
            </a:r>
            <a:r>
              <a:rPr lang="ja-JP" altLang="en-US" b="1">
                <a:latin typeface="+mn-lt"/>
                <a:ea typeface="+mn-ea"/>
              </a:rPr>
              <a:t>変換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緑色の抽出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基板部分を抽出する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ノイズ除去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抽出した緑色の箇所のノイズを除去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抽出した部分で最も外側の点を取得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最も右、左、上、下の座標を計算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長方形を描画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計算した最外点から長方形を計算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長方形の頂点を計算</a:t>
            </a:r>
            <a:br>
              <a:rPr lang="en-US" altLang="ja-JP">
                <a:latin typeface="+mn-lt"/>
                <a:ea typeface="+mn-ea"/>
              </a:rPr>
            </a:br>
            <a:r>
              <a:rPr lang="en-US" altLang="ja-JP">
                <a:latin typeface="+mn-lt"/>
                <a:ea typeface="+mn-ea"/>
              </a:rPr>
              <a:t>4</a:t>
            </a:r>
            <a:r>
              <a:rPr lang="ja-JP" altLang="en-US">
                <a:latin typeface="+mn-lt"/>
                <a:ea typeface="+mn-ea"/>
              </a:rPr>
              <a:t>つの頂点が算出される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ja-JP" b="1">
                <a:latin typeface="+mn-lt"/>
                <a:ea typeface="+mn-ea"/>
              </a:rPr>
              <a:t>4</a:t>
            </a:r>
            <a:r>
              <a:rPr lang="ja-JP" altLang="en-US" b="1">
                <a:latin typeface="+mn-lt"/>
                <a:ea typeface="+mn-ea"/>
              </a:rPr>
              <a:t>つの頂点を用いて</a:t>
            </a:r>
            <a:r>
              <a:rPr lang="en-US" altLang="ja-JP" b="1">
                <a:latin typeface="+mn-lt"/>
                <a:ea typeface="+mn-ea"/>
              </a:rPr>
              <a:t>Affine</a:t>
            </a:r>
            <a:r>
              <a:rPr lang="ja-JP" altLang="en-US" b="1">
                <a:latin typeface="+mn-lt"/>
                <a:ea typeface="+mn-ea"/>
              </a:rPr>
              <a:t>変換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基板の平行移動を行う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ja-JP" b="1">
                <a:latin typeface="+mn-lt"/>
                <a:ea typeface="+mn-ea"/>
              </a:rPr>
              <a:t>OK</a:t>
            </a:r>
            <a:r>
              <a:rPr lang="ja-JP" altLang="en-US" b="1">
                <a:latin typeface="+mn-lt"/>
                <a:ea typeface="+mn-ea"/>
              </a:rPr>
              <a:t>基盤と検査基盤のサイズをそろえる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同サイズの画像を比較するため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ja-JP">
              <a:latin typeface="+mn-lt"/>
              <a:ea typeface="+mn-ea"/>
            </a:endParaRPr>
          </a:p>
        </p:txBody>
      </p:sp>
      <p:pic>
        <p:nvPicPr>
          <p:cNvPr id="6" name="図 5" descr="黒い背景と白い文字&#10;&#10;中程度の精度で自動的に生成された説明">
            <a:extLst>
              <a:ext uri="{FF2B5EF4-FFF2-40B4-BE49-F238E27FC236}">
                <a16:creationId xmlns:a16="http://schemas.microsoft.com/office/drawing/2014/main" id="{EA3B608B-A4D2-C5D2-F3AD-CBD687995D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3963" y="88291"/>
            <a:ext cx="1990787" cy="2700000"/>
          </a:xfrm>
          <a:prstGeom prst="rect">
            <a:avLst/>
          </a:prstGeom>
        </p:spPr>
      </p:pic>
      <p:pic>
        <p:nvPicPr>
          <p:cNvPr id="8" name="図 7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58368E02-360F-A964-0438-7D74F32521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981" y="1267735"/>
            <a:ext cx="1990787" cy="2700000"/>
          </a:xfrm>
          <a:prstGeom prst="rect">
            <a:avLst/>
          </a:prstGeom>
        </p:spPr>
      </p:pic>
      <p:pic>
        <p:nvPicPr>
          <p:cNvPr id="10" name="図 9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F3DCB1EE-5BA4-2E70-9E9F-B3533563C8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412" y="2844864"/>
            <a:ext cx="1399890" cy="2245742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B26A9E-02D7-686B-BC06-283F90ABE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26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30816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9B5926-D5CE-8DBE-AAF5-4128EAD1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08F4D-26C5-6099-1CF3-EAF581AAB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画像処理の詳細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DBBDA5-9EAD-C618-1295-E53EA963B63B}"/>
              </a:ext>
            </a:extLst>
          </p:cNvPr>
          <p:cNvSpPr txBox="1"/>
          <p:nvPr/>
        </p:nvSpPr>
        <p:spPr>
          <a:xfrm>
            <a:off x="1" y="664633"/>
            <a:ext cx="46085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b="1">
                <a:latin typeface="+mn-lt"/>
                <a:ea typeface="+mn-ea"/>
              </a:rPr>
              <a:t>3.   </a:t>
            </a:r>
            <a:r>
              <a:rPr lang="ja-JP" altLang="en-US" b="1">
                <a:latin typeface="+mn-lt"/>
                <a:ea typeface="+mn-ea"/>
              </a:rPr>
              <a:t>コンデンサの方向検査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画像のグレースケール化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円形の検出のため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ja-JP" b="1">
                <a:latin typeface="+mn-lt"/>
                <a:ea typeface="+mn-ea"/>
              </a:rPr>
              <a:t>Hough</a:t>
            </a:r>
            <a:r>
              <a:rPr lang="ja-JP" altLang="en-US" b="1">
                <a:latin typeface="+mn-lt"/>
                <a:ea typeface="+mn-ea"/>
              </a:rPr>
              <a:t>変換を用いた円形抽出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半径の最大・最小を設定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近すぎる円形同士は一方を除外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円形からコンデンサ以外をフィルタリング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コンデンサは白黒色の要素が多い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→円内の色を計算し，白黒要素が少ないもの（緑など）は除外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ja-JP" b="1">
                <a:latin typeface="+mn-lt"/>
                <a:ea typeface="+mn-ea"/>
              </a:rPr>
              <a:t>OK</a:t>
            </a:r>
            <a:r>
              <a:rPr lang="ja-JP" altLang="en-US" b="1">
                <a:latin typeface="+mn-lt"/>
                <a:ea typeface="+mn-ea"/>
              </a:rPr>
              <a:t>基盤・検査基盤間の近い座標の円形を比較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閾値距離を超えるものは比較しない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検査基盤側の円形を上下左右反転させたものを作成</a:t>
            </a:r>
            <a:endParaRPr lang="en-US" altLang="ja-JP" b="1">
              <a:latin typeface="+mn-lt"/>
              <a:ea typeface="+mn-ea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E3B49F0-6FE6-0FA5-0FCF-46063C76664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3910" y="679121"/>
            <a:ext cx="1791705" cy="288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200B54C-121B-2A32-70AB-F6D5E6F23D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8508" y="2119121"/>
            <a:ext cx="1791705" cy="288000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AC519FD-83B1-952F-33BF-B4D596949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27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77022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146921-F448-0E6B-FD88-8882086F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083176-5985-4838-AA8F-A8E9D8B5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画像処理の詳細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396C26-A8A3-D2A3-B377-038358B01137}"/>
              </a:ext>
            </a:extLst>
          </p:cNvPr>
          <p:cNvSpPr txBox="1"/>
          <p:nvPr/>
        </p:nvSpPr>
        <p:spPr>
          <a:xfrm>
            <a:off x="1" y="664633"/>
            <a:ext cx="46085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b="1">
                <a:latin typeface="+mn-lt"/>
                <a:ea typeface="+mn-ea"/>
              </a:rPr>
              <a:t>3.   </a:t>
            </a:r>
            <a:r>
              <a:rPr lang="ja-JP" altLang="en-US" b="1">
                <a:latin typeface="+mn-lt"/>
                <a:ea typeface="+mn-ea"/>
              </a:rPr>
              <a:t>コンデンサの方向検査</a:t>
            </a:r>
          </a:p>
          <a:p>
            <a:pPr marL="800100" lvl="1" indent="-342900">
              <a:buFont typeface="+mj-lt"/>
              <a:buAutoNum type="arabicPeriod" startAt="6"/>
            </a:pPr>
            <a:r>
              <a:rPr lang="ja-JP" altLang="en-US" b="1">
                <a:latin typeface="+mn-lt"/>
                <a:ea typeface="+mn-ea"/>
              </a:rPr>
              <a:t>検査基盤の円形（そのまま）と</a:t>
            </a:r>
            <a:br>
              <a:rPr lang="en-US" altLang="ja-JP" b="1">
                <a:latin typeface="+mn-lt"/>
                <a:ea typeface="+mn-ea"/>
              </a:rPr>
            </a:br>
            <a:r>
              <a:rPr lang="en-US" altLang="ja-JP" b="1">
                <a:latin typeface="+mn-lt"/>
                <a:ea typeface="+mn-ea"/>
              </a:rPr>
              <a:t>OK</a:t>
            </a:r>
            <a:r>
              <a:rPr lang="ja-JP" altLang="en-US" b="1">
                <a:latin typeface="+mn-lt"/>
                <a:ea typeface="+mn-ea"/>
              </a:rPr>
              <a:t>基盤の円形の差分を計算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 startAt="6"/>
            </a:pPr>
            <a:r>
              <a:rPr lang="ja-JP" altLang="en-US" b="1">
                <a:latin typeface="+mn-lt"/>
                <a:ea typeface="+mn-ea"/>
              </a:rPr>
              <a:t>検査基盤の円形（上下左右反転）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 b="1">
                <a:latin typeface="+mn-lt"/>
                <a:ea typeface="+mn-ea"/>
              </a:rPr>
              <a:t>と</a:t>
            </a:r>
            <a:r>
              <a:rPr lang="en-US" altLang="ja-JP" b="1">
                <a:latin typeface="+mn-lt"/>
                <a:ea typeface="+mn-ea"/>
              </a:rPr>
              <a:t>OK</a:t>
            </a:r>
            <a:r>
              <a:rPr lang="ja-JP" altLang="en-US" b="1">
                <a:latin typeface="+mn-lt"/>
                <a:ea typeface="+mn-ea"/>
              </a:rPr>
              <a:t>基盤の円形の差分を計算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 startAt="6"/>
            </a:pPr>
            <a:r>
              <a:rPr lang="en-US" altLang="ja-JP" b="1">
                <a:latin typeface="+mn-lt"/>
                <a:ea typeface="+mn-ea"/>
              </a:rPr>
              <a:t>6</a:t>
            </a:r>
            <a:r>
              <a:rPr lang="ja-JP" altLang="en-US" b="1">
                <a:latin typeface="+mn-lt"/>
                <a:ea typeface="+mn-ea"/>
              </a:rPr>
              <a:t>と</a:t>
            </a:r>
            <a:r>
              <a:rPr lang="en-US" altLang="ja-JP" b="1">
                <a:latin typeface="+mn-lt"/>
                <a:ea typeface="+mn-ea"/>
              </a:rPr>
              <a:t>7</a:t>
            </a:r>
            <a:r>
              <a:rPr lang="ja-JP" altLang="en-US" b="1">
                <a:latin typeface="+mn-lt"/>
                <a:ea typeface="+mn-ea"/>
              </a:rPr>
              <a:t>の差分を比較</a:t>
            </a:r>
            <a:br>
              <a:rPr lang="en-US" altLang="ja-JP" b="1">
                <a:latin typeface="+mn-lt"/>
                <a:ea typeface="+mn-ea"/>
              </a:rPr>
            </a:br>
            <a:r>
              <a:rPr lang="en-US" altLang="ja-JP">
                <a:latin typeface="+mn-lt"/>
                <a:ea typeface="+mn-ea"/>
              </a:rPr>
              <a:t>6</a:t>
            </a:r>
            <a:r>
              <a:rPr lang="ja-JP" altLang="en-US">
                <a:latin typeface="+mn-lt"/>
                <a:ea typeface="+mn-ea"/>
              </a:rPr>
              <a:t> ＞ </a:t>
            </a:r>
            <a:r>
              <a:rPr lang="en-US" altLang="ja-JP">
                <a:latin typeface="+mn-lt"/>
                <a:ea typeface="+mn-ea"/>
              </a:rPr>
              <a:t>7 : </a:t>
            </a:r>
            <a:r>
              <a:rPr lang="ja-JP" altLang="en-US">
                <a:latin typeface="+mn-lt"/>
                <a:ea typeface="+mn-ea"/>
              </a:rPr>
              <a:t>方向に異常なし</a:t>
            </a:r>
            <a:br>
              <a:rPr lang="en-US" altLang="ja-JP">
                <a:latin typeface="+mn-lt"/>
                <a:ea typeface="+mn-ea"/>
              </a:rPr>
            </a:br>
            <a:r>
              <a:rPr lang="en-US" altLang="ja-JP">
                <a:latin typeface="+mn-lt"/>
                <a:ea typeface="+mn-ea"/>
              </a:rPr>
              <a:t>6</a:t>
            </a:r>
            <a:r>
              <a:rPr lang="ja-JP" altLang="en-US">
                <a:latin typeface="+mn-lt"/>
                <a:ea typeface="+mn-ea"/>
              </a:rPr>
              <a:t> ＜ </a:t>
            </a:r>
            <a:r>
              <a:rPr lang="en-US" altLang="ja-JP">
                <a:latin typeface="+mn-lt"/>
                <a:ea typeface="+mn-ea"/>
              </a:rPr>
              <a:t>7 : </a:t>
            </a:r>
            <a:r>
              <a:rPr lang="ja-JP" altLang="en-US">
                <a:latin typeface="+mn-lt"/>
                <a:ea typeface="+mn-ea"/>
              </a:rPr>
              <a:t>方向に異常あり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 startAt="6"/>
            </a:pPr>
            <a:r>
              <a:rPr lang="ja-JP" altLang="en-US" b="1">
                <a:latin typeface="+mn-lt"/>
                <a:ea typeface="+mn-ea"/>
              </a:rPr>
              <a:t>異常箇所を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 b="1">
                <a:latin typeface="+mn-lt"/>
                <a:ea typeface="+mn-ea"/>
              </a:rPr>
              <a:t>ハイライト</a:t>
            </a:r>
            <a:endParaRPr lang="en-US" altLang="ja-JP" b="1">
              <a:latin typeface="+mn-lt"/>
              <a:ea typeface="+mn-ea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76EDC9E-8901-FFA0-0F60-89CC4CDAAECA}"/>
              </a:ext>
            </a:extLst>
          </p:cNvPr>
          <p:cNvSpPr/>
          <p:nvPr/>
        </p:nvSpPr>
        <p:spPr>
          <a:xfrm>
            <a:off x="4891015" y="2299221"/>
            <a:ext cx="2590539" cy="126125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527AE34-BEEA-5FFB-DAE6-C1B06FED0559}"/>
              </a:ext>
            </a:extLst>
          </p:cNvPr>
          <p:cNvSpPr/>
          <p:nvPr/>
        </p:nvSpPr>
        <p:spPr>
          <a:xfrm>
            <a:off x="4891015" y="980872"/>
            <a:ext cx="2590539" cy="126125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4B20D7-17EE-4C79-1E3F-CD07C5AB6FE4}"/>
              </a:ext>
            </a:extLst>
          </p:cNvPr>
          <p:cNvSpPr txBox="1"/>
          <p:nvPr/>
        </p:nvSpPr>
        <p:spPr>
          <a:xfrm>
            <a:off x="6047492" y="1057805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baseline="0">
                <a:latin typeface="+mn-lt"/>
                <a:ea typeface="+mn-ea"/>
              </a:rPr>
              <a:t>OK</a:t>
            </a:r>
            <a:r>
              <a:rPr kumimoji="1" lang="ja-JP" altLang="en-US" sz="1400" b="1" baseline="0">
                <a:latin typeface="+mn-lt"/>
                <a:ea typeface="+mn-ea"/>
              </a:rPr>
              <a:t>基盤の円形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D5AB3B7-F44C-96CA-BB61-972DD6366F78}"/>
              </a:ext>
            </a:extLst>
          </p:cNvPr>
          <p:cNvGrpSpPr/>
          <p:nvPr/>
        </p:nvGrpSpPr>
        <p:grpSpPr>
          <a:xfrm>
            <a:off x="5062420" y="1407298"/>
            <a:ext cx="682525" cy="667983"/>
            <a:chOff x="2537566" y="3264376"/>
            <a:chExt cx="682525" cy="667983"/>
          </a:xfrm>
        </p:grpSpPr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2F83ABE3-6494-084B-E83F-ACDF80AFCFFB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CEFDAF54-D566-747B-F14E-183A15750C2E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91FDD1E-2A92-2119-AAB9-180F0A7CB0F0}"/>
              </a:ext>
            </a:extLst>
          </p:cNvPr>
          <p:cNvGrpSpPr/>
          <p:nvPr/>
        </p:nvGrpSpPr>
        <p:grpSpPr>
          <a:xfrm flipH="1" flipV="1">
            <a:off x="5059666" y="2787221"/>
            <a:ext cx="684000" cy="669600"/>
            <a:chOff x="2537566" y="3264376"/>
            <a:chExt cx="682525" cy="667983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DE26E76-0955-8659-A2BA-79FA08E1A0DC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653CE79A-75FB-25F9-696B-9895D86D6F69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6835244-E3C9-402D-5F30-6BE69F09251F}"/>
              </a:ext>
            </a:extLst>
          </p:cNvPr>
          <p:cNvSpPr txBox="1"/>
          <p:nvPr/>
        </p:nvSpPr>
        <p:spPr>
          <a:xfrm>
            <a:off x="6047493" y="2421062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400" b="1" baseline="0">
                <a:latin typeface="+mn-lt"/>
                <a:ea typeface="+mn-ea"/>
              </a:rPr>
              <a:t>OK</a:t>
            </a:r>
            <a:r>
              <a:rPr kumimoji="1" lang="ja-JP" altLang="en-US" sz="1400" b="1" baseline="0">
                <a:latin typeface="+mn-lt"/>
                <a:ea typeface="+mn-ea"/>
              </a:rPr>
              <a:t>基盤の円形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789E58B-77CE-A605-2D71-91090B3897A1}"/>
              </a:ext>
            </a:extLst>
          </p:cNvPr>
          <p:cNvSpPr txBox="1"/>
          <p:nvPr/>
        </p:nvSpPr>
        <p:spPr>
          <a:xfrm>
            <a:off x="5016940" y="1063155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そのまま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A395454-8FE9-BCA0-325F-D6E5490E1AB6}"/>
              </a:ext>
            </a:extLst>
          </p:cNvPr>
          <p:cNvSpPr txBox="1"/>
          <p:nvPr/>
        </p:nvSpPr>
        <p:spPr>
          <a:xfrm>
            <a:off x="4860040" y="2401669"/>
            <a:ext cx="166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上下左右反転</a:t>
            </a: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999B284C-E8EC-C8CF-0E4F-2ED29C1077EE}"/>
              </a:ext>
            </a:extLst>
          </p:cNvPr>
          <p:cNvSpPr/>
          <p:nvPr/>
        </p:nvSpPr>
        <p:spPr>
          <a:xfrm>
            <a:off x="7481553" y="1303221"/>
            <a:ext cx="613191" cy="6067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35E42BA2-AF43-F7B4-F189-0EC9922623FE}"/>
              </a:ext>
            </a:extLst>
          </p:cNvPr>
          <p:cNvSpPr/>
          <p:nvPr/>
        </p:nvSpPr>
        <p:spPr>
          <a:xfrm>
            <a:off x="7481553" y="2574950"/>
            <a:ext cx="613191" cy="6067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12FAB5-3E4E-B0C7-61D2-2C8DEC64B2DD}"/>
              </a:ext>
            </a:extLst>
          </p:cNvPr>
          <p:cNvSpPr txBox="1"/>
          <p:nvPr/>
        </p:nvSpPr>
        <p:spPr>
          <a:xfrm>
            <a:off x="7437806" y="776678"/>
            <a:ext cx="67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差分計算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7AF9160-D6CB-7FB4-D20D-8134DC5D9143}"/>
              </a:ext>
            </a:extLst>
          </p:cNvPr>
          <p:cNvSpPr txBox="1"/>
          <p:nvPr/>
        </p:nvSpPr>
        <p:spPr>
          <a:xfrm>
            <a:off x="7437806" y="2060536"/>
            <a:ext cx="67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baseline="0">
                <a:latin typeface="+mn-lt"/>
                <a:ea typeface="+mn-ea"/>
              </a:rPr>
              <a:t>差分計算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702D487-D2CA-48BF-4B05-9FE9C33DF3C4}"/>
              </a:ext>
            </a:extLst>
          </p:cNvPr>
          <p:cNvSpPr txBox="1"/>
          <p:nvPr/>
        </p:nvSpPr>
        <p:spPr>
          <a:xfrm>
            <a:off x="8094744" y="1429543"/>
            <a:ext cx="670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差分</a:t>
            </a:r>
            <a:r>
              <a:rPr kumimoji="1" lang="en-US" altLang="ja-JP" sz="1400" b="1" baseline="0">
                <a:latin typeface="+mn-lt"/>
                <a:ea typeface="+mn-ea"/>
              </a:rPr>
              <a:t>A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D38E6DA-12B9-925B-F09F-C46CCB5CD755}"/>
              </a:ext>
            </a:extLst>
          </p:cNvPr>
          <p:cNvSpPr txBox="1"/>
          <p:nvPr/>
        </p:nvSpPr>
        <p:spPr>
          <a:xfrm>
            <a:off x="8097505" y="2756219"/>
            <a:ext cx="66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1" baseline="0">
                <a:latin typeface="+mn-lt"/>
                <a:ea typeface="+mn-ea"/>
              </a:rPr>
              <a:t>差分</a:t>
            </a:r>
            <a:r>
              <a:rPr kumimoji="1" lang="en-US" altLang="ja-JP" sz="1400" b="1" baseline="0">
                <a:latin typeface="+mn-lt"/>
                <a:ea typeface="+mn-ea"/>
              </a:rPr>
              <a:t>B</a:t>
            </a:r>
            <a:endParaRPr kumimoji="1" lang="ja-JP" altLang="en-US" sz="1400" b="1" baseline="0">
              <a:latin typeface="+mn-lt"/>
              <a:ea typeface="+mn-ea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FAC73B1-1567-7C6F-DDEB-870C169C29EC}"/>
              </a:ext>
            </a:extLst>
          </p:cNvPr>
          <p:cNvGrpSpPr/>
          <p:nvPr/>
        </p:nvGrpSpPr>
        <p:grpSpPr>
          <a:xfrm flipH="1" flipV="1">
            <a:off x="6377477" y="2787221"/>
            <a:ext cx="684000" cy="669600"/>
            <a:chOff x="2537566" y="3264376"/>
            <a:chExt cx="682525" cy="667983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DCE647B8-1FDC-C993-1F31-CF4B294823C1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03734018-5594-366F-141B-A99D81ECD83B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E32A5BC3-61A5-3B76-38EC-37F3726596D1}"/>
              </a:ext>
            </a:extLst>
          </p:cNvPr>
          <p:cNvGrpSpPr/>
          <p:nvPr/>
        </p:nvGrpSpPr>
        <p:grpSpPr>
          <a:xfrm flipH="1" flipV="1">
            <a:off x="6385812" y="1405681"/>
            <a:ext cx="684000" cy="669600"/>
            <a:chOff x="2537566" y="3264376"/>
            <a:chExt cx="682525" cy="667983"/>
          </a:xfrm>
        </p:grpSpPr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3D14F77F-11B1-1751-4A05-4B1E2E0687E7}"/>
                </a:ext>
              </a:extLst>
            </p:cNvPr>
            <p:cNvSpPr/>
            <p:nvPr/>
          </p:nvSpPr>
          <p:spPr>
            <a:xfrm>
              <a:off x="2537566" y="3264376"/>
              <a:ext cx="681246" cy="667983"/>
            </a:xfrm>
            <a:prstGeom prst="ellipse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7A026869-E239-5F09-0F07-DE137215DB37}"/>
                </a:ext>
              </a:extLst>
            </p:cNvPr>
            <p:cNvSpPr/>
            <p:nvPr/>
          </p:nvSpPr>
          <p:spPr>
            <a:xfrm>
              <a:off x="2550266" y="3271202"/>
              <a:ext cx="669825" cy="278448"/>
            </a:xfrm>
            <a:custGeom>
              <a:avLst/>
              <a:gdLst>
                <a:gd name="connsiteX0" fmla="*/ 334912 w 669825"/>
                <a:gd name="connsiteY0" fmla="*/ 0 h 278448"/>
                <a:gd name="connsiteX1" fmla="*/ 668615 w 669825"/>
                <a:gd name="connsiteY1" fmla="*/ 266681 h 278448"/>
                <a:gd name="connsiteX2" fmla="*/ 669825 w 669825"/>
                <a:gd name="connsiteY2" fmla="*/ 278448 h 278448"/>
                <a:gd name="connsiteX3" fmla="*/ 0 w 669825"/>
                <a:gd name="connsiteY3" fmla="*/ 278448 h 278448"/>
                <a:gd name="connsiteX4" fmla="*/ 1209 w 669825"/>
                <a:gd name="connsiteY4" fmla="*/ 266681 h 278448"/>
                <a:gd name="connsiteX5" fmla="*/ 334912 w 669825"/>
                <a:gd name="connsiteY5" fmla="*/ 0 h 278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9825" h="278448">
                  <a:moveTo>
                    <a:pt x="334912" y="0"/>
                  </a:moveTo>
                  <a:cubicBezTo>
                    <a:pt x="499518" y="0"/>
                    <a:pt x="636853" y="114486"/>
                    <a:pt x="668615" y="266681"/>
                  </a:cubicBezTo>
                  <a:lnTo>
                    <a:pt x="669825" y="278448"/>
                  </a:lnTo>
                  <a:lnTo>
                    <a:pt x="0" y="278448"/>
                  </a:lnTo>
                  <a:lnTo>
                    <a:pt x="1209" y="266681"/>
                  </a:lnTo>
                  <a:cubicBezTo>
                    <a:pt x="32971" y="114486"/>
                    <a:pt x="170306" y="0"/>
                    <a:pt x="33491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B840DF91-6D77-A8F7-976E-9F87B73DC090}"/>
              </a:ext>
            </a:extLst>
          </p:cNvPr>
          <p:cNvGrpSpPr/>
          <p:nvPr/>
        </p:nvGrpSpPr>
        <p:grpSpPr>
          <a:xfrm>
            <a:off x="6779750" y="3970850"/>
            <a:ext cx="2209741" cy="707886"/>
            <a:chOff x="6818251" y="3920307"/>
            <a:chExt cx="2209741" cy="707886"/>
          </a:xfrm>
        </p:grpSpPr>
        <p:sp>
          <p:nvSpPr>
            <p:cNvPr id="32" name="矢印: 右 31">
              <a:extLst>
                <a:ext uri="{FF2B5EF4-FFF2-40B4-BE49-F238E27FC236}">
                  <a16:creationId xmlns:a16="http://schemas.microsoft.com/office/drawing/2014/main" id="{DCB3F712-9728-D036-30C1-8F060E42DF95}"/>
                </a:ext>
              </a:extLst>
            </p:cNvPr>
            <p:cNvSpPr/>
            <p:nvPr/>
          </p:nvSpPr>
          <p:spPr>
            <a:xfrm>
              <a:off x="8309194" y="4056607"/>
              <a:ext cx="242987" cy="45401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rgbClr val="FF0000"/>
                </a:solidFill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9A1AA3FB-00C7-3BFC-59AB-56FD5690449E}"/>
                </a:ext>
              </a:extLst>
            </p:cNvPr>
            <p:cNvSpPr txBox="1"/>
            <p:nvPr/>
          </p:nvSpPr>
          <p:spPr>
            <a:xfrm>
              <a:off x="8560095" y="3920307"/>
              <a:ext cx="4678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ja-JP" altLang="en-US" sz="2000" b="1">
                  <a:solidFill>
                    <a:srgbClr val="FF0000"/>
                  </a:solidFill>
                  <a:latin typeface="+mn-lt"/>
                  <a:ea typeface="+mn-ea"/>
                </a:rPr>
                <a:t>異</a:t>
              </a:r>
              <a:endParaRPr kumimoji="1" lang="en-US" altLang="ja-JP" sz="2000" b="1" baseline="0">
                <a:solidFill>
                  <a:srgbClr val="FF0000"/>
                </a:solidFill>
                <a:latin typeface="+mn-lt"/>
                <a:ea typeface="+mn-ea"/>
              </a:endParaRPr>
            </a:p>
            <a:p>
              <a:pPr algn="l"/>
              <a:r>
                <a:rPr kumimoji="1" lang="ja-JP" altLang="en-US" sz="2000" b="1" baseline="0">
                  <a:solidFill>
                    <a:srgbClr val="FF0000"/>
                  </a:solidFill>
                  <a:latin typeface="+mn-lt"/>
                  <a:ea typeface="+mn-ea"/>
                </a:rPr>
                <a:t>常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204286B-7507-2DD9-E1FA-AA79F4494E70}"/>
                </a:ext>
              </a:extLst>
            </p:cNvPr>
            <p:cNvSpPr txBox="1"/>
            <p:nvPr/>
          </p:nvSpPr>
          <p:spPr>
            <a:xfrm>
              <a:off x="6818251" y="4064461"/>
              <a:ext cx="143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A</a:t>
              </a:r>
              <a:r>
                <a:rPr lang="ja-JP" altLang="en-US" sz="1400" b="1">
                  <a:latin typeface="+mn-lt"/>
                  <a:ea typeface="+mn-ea"/>
                </a:rPr>
                <a:t> </a:t>
              </a:r>
              <a:r>
                <a:rPr kumimoji="1" lang="ja-JP" altLang="en-US" sz="2000" b="1" baseline="0">
                  <a:solidFill>
                    <a:srgbClr val="FF0000"/>
                  </a:solidFill>
                  <a:latin typeface="+mn-lt"/>
                  <a:ea typeface="+mn-ea"/>
                </a:rPr>
                <a:t>＞</a:t>
              </a:r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B</a:t>
              </a:r>
              <a:endParaRPr kumimoji="1" lang="ja-JP" altLang="en-US" sz="1400" b="1" baseline="0">
                <a:latin typeface="+mn-lt"/>
                <a:ea typeface="+mn-ea"/>
              </a:endParaRP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9B27DA92-FDC2-73B6-8AFA-82CBAF7634FD}"/>
              </a:ext>
            </a:extLst>
          </p:cNvPr>
          <p:cNvGrpSpPr/>
          <p:nvPr/>
        </p:nvGrpSpPr>
        <p:grpSpPr>
          <a:xfrm>
            <a:off x="4452355" y="3961116"/>
            <a:ext cx="2209741" cy="707886"/>
            <a:chOff x="6818251" y="3920307"/>
            <a:chExt cx="2209741" cy="707886"/>
          </a:xfrm>
        </p:grpSpPr>
        <p:sp>
          <p:nvSpPr>
            <p:cNvPr id="36" name="矢印: 右 35">
              <a:extLst>
                <a:ext uri="{FF2B5EF4-FFF2-40B4-BE49-F238E27FC236}">
                  <a16:creationId xmlns:a16="http://schemas.microsoft.com/office/drawing/2014/main" id="{0AD0347F-A107-5FB7-B002-FF1E77EAB70C}"/>
                </a:ext>
              </a:extLst>
            </p:cNvPr>
            <p:cNvSpPr/>
            <p:nvPr/>
          </p:nvSpPr>
          <p:spPr>
            <a:xfrm>
              <a:off x="8309194" y="4056607"/>
              <a:ext cx="242987" cy="45401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rgbClr val="FF0000"/>
                </a:solidFill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6425DB3-32EF-D3CF-24A8-C81C816135B7}"/>
                </a:ext>
              </a:extLst>
            </p:cNvPr>
            <p:cNvSpPr txBox="1"/>
            <p:nvPr/>
          </p:nvSpPr>
          <p:spPr>
            <a:xfrm>
              <a:off x="8560095" y="3920307"/>
              <a:ext cx="4678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2000" b="1" baseline="0">
                  <a:solidFill>
                    <a:srgbClr val="0070C0"/>
                  </a:solidFill>
                  <a:latin typeface="+mn-lt"/>
                  <a:ea typeface="+mn-ea"/>
                </a:rPr>
                <a:t>正</a:t>
              </a:r>
              <a:endParaRPr kumimoji="1" lang="en-US" altLang="ja-JP" sz="2000" b="1" baseline="0">
                <a:solidFill>
                  <a:srgbClr val="0070C0"/>
                </a:solidFill>
                <a:latin typeface="+mn-lt"/>
                <a:ea typeface="+mn-ea"/>
              </a:endParaRPr>
            </a:p>
            <a:p>
              <a:pPr algn="l"/>
              <a:r>
                <a:rPr kumimoji="1" lang="ja-JP" altLang="en-US" sz="2000" b="1" baseline="0">
                  <a:solidFill>
                    <a:srgbClr val="0070C0"/>
                  </a:solidFill>
                  <a:latin typeface="+mn-lt"/>
                  <a:ea typeface="+mn-ea"/>
                </a:rPr>
                <a:t>常</a:t>
              </a: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B6D0D3CF-AB50-7E3C-912A-9628FE36F39F}"/>
                </a:ext>
              </a:extLst>
            </p:cNvPr>
            <p:cNvSpPr txBox="1"/>
            <p:nvPr/>
          </p:nvSpPr>
          <p:spPr>
            <a:xfrm>
              <a:off x="6818251" y="4064461"/>
              <a:ext cx="143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A</a:t>
              </a:r>
              <a:r>
                <a:rPr lang="ja-JP" altLang="en-US" sz="2000" b="1">
                  <a:solidFill>
                    <a:srgbClr val="0070C0"/>
                  </a:solidFill>
                  <a:latin typeface="+mn-lt"/>
                  <a:ea typeface="+mn-ea"/>
                </a:rPr>
                <a:t>＜</a:t>
              </a:r>
              <a:r>
                <a:rPr lang="ja-JP" altLang="en-US" sz="2000" b="1">
                  <a:solidFill>
                    <a:srgbClr val="FF0000"/>
                  </a:solidFill>
                  <a:latin typeface="+mn-lt"/>
                  <a:ea typeface="+mn-ea"/>
                </a:rPr>
                <a:t> </a:t>
              </a:r>
              <a:r>
                <a:rPr kumimoji="1" lang="ja-JP" altLang="en-US" sz="1400" b="1" baseline="0">
                  <a:latin typeface="+mn-lt"/>
                  <a:ea typeface="+mn-ea"/>
                </a:rPr>
                <a:t>差分</a:t>
              </a:r>
              <a:r>
                <a:rPr kumimoji="1" lang="en-US" altLang="ja-JP" sz="1400" b="1" baseline="0">
                  <a:latin typeface="+mn-lt"/>
                  <a:ea typeface="+mn-ea"/>
                </a:rPr>
                <a:t>B</a:t>
              </a:r>
              <a:endParaRPr kumimoji="1" lang="ja-JP" altLang="en-US" sz="1400" b="1" baseline="0">
                <a:latin typeface="+mn-lt"/>
                <a:ea typeface="+mn-ea"/>
              </a:endParaRPr>
            </a:p>
          </p:txBody>
        </p:sp>
      </p:grpSp>
      <p:pic>
        <p:nvPicPr>
          <p:cNvPr id="40" name="図 39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D3EDF7C2-9514-2393-FF80-097BF80FF5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7857" y="3456821"/>
            <a:ext cx="2329554" cy="1544862"/>
          </a:xfrm>
          <a:prstGeom prst="rect">
            <a:avLst/>
          </a:prstGeom>
        </p:spPr>
      </p:pic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8631B5CA-C52C-32F3-7933-A6EC942B4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28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84739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DF8C9E-2027-A8A8-A3B1-A7E31BA8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D44261-22B5-B81C-71FD-D2D1EAE41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画像処理の詳細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926BA2-67D4-1521-9EC6-00A35181EB25}"/>
              </a:ext>
            </a:extLst>
          </p:cNvPr>
          <p:cNvSpPr txBox="1"/>
          <p:nvPr/>
        </p:nvSpPr>
        <p:spPr>
          <a:xfrm>
            <a:off x="0" y="664633"/>
            <a:ext cx="47548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b="1">
                <a:latin typeface="+mn-lt"/>
                <a:ea typeface="+mn-ea"/>
              </a:rPr>
              <a:t>4.   </a:t>
            </a:r>
            <a:r>
              <a:rPr lang="ja-JP" altLang="en-US" b="1">
                <a:latin typeface="+mn-lt"/>
                <a:ea typeface="+mn-ea"/>
              </a:rPr>
              <a:t>素子の欠損検出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ja-JP" b="1">
                <a:latin typeface="+mn-lt"/>
                <a:ea typeface="+mn-ea"/>
              </a:rPr>
              <a:t>OK</a:t>
            </a:r>
            <a:r>
              <a:rPr lang="ja-JP" altLang="en-US" b="1">
                <a:latin typeface="+mn-lt"/>
                <a:ea typeface="+mn-ea"/>
              </a:rPr>
              <a:t>画像から色を抽出（マスク作成）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白，黒，赤，青の</a:t>
            </a:r>
            <a:r>
              <a:rPr lang="en-US" altLang="ja-JP">
                <a:latin typeface="+mn-lt"/>
                <a:ea typeface="+mn-ea"/>
              </a:rPr>
              <a:t>4</a:t>
            </a:r>
            <a:r>
              <a:rPr lang="ja-JP" altLang="en-US">
                <a:latin typeface="+mn-lt"/>
                <a:ea typeface="+mn-ea"/>
              </a:rPr>
              <a:t>種類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色マスクのノイズ除去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色マスクと検査基盤の差分を計算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閾値を超える箇所のみ抽出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→素子が欠損していると考えられる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差分画像から長方形を検出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面積の閾値：これを超えない物は除外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辺長の閾値：これを下回るものは除外</a:t>
            </a:r>
            <a:br>
              <a:rPr lang="en-US" altLang="ja-JP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→小さすぎる・細長すぎる長方形を除外</a:t>
            </a:r>
            <a:endParaRPr lang="en-US" altLang="ja-JP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得られた長方形（欠損箇所）を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 b="1">
                <a:latin typeface="+mn-lt"/>
                <a:ea typeface="+mn-ea"/>
              </a:rPr>
              <a:t>ハイライト</a:t>
            </a:r>
            <a:br>
              <a:rPr lang="en-US" altLang="ja-JP" b="1">
                <a:latin typeface="+mn-lt"/>
                <a:ea typeface="+mn-ea"/>
              </a:rPr>
            </a:br>
            <a:endParaRPr lang="en-US" altLang="ja-JP" b="1">
              <a:latin typeface="+mn-lt"/>
              <a:ea typeface="+mn-ea"/>
            </a:endParaRPr>
          </a:p>
        </p:txBody>
      </p:sp>
      <p:pic>
        <p:nvPicPr>
          <p:cNvPr id="5" name="図 4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979E050C-AF3E-2883-1112-C5704AC8DB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8513" y="664633"/>
            <a:ext cx="2160000" cy="3472000"/>
          </a:xfrm>
          <a:prstGeom prst="rect">
            <a:avLst/>
          </a:prstGeom>
        </p:spPr>
      </p:pic>
      <p:pic>
        <p:nvPicPr>
          <p:cNvPr id="12" name="図 11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AA3E7CC3-3A92-2CD4-0110-06C83F973F5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0668" y="1568918"/>
            <a:ext cx="2160000" cy="3472000"/>
          </a:xfrm>
          <a:prstGeom prst="rect">
            <a:avLst/>
          </a:prstGeom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4C4883-BE74-5467-1066-83682F2A2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29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58958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34D158-3A6E-E2AA-A8C4-17495034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6E29DC-625D-76C7-FF8B-B8ACD0E8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画像処理の詳細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7F71A1-9026-B6CF-3790-45855EC5FE06}"/>
              </a:ext>
            </a:extLst>
          </p:cNvPr>
          <p:cNvSpPr txBox="1"/>
          <p:nvPr/>
        </p:nvSpPr>
        <p:spPr>
          <a:xfrm>
            <a:off x="0" y="664633"/>
            <a:ext cx="47548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 startAt="4"/>
            </a:pPr>
            <a:r>
              <a:rPr lang="ja-JP" altLang="en-US" b="1">
                <a:latin typeface="+mn-lt"/>
                <a:ea typeface="+mn-ea"/>
              </a:rPr>
              <a:t>異常箇所の格納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コンデンサの異常地点と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 b="1">
                <a:latin typeface="+mn-lt"/>
                <a:ea typeface="+mn-ea"/>
              </a:rPr>
              <a:t>素子の欠損の位置を結合</a:t>
            </a:r>
            <a:endParaRPr lang="en-US" altLang="ja-JP" b="1">
              <a:latin typeface="+mn-lt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b="1">
                <a:latin typeface="+mn-lt"/>
                <a:ea typeface="+mn-ea"/>
              </a:rPr>
              <a:t>全エラー箇所をハイライト</a:t>
            </a:r>
            <a:endParaRPr lang="en-US" altLang="ja-JP" b="1">
              <a:latin typeface="+mn-lt"/>
              <a:ea typeface="+mn-ea"/>
            </a:endParaRPr>
          </a:p>
          <a:p>
            <a:pPr marL="342900" indent="-342900" algn="l">
              <a:buAutoNum type="arabicPeriod" startAt="4"/>
            </a:pPr>
            <a:r>
              <a:rPr lang="ja-JP" altLang="en-US" b="1">
                <a:latin typeface="+mn-lt"/>
                <a:ea typeface="+mn-ea"/>
              </a:rPr>
              <a:t>検査基盤の評価</a:t>
            </a:r>
            <a:br>
              <a:rPr lang="en-US" altLang="ja-JP" b="1">
                <a:latin typeface="+mn-lt"/>
                <a:ea typeface="+mn-ea"/>
              </a:rPr>
            </a:br>
            <a:r>
              <a:rPr lang="ja-JP" altLang="en-US">
                <a:latin typeface="+mn-lt"/>
                <a:ea typeface="+mn-ea"/>
              </a:rPr>
              <a:t>「</a:t>
            </a:r>
            <a:r>
              <a:rPr lang="en-US" altLang="ja-JP">
                <a:latin typeface="+mn-lt"/>
                <a:ea typeface="+mn-ea"/>
              </a:rPr>
              <a:t>G</a:t>
            </a:r>
            <a:r>
              <a:rPr lang="ja-JP" altLang="en-US">
                <a:latin typeface="+mn-lt"/>
                <a:ea typeface="+mn-ea"/>
              </a:rPr>
              <a:t>（</a:t>
            </a:r>
            <a:r>
              <a:rPr lang="en-US" altLang="ja-JP">
                <a:latin typeface="+mn-lt"/>
                <a:ea typeface="+mn-ea"/>
              </a:rPr>
              <a:t>Good</a:t>
            </a:r>
            <a:r>
              <a:rPr lang="ja-JP" altLang="en-US">
                <a:latin typeface="+mn-lt"/>
                <a:ea typeface="+mn-ea"/>
              </a:rPr>
              <a:t>）」または「</a:t>
            </a:r>
            <a:r>
              <a:rPr lang="en-US" altLang="ja-JP">
                <a:latin typeface="+mn-lt"/>
                <a:ea typeface="+mn-ea"/>
              </a:rPr>
              <a:t>B</a:t>
            </a:r>
            <a:r>
              <a:rPr lang="ja-JP" altLang="en-US">
                <a:latin typeface="+mn-lt"/>
                <a:ea typeface="+mn-ea"/>
              </a:rPr>
              <a:t>（</a:t>
            </a:r>
            <a:r>
              <a:rPr lang="en-US" altLang="ja-JP">
                <a:latin typeface="+mn-lt"/>
                <a:ea typeface="+mn-ea"/>
              </a:rPr>
              <a:t>Bad</a:t>
            </a:r>
            <a:r>
              <a:rPr lang="ja-JP" altLang="en-US">
                <a:latin typeface="+mn-lt"/>
                <a:ea typeface="+mn-ea"/>
              </a:rPr>
              <a:t>）」を</a:t>
            </a:r>
            <a:r>
              <a:rPr lang="en-US" altLang="ja-JP">
                <a:latin typeface="+mn-lt"/>
                <a:ea typeface="+mn-ea"/>
              </a:rPr>
              <a:t>image</a:t>
            </a:r>
            <a:r>
              <a:rPr lang="ja-JP" altLang="en-US">
                <a:latin typeface="+mn-lt"/>
                <a:ea typeface="+mn-ea"/>
              </a:rPr>
              <a:t>モジュールに返す</a:t>
            </a:r>
            <a:endParaRPr lang="en-US" altLang="ja-JP">
              <a:latin typeface="+mn-lt"/>
              <a:ea typeface="+mn-ea"/>
            </a:endParaRPr>
          </a:p>
        </p:txBody>
      </p:sp>
      <p:pic>
        <p:nvPicPr>
          <p:cNvPr id="6" name="図 5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3B96E64A-BB2C-C739-4E91-00943BB2B5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0242" y="772666"/>
            <a:ext cx="2661875" cy="4278717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F38C4E-FC5A-B389-2203-869ABDFE4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336B1-B5EC-48A5-935B-D81154520191}" type="slidenum">
              <a:rPr lang="en-US" altLang="ja-JP" smtClean="0"/>
              <a:pPr/>
              <a:t>30</a:t>
            </a:fld>
            <a:r>
              <a:rPr lang="en-US" altLang="ja-JP"/>
              <a:t>/19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2045652"/>
      </p:ext>
    </p:extLst>
  </p:cSld>
  <p:clrMapOvr>
    <a:masterClrMapping/>
  </p:clrMapOvr>
</p:sld>
</file>

<file path=ppt/theme/theme1.xml><?xml version="1.0" encoding="utf-8"?>
<a:theme xmlns:a="http://schemas.openxmlformats.org/drawingml/2006/main" name="1_表紙マスター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7">
      <a:majorFont>
        <a:latin typeface="MeiryoUI"/>
        <a:ea typeface="Meiryo UI"/>
        <a:cs typeface=""/>
      </a:majorFont>
      <a:minorFont>
        <a:latin typeface="Meiryo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baseline="0" dirty="0">
            <a:latin typeface="+mn-lt"/>
            <a:ea typeface="+mn-ea"/>
          </a:defRPr>
        </a:defPPr>
      </a:lstStyle>
    </a:txDef>
  </a:objectDefaults>
  <a:extraClrSchemeLst>
    <a:extraClrScheme>
      <a:clrScheme name="Conten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16186EDC-4DF5-4EEF-837D-5E45159F4372}" vid="{9500B5A8-C8FE-4F29-BB5A-9C64A1E6203D}"/>
    </a:ext>
  </a:extLst>
</a:theme>
</file>

<file path=ppt/theme/theme2.xml><?xml version="1.0" encoding="utf-8"?>
<a:theme xmlns:a="http://schemas.openxmlformats.org/drawingml/2006/main" name="2_コンテンツスライ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6">
      <a:majorFont>
        <a:latin typeface="Meiryo UI"/>
        <a:ea typeface="Meiryo UI"/>
        <a:cs typeface=""/>
      </a:majorFont>
      <a:minorFont>
        <a:latin typeface="Meiryo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41C0"/>
        </a:solidFill>
        <a:ln>
          <a:noFill/>
        </a:ln>
      </a:spPr>
      <a:bodyPr rtlCol="0" anchor="ctr"/>
      <a:lstStyle>
        <a:defPPr algn="ctr">
          <a:defRPr kumimoji="1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baseline="0" dirty="0">
            <a:latin typeface="+mn-lt"/>
            <a:ea typeface="+mn-ea"/>
          </a:defRPr>
        </a:defPPr>
      </a:lstStyle>
    </a:txDef>
  </a:objectDefaults>
  <a:extraClrSchemeLst>
    <a:extraClrScheme>
      <a:clrScheme name="Conten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16186EDC-4DF5-4EEF-837D-5E45159F4372}" vid="{0ABF3C7A-BCBD-4CB7-9633-083A8418ABE9}"/>
    </a:ext>
  </a:extLst>
</a:theme>
</file>

<file path=ppt/theme/theme3.xml><?xml version="1.0" encoding="utf-8"?>
<a:theme xmlns:a="http://schemas.openxmlformats.org/drawingml/2006/main" name="コンテンツスライ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6">
      <a:majorFont>
        <a:latin typeface="Meiryo UI"/>
        <a:ea typeface="Meiryo UI"/>
        <a:cs typeface=""/>
      </a:majorFont>
      <a:minorFont>
        <a:latin typeface="Meiryo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41C0"/>
        </a:solidFill>
        <a:ln>
          <a:noFill/>
        </a:ln>
      </a:spPr>
      <a:bodyPr rtlCol="0" anchor="ctr"/>
      <a:lstStyle>
        <a:defPPr algn="ctr">
          <a:defRPr kumimoji="1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baseline="0" dirty="0">
            <a:latin typeface="+mn-lt"/>
            <a:ea typeface="+mn-ea"/>
          </a:defRPr>
        </a:defPPr>
      </a:lstStyle>
    </a:txDef>
  </a:objectDefaults>
  <a:extraClrSchemeLst>
    <a:extraClrScheme>
      <a:clrScheme name="Conten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16186EDC-4DF5-4EEF-837D-5E45159F4372}" vid="{0ABF3C7A-BCBD-4CB7-9633-083A8418ABE9}"/>
    </a:ext>
  </a:extLst>
</a:theme>
</file>

<file path=ppt/theme/theme4.xml><?xml version="1.0" encoding="utf-8"?>
<a:theme xmlns:a="http://schemas.openxmlformats.org/drawingml/2006/main" name="3_コンテンツスライ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6">
      <a:majorFont>
        <a:latin typeface="Meiryo UI"/>
        <a:ea typeface="Meiryo UI"/>
        <a:cs typeface=""/>
      </a:majorFont>
      <a:minorFont>
        <a:latin typeface="Meiryo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41C0"/>
        </a:solidFill>
        <a:ln>
          <a:noFill/>
        </a:ln>
      </a:spPr>
      <a:bodyPr rtlCol="0" anchor="ctr"/>
      <a:lstStyle>
        <a:defPPr algn="ctr">
          <a:defRPr kumimoji="1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baseline="0" dirty="0">
            <a:latin typeface="+mn-lt"/>
            <a:ea typeface="+mn-ea"/>
          </a:defRPr>
        </a:defPPr>
      </a:lstStyle>
    </a:txDef>
  </a:objectDefaults>
  <a:extraClrSchemeLst>
    <a:extraClrScheme>
      <a:clrScheme name="Conten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16186EDC-4DF5-4EEF-837D-5E45159F4372}" vid="{0ABF3C7A-BCBD-4CB7-9633-083A8418ABE9}"/>
    </a:ext>
  </a:extLst>
</a:theme>
</file>

<file path=ppt/theme/theme5.xml><?xml version="1.0" encoding="utf-8"?>
<a:theme xmlns:a="http://schemas.openxmlformats.org/drawingml/2006/main" name="1_コンテンツスライ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6">
      <a:majorFont>
        <a:latin typeface="Meiryo UI"/>
        <a:ea typeface="Meiryo UI"/>
        <a:cs typeface=""/>
      </a:majorFont>
      <a:minorFont>
        <a:latin typeface="Meiryo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41C0"/>
        </a:solidFill>
        <a:ln>
          <a:noFill/>
        </a:ln>
      </a:spPr>
      <a:bodyPr rtlCol="0" anchor="ctr"/>
      <a:lstStyle>
        <a:defPPr algn="ctr">
          <a:defRPr kumimoji="1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baseline="0" dirty="0">
            <a:latin typeface="+mn-lt"/>
            <a:ea typeface="+mn-ea"/>
          </a:defRPr>
        </a:defPPr>
      </a:lstStyle>
    </a:txDef>
  </a:objectDefaults>
  <a:extraClrSchemeLst>
    <a:extraClrScheme>
      <a:clrScheme name="Conten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n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n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16186EDC-4DF5-4EEF-837D-5E45159F4372}" vid="{0ABF3C7A-BCBD-4CB7-9633-083A8418ABE9}"/>
    </a:ext>
  </a:extLst>
</a:theme>
</file>

<file path=ppt/theme/theme6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723802EA2120542A590FD7C4888CE22" ma:contentTypeVersion="13" ma:contentTypeDescription="新しいドキュメントを作成します。" ma:contentTypeScope="" ma:versionID="e98a0376ebf8efb78ee1934cd2a90600">
  <xsd:schema xmlns:xsd="http://www.w3.org/2001/XMLSchema" xmlns:xs="http://www.w3.org/2001/XMLSchema" xmlns:p="http://schemas.microsoft.com/office/2006/metadata/properties" xmlns:ns3="503b9708-e491-405f-a279-1ba53a3430d3" xmlns:ns4="f2e377e9-4f68-49f5-9597-9c5dce861edc" targetNamespace="http://schemas.microsoft.com/office/2006/metadata/properties" ma:root="true" ma:fieldsID="b3c51ce39e594ae7193f56ed0ff03a69" ns3:_="" ns4:_="">
    <xsd:import namespace="503b9708-e491-405f-a279-1ba53a3430d3"/>
    <xsd:import namespace="f2e377e9-4f68-49f5-9597-9c5dce861ed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b9708-e491-405f-a279-1ba53a3430d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e377e9-4f68-49f5-9597-9c5dce861e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29737B-969D-46BC-8AF6-122EEB91C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760229-198A-409B-9514-3614E1AF3C62}">
  <ds:schemaRefs>
    <ds:schemaRef ds:uri="503b9708-e491-405f-a279-1ba53a3430d3"/>
    <ds:schemaRef ds:uri="f2e377e9-4f68-49f5-9597-9c5dce861e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D08E09-73DD-43E3-AEF1-5B4656C63967}">
  <ds:schemaRefs>
    <ds:schemaRef ds:uri="http://schemas.openxmlformats.org/package/2006/metadata/core-properties"/>
    <ds:schemaRef ds:uri="http://purl.org/dc/terms/"/>
    <ds:schemaRef ds:uri="f2e377e9-4f68-49f5-9597-9c5dce861edc"/>
    <ds:schemaRef ds:uri="503b9708-e491-405f-a279-1ba53a3430d3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20250129-</Template>
  <TotalTime>11</TotalTime>
  <Words>1865</Words>
  <Application>Microsoft Office PowerPoint</Application>
  <PresentationFormat>画面に合わせる (16:9)</PresentationFormat>
  <Paragraphs>410</Paragraphs>
  <Slides>31</Slides>
  <Notes>7</Notes>
  <HiddenSlides>14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31</vt:i4>
      </vt:variant>
    </vt:vector>
  </HeadingPairs>
  <TitlesOfParts>
    <vt:vector size="42" baseType="lpstr">
      <vt:lpstr>Meiryo UI</vt:lpstr>
      <vt:lpstr>MeiryoUI</vt:lpstr>
      <vt:lpstr>游ゴシック</vt:lpstr>
      <vt:lpstr>Arial</vt:lpstr>
      <vt:lpstr>Segoe UI</vt:lpstr>
      <vt:lpstr>Wingdings</vt:lpstr>
      <vt:lpstr>1_表紙マスター</vt:lpstr>
      <vt:lpstr>2_コンテンツスライド</vt:lpstr>
      <vt:lpstr>コンテンツスライド</vt:lpstr>
      <vt:lpstr>3_コンテンツスライド</vt:lpstr>
      <vt:lpstr>1_コンテンツスライド</vt:lpstr>
      <vt:lpstr>回路基板検査装置</vt:lpstr>
      <vt:lpstr>目次</vt:lpstr>
      <vt:lpstr>システムの紹介</vt:lpstr>
      <vt:lpstr>ハードの紹介</vt:lpstr>
      <vt:lpstr>ハードの紹介</vt:lpstr>
      <vt:lpstr>ハードの紹介</vt:lpstr>
      <vt:lpstr>モーター制御</vt:lpstr>
      <vt:lpstr>モーター制御</vt:lpstr>
      <vt:lpstr>ハードの完成写真</vt:lpstr>
      <vt:lpstr>ソフトの紹介（GUI）</vt:lpstr>
      <vt:lpstr>ソフトの紹介（GUI）</vt:lpstr>
      <vt:lpstr>ソフトの紹介（GUI）</vt:lpstr>
      <vt:lpstr>ソフトの紹介（画像処理）</vt:lpstr>
      <vt:lpstr>ソフトの紹介（画像処理）</vt:lpstr>
      <vt:lpstr>ソフトの紹介（画像処理）</vt:lpstr>
      <vt:lpstr>ソフトの紹介（画像処理）</vt:lpstr>
      <vt:lpstr>ソフトの紹介（画像処理）</vt:lpstr>
      <vt:lpstr>Appendix</vt:lpstr>
      <vt:lpstr>システムの紹介</vt:lpstr>
      <vt:lpstr>購入物品</vt:lpstr>
      <vt:lpstr>システムのフローチャート（時間足りない＆重要じゃないので一瞬だけ見せる感じ）</vt:lpstr>
      <vt:lpstr>開発品の有用性・有効性・利便性</vt:lpstr>
      <vt:lpstr>順転と逆転</vt:lpstr>
      <vt:lpstr>基板登録のフロー</vt:lpstr>
      <vt:lpstr>ハードの紹介</vt:lpstr>
      <vt:lpstr>画像処理の詳細</vt:lpstr>
      <vt:lpstr>画像処理の詳細</vt:lpstr>
      <vt:lpstr>画像処理の詳細</vt:lpstr>
      <vt:lpstr>画像処理の詳細</vt:lpstr>
      <vt:lpstr>画像処理の詳細</vt:lpstr>
      <vt:lpstr>画像処理の詳細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A班PBL発表審査会</dc:title>
  <dc:creator>北島　秀希_香川</dc:creator>
  <cp:lastModifiedBy>SUZUKI, Kei</cp:lastModifiedBy>
  <cp:revision>4</cp:revision>
  <dcterms:created xsi:type="dcterms:W3CDTF">2025-01-29T04:16:52Z</dcterms:created>
  <dcterms:modified xsi:type="dcterms:W3CDTF">2026-06-18T13:14:28Z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0x0101009723802EA2120542A590FD7C4888CE22</vt:lpwstr>
  </property>
</Properties>
</file>